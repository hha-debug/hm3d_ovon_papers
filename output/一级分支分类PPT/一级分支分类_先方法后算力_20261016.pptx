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577261fcf846f3" /><Relationship Type="http://schemas.openxmlformats.org/officeDocument/2006/relationships/extended-properties" Target="/docProps/app.xml" Id="Ra3dae896cfae4490" /><Relationship Type="http://schemas.openxmlformats.org/officeDocument/2006/relationships/officeDocument" Target="/ppt/presentation.xml" Id="R0af90d4bddc14e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0982645fb840f9"/>
  </p:sldMasterIdLst>
  <p:notesMasterIdLst>
    <p:notesMasterId xmlns:r="http://schemas.openxmlformats.org/officeDocument/2006/relationships" r:id="R80c77fda692343b8"/>
  </p:notesMasterIdLst>
  <p:sldIdLst>
    <p:sldId xmlns:r="http://schemas.openxmlformats.org/officeDocument/2006/relationships" id="256" r:id="R52e114911031461e"/>
    <p:sldId xmlns:r="http://schemas.openxmlformats.org/officeDocument/2006/relationships" id="257" r:id="R6113963d1d1a463e"/>
    <p:sldId xmlns:r="http://schemas.openxmlformats.org/officeDocument/2006/relationships" id="258" r:id="R34d024c294ed4434"/>
    <p:sldId xmlns:r="http://schemas.openxmlformats.org/officeDocument/2006/relationships" id="259" r:id="R0aa379bbea904f78"/>
    <p:sldId xmlns:r="http://schemas.openxmlformats.org/officeDocument/2006/relationships" id="260" r:id="Rfab7bec3c2cf46f0"/>
    <p:sldId xmlns:r="http://schemas.openxmlformats.org/officeDocument/2006/relationships" id="261" r:id="R940ec0996d0e4b99"/>
    <p:sldId xmlns:r="http://schemas.openxmlformats.org/officeDocument/2006/relationships" id="262" r:id="Rfc7d4c652eca4936"/>
    <p:sldId xmlns:r="http://schemas.openxmlformats.org/officeDocument/2006/relationships" id="263" r:id="R0706edb81c19406f"/>
    <p:sldId xmlns:r="http://schemas.openxmlformats.org/officeDocument/2006/relationships" id="264" r:id="Re1cffbb8c22b476f"/>
    <p:sldId xmlns:r="http://schemas.openxmlformats.org/officeDocument/2006/relationships" id="265" r:id="R392706dd978b4b57"/>
    <p:sldId xmlns:r="http://schemas.openxmlformats.org/officeDocument/2006/relationships" id="266" r:id="Reba3777254b64099"/>
    <p:sldId xmlns:r="http://schemas.openxmlformats.org/officeDocument/2006/relationships" id="267" r:id="R5c6f360e33d84c32"/>
    <p:sldId xmlns:r="http://schemas.openxmlformats.org/officeDocument/2006/relationships" id="268" r:id="Rcc4a67e743b34652"/>
    <p:sldId xmlns:r="http://schemas.openxmlformats.org/officeDocument/2006/relationships" id="269" r:id="R38de9bafaed94e5a"/>
    <p:sldId xmlns:r="http://schemas.openxmlformats.org/officeDocument/2006/relationships" id="270" r:id="R8a5b6852d07541f7"/>
    <p:sldId xmlns:r="http://schemas.openxmlformats.org/officeDocument/2006/relationships" id="271" r:id="R919c51737e9a4367"/>
    <p:sldId xmlns:r="http://schemas.openxmlformats.org/officeDocument/2006/relationships" id="272" r:id="R3dbe215e35d24a17"/>
    <p:sldId xmlns:r="http://schemas.openxmlformats.org/officeDocument/2006/relationships" id="273" r:id="R89983e7da8a64a34"/>
    <p:sldId xmlns:r="http://schemas.openxmlformats.org/officeDocument/2006/relationships" id="274" r:id="R0ddf593a436f4c4a"/>
    <p:sldId xmlns:r="http://schemas.openxmlformats.org/officeDocument/2006/relationships" id="275" r:id="Rae67e3cd39804cb4"/>
    <p:sldId xmlns:r="http://schemas.openxmlformats.org/officeDocument/2006/relationships" id="276" r:id="R927bbc989faf4420"/>
    <p:sldId xmlns:r="http://schemas.openxmlformats.org/officeDocument/2006/relationships" id="277" r:id="Rfa9e222a8c994add"/>
    <p:sldId xmlns:r="http://schemas.openxmlformats.org/officeDocument/2006/relationships" id="278" r:id="Rcfd6da8f6593455c"/>
    <p:sldId xmlns:r="http://schemas.openxmlformats.org/officeDocument/2006/relationships" id="279" r:id="R60c5ec7b124d4ae9"/>
    <p:sldId xmlns:r="http://schemas.openxmlformats.org/officeDocument/2006/relationships" id="280" r:id="Re2f97964e5fb4293"/>
    <p:sldId xmlns:r="http://schemas.openxmlformats.org/officeDocument/2006/relationships" id="281" r:id="R5eba57e2d8d0483a"/>
    <p:sldId xmlns:r="http://schemas.openxmlformats.org/officeDocument/2006/relationships" id="282" r:id="Rced4813fdfa249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0b718796b945b3" /><Relationship Type="http://schemas.openxmlformats.org/officeDocument/2006/relationships/slideMaster" Target="/ppt/slideMasters/slideMaster1.xml" Id="Rd10982645fb840f9" /><Relationship Type="http://schemas.openxmlformats.org/officeDocument/2006/relationships/notesMaster" Target="/ppt/notesMasters/notesMaster1.xml" Id="R80c77fda692343b8" /><Relationship Type="http://schemas.openxmlformats.org/officeDocument/2006/relationships/presProps" Target="/ppt/presProps.xml" Id="R0323359ca1124f51" /><Relationship Type="http://schemas.openxmlformats.org/officeDocument/2006/relationships/tableStyles" Target="/ppt/tableStyles.xml" Id="R175b55c523c04351" /><Relationship Type="http://schemas.openxmlformats.org/officeDocument/2006/relationships/slide" Target="/ppt/slides/slide1.xml" Id="R52e114911031461e" /><Relationship Type="http://schemas.openxmlformats.org/officeDocument/2006/relationships/slide" Target="/ppt/slides/slide2.xml" Id="R6113963d1d1a463e" /><Relationship Type="http://schemas.openxmlformats.org/officeDocument/2006/relationships/slide" Target="/ppt/slides/slide3.xml" Id="R34d024c294ed4434" /><Relationship Type="http://schemas.openxmlformats.org/officeDocument/2006/relationships/slide" Target="/ppt/slides/slide4.xml" Id="R0aa379bbea904f78" /><Relationship Type="http://schemas.openxmlformats.org/officeDocument/2006/relationships/slide" Target="/ppt/slides/slide5.xml" Id="Rfab7bec3c2cf46f0" /><Relationship Type="http://schemas.openxmlformats.org/officeDocument/2006/relationships/slide" Target="/ppt/slides/slide6.xml" Id="R940ec0996d0e4b99" /><Relationship Type="http://schemas.openxmlformats.org/officeDocument/2006/relationships/slide" Target="/ppt/slides/slide7.xml" Id="Rfc7d4c652eca4936" /><Relationship Type="http://schemas.openxmlformats.org/officeDocument/2006/relationships/slide" Target="/ppt/slides/slide8.xml" Id="R0706edb81c19406f" /><Relationship Type="http://schemas.openxmlformats.org/officeDocument/2006/relationships/slide" Target="/ppt/slides/slide9.xml" Id="Re1cffbb8c22b476f" /><Relationship Type="http://schemas.openxmlformats.org/officeDocument/2006/relationships/slide" Target="/ppt/slides/slide10.xml" Id="R392706dd978b4b57" /><Relationship Type="http://schemas.openxmlformats.org/officeDocument/2006/relationships/slide" Target="/ppt/slides/slide11.xml" Id="Reba3777254b64099" /><Relationship Type="http://schemas.openxmlformats.org/officeDocument/2006/relationships/slide" Target="/ppt/slides/slide12.xml" Id="R5c6f360e33d84c32" /><Relationship Type="http://schemas.openxmlformats.org/officeDocument/2006/relationships/slide" Target="/ppt/slides/slide13.xml" Id="Rcc4a67e743b34652" /><Relationship Type="http://schemas.openxmlformats.org/officeDocument/2006/relationships/slide" Target="/ppt/slides/slide14.xml" Id="R38de9bafaed94e5a" /><Relationship Type="http://schemas.openxmlformats.org/officeDocument/2006/relationships/slide" Target="/ppt/slides/slide15.xml" Id="R8a5b6852d07541f7" /><Relationship Type="http://schemas.openxmlformats.org/officeDocument/2006/relationships/slide" Target="/ppt/slides/slide16.xml" Id="R919c51737e9a4367" /><Relationship Type="http://schemas.openxmlformats.org/officeDocument/2006/relationships/slide" Target="/ppt/slides/slide17.xml" Id="R3dbe215e35d24a17" /><Relationship Type="http://schemas.openxmlformats.org/officeDocument/2006/relationships/slide" Target="/ppt/slides/slide18.xml" Id="R89983e7da8a64a34" /><Relationship Type="http://schemas.openxmlformats.org/officeDocument/2006/relationships/slide" Target="/ppt/slides/slide19.xml" Id="R0ddf593a436f4c4a" /><Relationship Type="http://schemas.openxmlformats.org/officeDocument/2006/relationships/slide" Target="/ppt/slides/slide20.xml" Id="Rae67e3cd39804cb4" /><Relationship Type="http://schemas.openxmlformats.org/officeDocument/2006/relationships/slide" Target="/ppt/slides/slide21.xml" Id="R927bbc989faf4420" /><Relationship Type="http://schemas.openxmlformats.org/officeDocument/2006/relationships/slide" Target="/ppt/slides/slide22.xml" Id="Rfa9e222a8c994add" /><Relationship Type="http://schemas.openxmlformats.org/officeDocument/2006/relationships/slide" Target="/ppt/slides/slide23.xml" Id="Rcfd6da8f6593455c" /><Relationship Type="http://schemas.openxmlformats.org/officeDocument/2006/relationships/slide" Target="/ppt/slides/slide24.xml" Id="R60c5ec7b124d4ae9" /><Relationship Type="http://schemas.openxmlformats.org/officeDocument/2006/relationships/slide" Target="/ppt/slides/slide25.xml" Id="Re2f97964e5fb4293" /><Relationship Type="http://schemas.openxmlformats.org/officeDocument/2006/relationships/slide" Target="/ppt/slides/slide26.xml" Id="R5eba57e2d8d0483a" /><Relationship Type="http://schemas.openxmlformats.org/officeDocument/2006/relationships/slide" Target="/ppt/slides/slide27.xml" Id="Rced4813fdfa249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1fd9c69e4940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42be22cde740f4" /><Relationship Type="http://schemas.openxmlformats.org/officeDocument/2006/relationships/notesMaster" Target="/ppt/notesMasters/notesMaster1.xml" Id="R6940f5ee43924b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1cf481ced84992" /><Relationship Type="http://schemas.openxmlformats.org/officeDocument/2006/relationships/notesMaster" Target="/ppt/notesMasters/notesMaster1.xml" Id="R932b8864866e44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a29e54cef64ecc" /><Relationship Type="http://schemas.openxmlformats.org/officeDocument/2006/relationships/notesMaster" Target="/ppt/notesMasters/notesMaster1.xml" Id="Re286901de06f49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9529860c814699" /><Relationship Type="http://schemas.openxmlformats.org/officeDocument/2006/relationships/notesMaster" Target="/ppt/notesMasters/notesMaster1.xml" Id="Re54b747add814a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8cff90be594a7e" /><Relationship Type="http://schemas.openxmlformats.org/officeDocument/2006/relationships/notesMaster" Target="/ppt/notesMasters/notesMaster1.xml" Id="R2c52cc5b84ef41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1ab3efd82d4086" /><Relationship Type="http://schemas.openxmlformats.org/officeDocument/2006/relationships/notesMaster" Target="/ppt/notesMasters/notesMaster1.xml" Id="Re4efb4154fbf4e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f5d9d52a65436c" /><Relationship Type="http://schemas.openxmlformats.org/officeDocument/2006/relationships/notesMaster" Target="/ppt/notesMasters/notesMaster1.xml" Id="Re67e89aff0454f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bbe555c7474ad3" /><Relationship Type="http://schemas.openxmlformats.org/officeDocument/2006/relationships/notesMaster" Target="/ppt/notesMasters/notesMaster1.xml" Id="R121e4d7e4c724e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c10c88220a4ed2" /><Relationship Type="http://schemas.openxmlformats.org/officeDocument/2006/relationships/notesMaster" Target="/ppt/notesMasters/notesMaster1.xml" Id="R58ef778dc62a44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fc513a5e374510" /><Relationship Type="http://schemas.openxmlformats.org/officeDocument/2006/relationships/notesMaster" Target="/ppt/notesMasters/notesMaster1.xml" Id="R6ba098e620fc46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9d4c2fc9674f1b" /><Relationship Type="http://schemas.openxmlformats.org/officeDocument/2006/relationships/notesMaster" Target="/ppt/notesMasters/notesMaster1.xml" Id="Rbd437ad583bb48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2a7df55ccd4e47" /><Relationship Type="http://schemas.openxmlformats.org/officeDocument/2006/relationships/notesMaster" Target="/ppt/notesMasters/notesMaster1.xml" Id="R996e84e7dc364a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c6bada4b264ef9" /><Relationship Type="http://schemas.openxmlformats.org/officeDocument/2006/relationships/notesMaster" Target="/ppt/notesMasters/notesMaster1.xml" Id="Ra4b56735cf9742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3699cd065a4c1b" /><Relationship Type="http://schemas.openxmlformats.org/officeDocument/2006/relationships/notesMaster" Target="/ppt/notesMasters/notesMaster1.xml" Id="R85d190f987bf40a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8a16a1912884d35" /><Relationship Type="http://schemas.openxmlformats.org/officeDocument/2006/relationships/notesMaster" Target="/ppt/notesMasters/notesMaster1.xml" Id="R27468e37c5c648e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b09455e969245a6" /><Relationship Type="http://schemas.openxmlformats.org/officeDocument/2006/relationships/notesMaster" Target="/ppt/notesMasters/notesMaster1.xml" Id="R0a391ae5c7d0485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a40558efa6e450b" /><Relationship Type="http://schemas.openxmlformats.org/officeDocument/2006/relationships/notesMaster" Target="/ppt/notesMasters/notesMaster1.xml" Id="R7076a7d7dd634e9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232766501754d8a" /><Relationship Type="http://schemas.openxmlformats.org/officeDocument/2006/relationships/notesMaster" Target="/ppt/notesMasters/notesMaster1.xml" Id="R67dacd7a2ec9467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18faddcbc094871" /><Relationship Type="http://schemas.openxmlformats.org/officeDocument/2006/relationships/notesMaster" Target="/ppt/notesMasters/notesMaster1.xml" Id="R5d358e019d79480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c2288c4d59c4487" /><Relationship Type="http://schemas.openxmlformats.org/officeDocument/2006/relationships/notesMaster" Target="/ppt/notesMasters/notesMaster1.xml" Id="R516e470a308f493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86002f7ea1447ba" /><Relationship Type="http://schemas.openxmlformats.org/officeDocument/2006/relationships/notesMaster" Target="/ppt/notesMasters/notesMaster1.xml" Id="R8bc74d5c28c84b5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a0a9002585b49a7" /><Relationship Type="http://schemas.openxmlformats.org/officeDocument/2006/relationships/notesMaster" Target="/ppt/notesMasters/notesMaster1.xml" Id="R5ae7dbbc908b48b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c11baf6bb1d4212" /><Relationship Type="http://schemas.openxmlformats.org/officeDocument/2006/relationships/notesMaster" Target="/ppt/notesMasters/notesMaster1.xml" Id="R0216da7e0c264ac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488ce96f2f34e1c" /><Relationship Type="http://schemas.openxmlformats.org/officeDocument/2006/relationships/notesMaster" Target="/ppt/notesMasters/notesMaster1.xml" Id="R9e52608a6da44b5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823dea03af14dd0" /><Relationship Type="http://schemas.openxmlformats.org/officeDocument/2006/relationships/notesMaster" Target="/ppt/notesMasters/notesMaster1.xml" Id="Rb2fdf362c33f4f5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b86817557574524" /><Relationship Type="http://schemas.openxmlformats.org/officeDocument/2006/relationships/notesMaster" Target="/ppt/notesMasters/notesMaster1.xml" Id="Re1f1a66c066d4bf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f3836828b554156" /><Relationship Type="http://schemas.openxmlformats.org/officeDocument/2006/relationships/notesMaster" Target="/ppt/notesMasters/notesMaster1.xml" Id="Ra8aa0b7096b343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文献范围：14篇方法论文，4篇数据集与评测基准。分类及训练配置均采用源文档口径。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HM3D-OVON-Papers</a:t>
            </a:r>
          </a:p>
          <a:p xmlns:a="http://schemas.openxmlformats.org/drawingml/2006/main">
            <a:r>
              <a:t>├── 方法论文</a:t>
            </a:r>
          </a:p>
          <a:p xmlns:a="http://schemas.openxmlformats.org/drawingml/2006/main">
            <a:r>
              <a:t>│   ├── 系统组织架构</a:t>
            </a:r>
          </a:p>
          <a:p xmlns:a="http://schemas.openxmlformats.org/drawingml/2006/main">
            <a:r>
              <a:t>│   │   ├── TANGO【训练：无需新增导航专项训练】</a:t>
            </a:r>
          </a:p>
          <a:p xmlns:a="http://schemas.openxmlformats.org/drawingml/2006/main">
            <a:r>
              <a:t>│   │   ├── SuperNav【训练：主模型与几何执行器无需；可选学习式执行器的 GPU 配置未报告】</a:t>
            </a:r>
          </a:p>
          <a:p xmlns:a="http://schemas.openxmlformats.org/drawingml/2006/main">
            <a:r>
              <a:t>│   │   ├── OmniNav【训练：阶段1 96×H20，120小时；阶段2 64×H20，48小时】</a:t>
            </a:r>
          </a:p>
          <a:p xmlns:a="http://schemas.openxmlformats.org/drawingml/2006/main">
            <a:r>
              <a:t>│   │   ├── D3D-VLP【训练：4×RTX 6000 Ada，约14天】</a:t>
            </a:r>
          </a:p>
          <a:p xmlns:a="http://schemas.openxmlformats.org/drawingml/2006/main">
            <a:r>
              <a:t>│   │   ├── Uni-NaVid【训练：40×H800，约35小时】</a:t>
            </a:r>
          </a:p>
          <a:p xmlns:a="http://schemas.openxmlformats.org/drawingml/2006/main">
            <a:r>
              <a:t>│   │   └── MTU3D【训练：4×A100；约164 GPU·小时】</a:t>
            </a:r>
          </a:p>
          <a:p xmlns:a="http://schemas.openxmlformats.org/drawingml/2006/main">
            <a:r>
              <a:t>│   ├── 环境表征</a:t>
            </a:r>
          </a:p>
          <a:p xmlns:a="http://schemas.openxmlformats.org/drawingml/2006/main">
            <a:r>
              <a:t>│   │   ├── MSGNav【训练：无需新增导航专项训练】</a:t>
            </a:r>
          </a:p>
          <a:p xmlns:a="http://schemas.openxmlformats.org/drawingml/2006/main">
            <a:r>
              <a:t>│   │   └── SoftNav【训练：1×RTX 4090；时长未报告】</a:t>
            </a:r>
          </a:p>
          <a:p xmlns:a="http://schemas.openxmlformats.org/drawingml/2006/main">
            <a:r>
              <a:t>│   ├── 历史记忆</a:t>
            </a:r>
          </a:p>
          <a:p xmlns:a="http://schemas.openxmlformats.org/drawingml/2006/main">
            <a:r>
              <a:t>│   │   ├── AstraNav-Memory【训练：32×H20；时长未报告】</a:t>
            </a:r>
          </a:p>
          <a:p xmlns:a="http://schemas.openxmlformats.org/drawingml/2006/main">
            <a:r>
              <a:t>│   │   └── JanusVLN【训练：64×H20，约31小时；阅读笔记转引作者答复】</a:t>
            </a:r>
          </a:p>
          <a:p xmlns:a="http://schemas.openxmlformats.org/drawingml/2006/main">
            <a:r>
              <a:t>│   ├── 探索与目标搜索</a:t>
            </a:r>
          </a:p>
          <a:p xmlns:a="http://schemas.openxmlformats.org/drawingml/2006/main">
            <a:r>
              <a:t>│   │   ├── VLFM【训练：无需新增导航专项训练】</a:t>
            </a:r>
          </a:p>
          <a:p xmlns:a="http://schemas.openxmlformats.org/drawingml/2006/main">
            <a:r>
              <a:t>│   │   └── OpenFrontier【训练：无需新增导航专项训练】</a:t>
            </a:r>
          </a:p>
          <a:p xmlns:a="http://schemas.openxmlformats.org/drawingml/2006/main">
            <a:r>
              <a:t>│   └── 导航策略训练与优化</a:t>
            </a:r>
          </a:p>
          <a:p xmlns:a="http://schemas.openxmlformats.org/drawingml/2006/main">
            <a:r>
              <a:t>│       ├── OVSegDT【训练：2×A100；约2.15亿环境步，时长未报告】</a:t>
            </a:r>
          </a:p>
          <a:p xmlns:a="http://schemas.openxmlformats.org/drawingml/2006/main">
            <a:r>
              <a:t>│       └── CompassNav【训练：SFT 8×A800，约12小时；RFT 8×H200，约56.7小时（估算）】</a:t>
            </a:r>
          </a:p>
          <a:p xmlns:a="http://schemas.openxmlformats.org/drawingml/2006/main">
            <a:r>
              <a:t>└── 数据集与评测基准</a:t>
            </a:r>
          </a:p>
          <a:p xmlns:a="http://schemas.openxmlformats.org/drawingml/2006/main">
            <a:r>
              <a:t>    ├── HM3D Semantics【训练：数据集本身不适用；导航基线另计】</a:t>
            </a:r>
          </a:p>
          <a:p xmlns:a="http://schemas.openxmlformats.org/drawingml/2006/main">
            <a:r>
              <a:t>    ├── HM3D-OVON【训练：按各基线分别统计】</a:t>
            </a:r>
          </a:p>
          <a:p xmlns:a="http://schemas.openxmlformats.org/drawingml/2006/main">
            <a:r>
              <a:t>    ├── GOAT-Bench【训练：按各基线分别统计】</a:t>
            </a:r>
          </a:p>
          <a:p xmlns:a="http://schemas.openxmlformats.org/drawingml/2006/main">
            <a:r>
              <a:t>    └── SG3D / SG-LLM【训练：按 SG-LLM 等基线分别统计】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方向关注模块的职责划分、任务接口及执行反馈。程序编排、快慢系统和统一决策是当前文献集合中的不同组织方式。OmniNav只代表其中的快慢协作路线，不能用它概括整个分支。统一建模内部也有区别：D3D-VLP联合规划、三维定位与导航，Uni-NaVid统一多任务视频输入和动作输出，MTU3D将目标对象和探索前沿统一为候选查询打分。分类按主要贡献归纳，各分支允许共享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E:\科研_机器人\HM3D-OVON\HM3D_OVON_Papers\一级分支分类.md</a:t>
            </a:r>
          </a:p>
          <a:p xmlns:a="http://schemas.openxmlformats.org/drawingml/2006/main">
            <a:r>
              <a:t>E:\科研_机器人\HM3D-OVON\HM3D_OVON_Papers\03_大模型规划与工具调用\read-Tango.md</a:t>
            </a:r>
          </a:p>
          <a:p xmlns:a="http://schemas.openxmlformats.org/drawingml/2006/main">
            <a:r>
              <a:t>E:\科研_机器人\HM3D-OVON\HM3D_OVON_Papers\03_大模型规划与工具调用\read-SuperNav.md</a:t>
            </a:r>
          </a:p>
          <a:p xmlns:a="http://schemas.openxmlformats.org/drawingml/2006/main">
            <a:r>
              <a:t>E:\科研_机器人\HM3D-OVON\HM3D_OVON_Papers\04_三维空间表征与目标推理\read-D3D.md</a:t>
            </a:r>
          </a:p>
          <a:p xmlns:a="http://schemas.openxmlformats.org/drawingml/2006/main">
            <a:r>
              <a:t>E:\科研_机器人\HM3D-OVON\HM3D_OVON_Papers\05_视觉语言动作决策与视频记忆\read-UniNavid.md</a:t>
            </a:r>
          </a:p>
          <a:p xmlns:a="http://schemas.openxmlformats.org/drawingml/2006/main">
            <a:r>
              <a:t>E:\科研_机器人\HM3D-OVON\HM3D_OVON_Papers\04_三维空间表征与目标推理\read-MTU.md</a:t>
            </a:r>
          </a:p>
          <a:p xmlns:a="http://schemas.openxmlformats.org/drawingml/2006/main">
            <a:r>
              <a:t>E:\科研_机器人\HM3D-OVON\HM3D_OVON_Papers\05_视觉语言动作决策与视频记忆\2026_ICLR_OmniNav.pdf，第3节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读图先看左侧输入接口，再看右上角快系统，最后看底部的慢系统。快慢系统共享Qwen2.5-VL-3B参数，区别主要是输入和职责。慢系统使用占据地图得到的前沿、历史图像及位姿：未见目标时选择探索子目标，已在当前或历史观测中见到目标时预测目标位置。快系统利用视觉上下文和子目标，通过Flow Matching策略头一次生成未来5个连续航点，并随着新图像到来滚动更新。航点包含位置、朝向及到达标记。完整慢系统需要深度和里程计构图。原图中“Diffusion Policy Head”是概览标记，正文详细实现采用Flow Matching。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E:\科研_机器人\HM3D-OVON\HM3D_OVON_Papers\05_视觉语言动作决策与视频记忆\2026_ICLR_OmniNav.pdf，PDF第4页，图1；第3节，PDF第3–5页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寻找电视为例：若目标未出现，慢系统结合前沿附近图像、空间位置和目标语义，选择值得探索的子目标。快系统执行时继续根据视觉观测绕障和调整航点，不能理解成单纯沿直线跟踪坐标。达到子目标或获得新证据后更新全局决策。右表摘录论文表3，均为HM3D-OVON Val-Unseen。原表还含“加入通用数据”一行（57.7/32.9），本页为便于说明仅显示所列配置，完整配置也包括通用数据与CoT。增加慢系统同时增加深度、里程计、占据地图和历史信息，因此不能把12.4个百分点的SR增长单独归因于推理模式。论文实机超过5Hz的报告对应快系统。训练两阶段分别为离散语义动作对齐和连续航点训练，并非快慢系统各自独立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E:\科研_机器人\HM3D-OVON\HM3D_OVON_Papers\05_视觉语言动作决策与视频记忆\2026_ICLR_OmniNav.pdf，PDF第5页，第3节；PDF第7页，第4.3节；PDF第9页，表3与实机部署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环境表征回答的是模型可以访问什么状态，以及状态用什么形式表示。MSGNav将对象、位置、房间属性以及共同观察对象的图像组织成多模态三维场景图，供视觉语言推理查询。SoftNav则将三维物体和前沿的连续特征，经MLP映射到VLM的嵌入空间形成soft tokens，和压缩视觉历史、文字目标联合处理。soft token是实体特征向量，不是把三维坐标改写成文字。两者都使用RGB-D与位姿，也包含历史或探索后端，但这里依据主要的信息组织与输入接口贡献归类。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E:\科研_机器人\HM3D-OVON\HM3D_OVON_Papers\04_三维空间表征与目标推理\2026_CVPR_MSGNav.pdf，第3.2–3.3节</a:t>
            </a:r>
          </a:p>
          <a:p xmlns:a="http://schemas.openxmlformats.org/drawingml/2006/main">
            <a:r>
              <a:t>E:\科研_机器人\HM3D-OVON\HM3D_OVON_Papers\04_三维空间表征与目标推理\read-SoftNav.md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左说明表示构建：通过检测、分割和视觉编码得到对象，结合深度与位姿跨帧匹配对象并融合属性。图的边保存邻近对象对共同出现的RGB-D图像，不应把它简单理解成语言模型生成的关系文本。右侧四个模块依次用于降低查询成本、扩充词汇、利用决策反馈以及选择最终观察位置。KSS先压缩为邻接信息，再选择相关对象并用贪心图像覆盖保留关键证据。AVU由图像证据发现预设词表外的对象名称。CLR记录历史决策与反馈。VVD在目标附近选择可见率更高的可通行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E:\科研_机器人\HM3D-OVON\HM3D_OVON_Papers\04_三维空间表征与目标推理\2026_CVPR_MSGNav.pdf，PDF第4页，图3；第3.2–3.3节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展示目标是镜子时的最后一段导航。仅选择离物体最近的可通行点可能视野不好，或者物体遮挡严重。VVD围绕物体采样可通行位置，根据场景点云判断各位置到目标点云的可见率，再选择得分更高的观察位置。这说明表征必须保留足以支持后续动作选择的空间与视觉证据。图中数值是该示意中的可见率，不是导航成功率。KSS在论文中平均每次查询约4张图，并报告较完整输入减少超过95%的token成本，这不是所有场景的固定上限。该系统无需新增导航专项训练，但依赖感知模型、稳定的深度与位姿，以及VLM推理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E:\科研_机器人\HM3D-OVON\HM3D_OVON_Papers\04_三维空间表征与目标推理\2026_CVPR_MSGNav.pdf，PDF第5页，第3.3.1节；PDF第6页，图4和第3.3.4节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历史记忆关注信息如何跨时间保留，以及新观测到来后怎样更新和读取。AstraNav-Memory主要降低每帧的视觉token数量，使同样预算下可以纳入更长的图像与位姿序列。JanusVLN将语义和几何拆成两路隐式特征，几何分支借助VGGT历史KV逐步更新，缓存保留最初8帧与最近48帧。需要区分论文架构和公开评测实现：后者每步重新输入采样的历史图像给Qwen语义侧，并没有显式将上一步语言模型KV传入下一次generate。因此不能将两条分支一概说成跨步永久缓存。更长记忆也可能带来检索困难及细节损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E:\科研_机器人\HM3D-OVON\HM3D_OVON_Papers\05_视觉语言动作决策与视频记忆\2026_CVPR_AstraNav-Memory.pdf，第3节</a:t>
            </a:r>
          </a:p>
          <a:p xmlns:a="http://schemas.openxmlformats.org/drawingml/2006/main">
            <a:r>
              <a:t>E:\科研_机器人\HM3D-OVON\HM3D_OVON_Papers\05_视觉语言动作决策与视频记忆\read-JANUSVLN.md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Qwen2.5-VL在该输入设置下每帧为598个视觉tokens，主配置压缩后每帧30个。冻结的DINOv3提取空间语义特征，压缩模块经空间重排和通道映射减少特征序列，再接入Qwen2.5-VL的视觉编码接口。相机位姿作为文字tokens放在对应图像之前，帮助模型将图像内容与位置关联。模型生成文字及目标或探索前沿的二维坐标，并交由下层导航。记忆本体是图像与位姿序列，不能等同于显式对象级地图。原图压缩模块标注PixelShuffle，而正文第3.2节写PixelUnshuffle，本页按照正文解释空间重排压缩。训练冻结DINOv3，微调压缩器及Qwen，采用32张H20，论文未报告训练总时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E:\科研_机器人\HM3D-OVON\HM3D_OVON_Papers\05_视觉语言动作决策与视频记忆\2026_CVPR_AstraNav-Memory.pdf，PDF第4页，图2及第3.1–3.2节；PDF第5页，训练设置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表完整摘录论文表3的四个配置，SR、推理时长及显存均沿用该表口径。相同50帧输入下，压缩降低了推理时长与显存，但SR也下降，不能只报告效率改善。100帧压缩配置的SR高于200帧配置，说明历史容量不是唯一因素。论文表4在均匀抽样子集上也显示极强压缩可能明显损害准确率。“16×”是压缩模块的空间token标记，而598到30是原始Qwen路径与压缩路径的最终token数量比较，分母不同，不应混为一个比值。表3的显存值没有明确单卡最低部署口径，本页原样保留，不将其解释成单卡显存门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E:\科研_机器人\HM3D-OVON\HM3D_OVON_Papers\05_视觉语言动作决策与视频记忆\2026_CVPR_AstraNav-Memory.pdf，PDF第7页，表3、表4与第4.3节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探索前沿通常位于已知区域与未知区域的交界，是继续探索的候选位置。VLFM利用RGB与目标文字的图文相似度生成语义价值，将多视角观测按置信度融合到俯视价值地图中，再评价前沿位置。OpenFrontier将候选前沿直接标在RGB图像中，让VLM利用原始场景上下文判断目标相关性，结合FrontierNet预测的信息增益及距离选择全局前沿。前者侧重累积空间价值，后者侧重将可行动位置作为VLM的推理接口。两者均复用预训练组件，无需新增导航专项训练，但需要感知和控制后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E:\科研_机器人\HM3D-OVON\HM3D_OVON_Papers\02_语义地图与前沿探索\VLFM_Vision-Language_Frontier_Maps_for_Zero-Shot_Semantic_Navigation.pdf，第IV节</a:t>
            </a:r>
          </a:p>
          <a:p xmlns:a="http://schemas.openxmlformats.org/drawingml/2006/main">
            <a:r>
              <a:t>E:\科研_机器人\HM3D-OVON\HM3D_OVON_Papers\02_语义地图与前沿探索\2026_RSS_OpenFrontier.pdf，第III节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以“去客厅”为例。FrontierNet从关键帧识别视觉前沿簇，并给出探索信息增益估计。系统在RGB图像上为前沿加标记，让VLM一次评价各候选与目标的相关概率。语义概率重新加权信息增益后，将前沿投影到三维空间并加入稀疏的全局候选集合。系统反复合并重复前沿、删除已到达或失败候选，并选择适合的下层导航执行。该架构不要求构建稠密三维语义地图，但前沿三维定位和目标接近仍需要几何信息。视觉语义决策与实际运动执行通过前沿位姿连接，VLM不直接控制每个电机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E:\科研_机器人\HM3D-OVON\HM3D_OVON_Papers\02_语义地图与前沿探索\2026_RSS_OpenFrontier.pdf，PDF第2页，图2；PDF第3–4页，第III节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公式将目标相关概率p与FrontierNet信息增益估计g相乘，再除以机器人到前沿的欧氏距离，得到用于全局选择的效用。这是启发式选择分数，不是保证最优的概率模型。目标确认属于另一个闭环：开放词汇分割先给出疑似物体掩码，利用深度和位姿估计三维中心，在物体前方插入优先级极高的观察位姿前沿。到达该处后由VLM再次确认。确认则靠近目标，未确认则移除假设并继续搜索。系统可以接PointGoal策略，或使用可选几何地图规划器。该方法无需导航专项训练不等于不使用预训练感知模型，也不意味着无需深度或位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E:\科研_机器人\HM3D-OVON\HM3D_OVON_Papers\02_语义地图与前沿探索\2026_RSS_OpenFrontier.pdf，PDF第4页，公式1–3、算法1与目标确认说明</a:t>
            </a:r>
          </a:p>
          <a:p xmlns:a="http://schemas.openxmlformats.org/drawingml/2006/main">
            <a:r>
              <a:t>E:\科研_机器人\HM3D-OVON\HM3D_OVON_Papers\02_语义地图与前沿探索\read.md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分支重点是训练信号和优化方式。OVSegDT通过目标二值分割掩码提供类别无关的视觉定位线索，使用辅助掩码重建、语义奖励，以及基于动作熵的行为克隆与PPO配比。CompassNav将可通行区域构造成带编号的候选动作，先用成功示范进行SFT，再用GRPO比较同一观察下多次回答的动作质量。其奖励包含候选动作到目标的距离分数与差距感知最优动作奖励。推理时不把真实目标坐标或训练距离标签交给VLM。BC指行为克隆，PPO指近端策略优化，SFT指监督微调，GRPO指组相对策略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E:\科研_机器人\HM3D-OVON\HM3D_OVON_Papers\01_模仿学习与强化学习导航\2026_CVPR_OVSegDT.pdf，第4节</a:t>
            </a:r>
          </a:p>
          <a:p xmlns:a="http://schemas.openxmlformats.org/drawingml/2006/main">
            <a:r>
              <a:t>E:\科研_机器人\HM3D-OVON\HM3D_OVON_Papers\05_视觉语言动作决策与视频记忆\read-CompassNav.md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从图底部向上阅读。RGB和目标文字由冻结SigLIP编码，上一步动作使用查表嵌入，目标二值掩码由ResNet9编码。将这些特征拼接为每一步的观测向量，最近100步观测送入4层、8头、隐藏维度512的decoder-only Transformer。动作头预测6个高层离散动作的分布，价值头服务于强化学习，分割头重建当前目标掩码，辅助学习目标相关特征。分割头是训练时的辅助头，不应与提供输入掩码的外部YOLOE混淆。策略推理采用RGB，不需深度或里程计作为策略传感器输入；但训练时专家、奖励和真值掩码使用模拟器特权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E:\科研_机器人\HM3D-OVON\HM3D_OVON_Papers\01_模仿学习与强化学习导航\2026_CVPR_OVSegDT.pdf，PDF第4页，图2与第4.1节；PDF第5页，辅助分割监督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LM追踪动作分布的Shannon熵，并取指数移动平均。正文将其在线性区间映射为PPO权重lambda，BC权重为1-lambda。较高熵说明策略动作分布较分散，增加BC；较低熵说明动作分布集中，提高PPO比重。权重连续变化，不要求人为指定切换时刻。这里的熵是模型不确定性代理，不保证低熵动作一定正确。整体损失还包括价值回归、熵奖励和辅助分割损失。使用真值掩码训练200M步，再对YOLOE预测掩码用PPO适配15M步。表1最终预测掩码配置在HM3D-OVON Val-Unseen的SR为44.7±0.4，SPL为20.6±0.2，三随机种子均值±标准差。依赖掩码质量及校准，不能由2张A100推出总训练成本很低。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E:\科研_机器人\HM3D-OVON\HM3D_OVON_Papers\01_模仿学习与强化学习导航\2026_CVPR_OVSegDT.pdf，PDF第5页，公式5–9；PDF第6页，训练与预测分割适配；PDF第7页，表1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这四项属于数据集与评测资源，独立于五个方法分支。HM3D Semantics主要提供室内三维语义标注。HM3D-OVON用已见、同义词和未见类别切分考查开放词汇目标泛化。GOAT-Bench把类别、图像及语言目标串成连续子任务，检验同一环境中历史经验的复用。SG3D侧重任务上下文中的顺序目标定位和导航，后续目标可能隐含引用前序对象；SG-LLM是其中的模型基线。不同基准的传感器、成功条件、划分和序列协议不同，结果不能直接作为统一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E:\科研_机器人\HM3D-OVON\HM3D_OVON_Papers\00_数据集与任务基准\README.md</a:t>
            </a:r>
          </a:p>
          <a:p xmlns:a="http://schemas.openxmlformats.org/drawingml/2006/main">
            <a:r>
              <a:t>E:\科研_机器人\HM3D-OVON\HM3D_OVON_Papers\00_数据集与任务基准\2024_SG3D_Sequential_Grounding_and_Navigation.pdf，第1–3节</a:t>
            </a:r>
          </a:p>
          <a:p xmlns:a="http://schemas.openxmlformats.org/drawingml/2006/main">
            <a:r>
              <a:t>E:\科研_机器人\HM3D-OVON\HM3D_OVON_Papers\00_数据集与任务基准\2024_CVPR_GOAT_Bench.pdf，第3–4节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1例子从同一环境出发，依次寻找躺椅、图中的烤箱、客厅茶几上的白色书等目标。每个episode包含5至10个子任务，目标形式可为类别名称、参考图像或自然语言描述。一个子任务结束后继续给下一个目标，环境与智能体状态不重置，因此此前探索过的物体和空间可以帮助后续搜索。原始论文第3节规定每子任务最多500步，并在目标实例1米内调用STOP作为成功条件，实际复现实验应始终核对所用版本的评测配置。评价既包括成功率，也包括SPL等路径效率。该基准为历史记忆和统一目标接口提供验证场景，不保证任何特定记忆方案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E:\科研_机器人\HM3D-OVON\HM3D_OVON_Papers\00_数据集与任务基准\2024_CVPR_GOAT_Bench.pdf，PDF第1页，图1；PDF第3页，第3节任务定义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表是针对当前14篇方法文献的工作性归纳，按主要技术贡献安排一级分支，不宣称是整个领域唯一或互斥的分类。实际系统可能同时包含统一架构、三维表征、长期记忆、前沿搜索与训练优化。分析一篇文章时可以先问主要改变哪个环节，再给其他环节交叉标签。训练算力和传感器应作为独立比较属性，不能由其大小决定一级归类。五篇代表分别用于阐释一个具体路线，不能代替该分支的全部论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E:\科研_机器人\HM3D-OVON\HM3D_OVON_Papers\一级分支分类.md</a:t>
            </a:r>
          </a:p>
          <a:p xmlns:a="http://schemas.openxmlformats.org/drawingml/2006/main">
            <a:r>
              <a:t>E:\科研_机器人\HM3D-OVON\HM3D_OVON_Papers\05_视觉语言动作决策与视频记忆\2026_ICLR_OmniNav.pdf，方法章节</a:t>
            </a:r>
          </a:p>
          <a:p xmlns:a="http://schemas.openxmlformats.org/drawingml/2006/main">
            <a:r>
              <a:t>E:\科研_机器人\HM3D-OVON\HM3D_OVON_Papers\04_三维空间表征与目标推理\2026_CVPR_MSGNav.pdf，方法章节</a:t>
            </a:r>
          </a:p>
          <a:p xmlns:a="http://schemas.openxmlformats.org/drawingml/2006/main">
            <a:r>
              <a:t>E:\科研_机器人\HM3D-OVON\HM3D_OVON_Papers\05_视觉语言动作决策与视频记忆\2026_CVPR_AstraNav-Memory.pdf，方法章节</a:t>
            </a:r>
          </a:p>
          <a:p xmlns:a="http://schemas.openxmlformats.org/drawingml/2006/main">
            <a:r>
              <a:t>E:\科研_机器人\HM3D-OVON\HM3D_OVON_Papers\02_语义地图与前沿探索\2026_RSS_OpenFrontier.pdf，方法章节</a:t>
            </a:r>
          </a:p>
          <a:p xmlns:a="http://schemas.openxmlformats.org/drawingml/2006/main">
            <a:r>
              <a:t>E:\科研_机器人\HM3D-OVON\HM3D_OVON_Papers\01_模仿学习与强化学习导航\2026_CVPR_OVSegDT.pdf，方法章节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程序与工具／技能编排、快慢系统分层协作，以及多任务或规划、定位、探索与导航能力的统一建模。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TANGO：无需新增导航专项训练</a:t>
            </a:r>
          </a:p>
          <a:p xmlns:a="http://schemas.openxmlformats.org/drawingml/2006/main">
            <a:r>
              <a:t>SuperNav：主模型与几何执行器无需；可选学习式执行器的 GPU 配置未报告</a:t>
            </a:r>
          </a:p>
          <a:p xmlns:a="http://schemas.openxmlformats.org/drawingml/2006/main">
            <a:r>
              <a:t>OmniNav：阶段1 96×H20，120小时；阶段2 64×H20，48小时</a:t>
            </a:r>
          </a:p>
          <a:p xmlns:a="http://schemas.openxmlformats.org/drawingml/2006/main">
            <a:r>
              <a:t>D3D-VLP：4×RTX 6000 Ada，约14天</a:t>
            </a:r>
          </a:p>
          <a:p xmlns:a="http://schemas.openxmlformats.org/drawingml/2006/main">
            <a:r>
              <a:t>Uni-NaVid：40×H800，约35小时</a:t>
            </a:r>
          </a:p>
          <a:p xmlns:a="http://schemas.openxmlformats.org/drawingml/2006/main">
            <a:r>
              <a:t>MTU3D：4×A100；约164 GPU·小时</a:t>
            </a:r>
          </a:p>
          <a:p xmlns:a="http://schemas.openxmlformats.org/drawingml/2006/main">
            <a:r>
              <a:t>SuperNav执行器训练：https://arxiv.org/html/2610.12126v1，附录C.2。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用三维场景图组织物体、空间信息与视觉证据；将三维物体和前沿特征转换为视觉语言模型可使用的 soft tokens。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MSGNav：无需新增导航专项训练</a:t>
            </a:r>
          </a:p>
          <a:p xmlns:a="http://schemas.openxmlformats.org/drawingml/2006/main">
            <a:r>
              <a:t>SoftNav：1×RTX 4090；时长未报告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压缩长期视觉历史，维护语义与空间双分支记忆，并通过历史缓存和滑动窗口更新跨帧信息。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AstraNav-Memory：32×H20；时长未报告</a:t>
            </a:r>
          </a:p>
          <a:p xmlns:a="http://schemas.openxmlformats.org/drawingml/2006/main">
            <a:r>
              <a:t>JanusVLN：64×H20，约31小时；阅读笔记转引作者答复</a:t>
            </a:r>
          </a:p>
          <a:p xmlns:a="http://schemas.openxmlformats.org/drawingml/2006/main">
            <a:r>
              <a:t>JanusVLN配置由源文档转引阅读笔记中的作者答复。本次未能加载评论正文，未独立复核。</a:t>
            </a:r>
          </a:p>
          <a:p xmlns:a="http://schemas.openxmlformats.org/drawingml/2006/main">
            <a:r>
              <a:t>阅读笔记：E:\科研_机器人\HM3D-OVON\HM3D_OVON_Papers\05_视觉语言动作决策与视频记忆\read-JANUSVLN.md</a:t>
            </a:r>
          </a:p>
          <a:p xmlns:a="http://schemas.openxmlformats.org/drawingml/2006/main">
            <a:r>
              <a:t>作者答复：https://github.com/MIV-XJTU/JanusVLN/issues/3#issuecomment-3375195701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构建语义价值地图或生成视觉前沿，利用目标相关性、信息增益和距离等评价探索位置，并进行目标确认。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VLFM：无需新增导航专项训练</a:t>
            </a:r>
          </a:p>
          <a:p xmlns:a="http://schemas.openxmlformats.org/drawingml/2006/main">
            <a:r>
              <a:t>OpenFrontier：无需新增导航专项训练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目标分割辅助监督、自适应 BC／PPO 联合优化，以及基于候选动作质量的 SFT／GRPO 与差距感知奖励设计。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OVSegDT：2×A100；约2.15亿环境步，时长未报告</a:t>
            </a:r>
          </a:p>
          <a:p xmlns:a="http://schemas.openxmlformats.org/drawingml/2006/main">
            <a:r>
              <a:t>CompassNav：SFT 8×A800，约12小时；RFT 8×H200，约56.7小时（估算）</a:t>
            </a:r>
          </a:p>
          <a:p xmlns:a="http://schemas.openxmlformats.org/drawingml/2006/main">
            <a:r>
              <a:t>CompassNav RFT时长为源文档估算：170步×20分钟/步≈56.7小时。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场景语义标注、开放词汇与多模态目标构建、连续或顺序任务设计，以及评测协议和基线设计。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HM3D Semantics：数据集本身不适用；导航基线另计</a:t>
            </a:r>
          </a:p>
          <a:p xmlns:a="http://schemas.openxmlformats.org/drawingml/2006/main">
            <a:r>
              <a:t>HM3D-OVON：按各基线分别统计</a:t>
            </a:r>
          </a:p>
          <a:p xmlns:a="http://schemas.openxmlformats.org/drawingml/2006/main">
            <a:r>
              <a:t>GOAT-Bench：按各基线分别统计</a:t>
            </a:r>
          </a:p>
          <a:p xmlns:a="http://schemas.openxmlformats.org/drawingml/2006/main">
            <a:r>
              <a:t>SG3D / SG-LLM：按 SG-LLM 等基线分别统计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资料口径沿用源文档。GPU·小时表示GPU数量乘以训练小时数，不能把不同GPU型号的卡时直接视为等价算力。</a:t>
            </a:r>
          </a:p>
          <a:p xmlns:a="http://schemas.openxmlformats.org/drawingml/2006/main">
            <a:r>
              <a:t>SuperNav学习式执行器训练见：https://arxiv.org/html/2610.12126v1，附录C.2。</a:t>
            </a:r>
          </a:p>
          <a:p xmlns:a="http://schemas.openxmlformats.org/drawingml/2006/main">
            <a:r>
              <a:t>JanusVLN作者答复由源文档及阅读笔记转引，本次网页未加载评论正文。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e1488654f46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54b9de4c540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b32cc1bde64a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79cb6b81634d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c2bc4091c44a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50df97cff241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9FAB89-A233-4052-9DAC-6C3F470F90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F654B1-812F-482D-8BEB-66DBC85B2F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8024725-568D-46FD-9785-403FE474B2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67CCDF-837F-4F9F-A83E-B106A8EBB3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548FE1-E22E-49FC-AB73-FB3AF78AEE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38174F-699E-48FD-A22A-9E65C7A6AA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C9C280-8C99-4A28-99CD-635A44EBC9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5B1EBF0-62BF-4400-B2CA-989ECBA1BB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BACF42-A135-48E6-8FB0-5588C5219D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850C7F-33E6-48E9-AE67-D636B697DA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c1fc7882704146" /><Relationship Type="http://schemas.openxmlformats.org/officeDocument/2006/relationships/slideLayout" Target="/ppt/slideLayouts/slideLayout1.xml" Id="R33b3a8c637164746" /><Relationship Type="http://schemas.openxmlformats.org/officeDocument/2006/relationships/slideLayout" Target="/ppt/slideLayouts/slideLayout2.xml" Id="R0b6721889c8440f7" /><Relationship Type="http://schemas.openxmlformats.org/officeDocument/2006/relationships/slideLayout" Target="/ppt/slideLayouts/slideLayout3.xml" Id="Rb996e92477ea440a" /><Relationship Type="http://schemas.openxmlformats.org/officeDocument/2006/relationships/slideLayout" Target="/ppt/slideLayouts/slideLayout4.xml" Id="R4dfe23c3f51d461a" /><Relationship Type="http://schemas.openxmlformats.org/officeDocument/2006/relationships/slideLayout" Target="/ppt/slideLayouts/slideLayout5.xml" Id="Re2fae8260c5d44e2" /><Relationship Type="http://schemas.openxmlformats.org/officeDocument/2006/relationships/slideLayout" Target="/ppt/slideLayouts/slideLayout6.xml" Id="Rf3d5b6a5a7444f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b3a8c637164746"/>
    <p:sldLayoutId xmlns:r="http://schemas.openxmlformats.org/officeDocument/2006/relationships" id="2147483650" r:id="R0b6721889c8440f7"/>
    <p:sldLayoutId xmlns:r="http://schemas.openxmlformats.org/officeDocument/2006/relationships" id="2147483651" r:id="Rb996e92477ea440a"/>
    <p:sldLayoutId xmlns:r="http://schemas.openxmlformats.org/officeDocument/2006/relationships" id="2147483652" r:id="R4dfe23c3f51d461a"/>
    <p:sldLayoutId xmlns:r="http://schemas.openxmlformats.org/officeDocument/2006/relationships" id="2147483653" r:id="Re2fae8260c5d44e2"/>
    <p:sldLayoutId xmlns:r="http://schemas.openxmlformats.org/officeDocument/2006/relationships" id="2147483654" r:id="Rf3d5b6a5a7444f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2b9deb2f3543d7" /><Relationship Type="http://schemas.openxmlformats.org/officeDocument/2006/relationships/notesSlide" Target="/ppt/notesSlides/notesSlide1.xml" Id="Rb7c1617c25b244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b0ca95d79947d3" /><Relationship Type="http://schemas.openxmlformats.org/officeDocument/2006/relationships/notesSlide" Target="/ppt/notesSlides/notesSlide2.xml" Id="Rd210ce4e815140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5f643eb9934596" /><Relationship Type="http://schemas.openxmlformats.org/officeDocument/2006/relationships/notesSlide" Target="/ppt/notesSlides/notesSlide3.xml" Id="R56265a3df26242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274c108e484ae1" /><Relationship Type="http://schemas.openxmlformats.org/officeDocument/2006/relationships/image" Target="/ppt/media/image.png" Id="R886331c7fd1848a6" /><Relationship Type="http://schemas.openxmlformats.org/officeDocument/2006/relationships/notesSlide" Target="/ppt/notesSlides/notesSlide4.xml" Id="R7ee21efa220a4b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8a137bfe104206" /><Relationship Type="http://schemas.openxmlformats.org/officeDocument/2006/relationships/notesSlide" Target="/ppt/notesSlides/notesSlide5.xml" Id="R95db664448d944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a956d25de542cd" /><Relationship Type="http://schemas.openxmlformats.org/officeDocument/2006/relationships/notesSlide" Target="/ppt/notesSlides/notesSlide6.xml" Id="R0a00e441a0af42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681cec84364a53" /><Relationship Type="http://schemas.openxmlformats.org/officeDocument/2006/relationships/image" Target="/ppt/media/image2.png" Id="R8c723aa40412459d" /><Relationship Type="http://schemas.openxmlformats.org/officeDocument/2006/relationships/notesSlide" Target="/ppt/notesSlides/notesSlide7.xml" Id="R61667828e9e24e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06e2147a6641cf" /><Relationship Type="http://schemas.openxmlformats.org/officeDocument/2006/relationships/image" Target="/ppt/media/image3.png" Id="R0b93dd3d7e524406" /><Relationship Type="http://schemas.openxmlformats.org/officeDocument/2006/relationships/notesSlide" Target="/ppt/notesSlides/notesSlide8.xml" Id="R31614ccd5b074e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7ebcbc34904a4d" /><Relationship Type="http://schemas.openxmlformats.org/officeDocument/2006/relationships/notesSlide" Target="/ppt/notesSlides/notesSlide9.xml" Id="R081711d638534f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dc744db031456e" /><Relationship Type="http://schemas.openxmlformats.org/officeDocument/2006/relationships/image" Target="/ppt/media/image4.png" Id="R87dd6ae474e24135" /><Relationship Type="http://schemas.openxmlformats.org/officeDocument/2006/relationships/notesSlide" Target="/ppt/notesSlides/notesSlide10.xml" Id="R302cd5b31b4b41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856961b21c46d0" /><Relationship Type="http://schemas.openxmlformats.org/officeDocument/2006/relationships/notesSlide" Target="/ppt/notesSlides/notesSlide11.xml" Id="Re549563bb3ab4a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ee9a1d1b704d42" /><Relationship Type="http://schemas.openxmlformats.org/officeDocument/2006/relationships/notesSlide" Target="/ppt/notesSlides/notesSlide12.xml" Id="R37b88771c0c746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182f203cfc4c32" /><Relationship Type="http://schemas.openxmlformats.org/officeDocument/2006/relationships/image" Target="/ppt/media/image5.png" Id="Rddb70087a3d54897" /><Relationship Type="http://schemas.openxmlformats.org/officeDocument/2006/relationships/notesSlide" Target="/ppt/notesSlides/notesSlide13.xml" Id="R74865ad6dfe94f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81672630ea4c0d" /><Relationship Type="http://schemas.openxmlformats.org/officeDocument/2006/relationships/notesSlide" Target="/ppt/notesSlides/notesSlide14.xml" Id="R21ca0e8723f24d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34d52a69da4278" /><Relationship Type="http://schemas.openxmlformats.org/officeDocument/2006/relationships/notesSlide" Target="/ppt/notesSlides/notesSlide15.xml" Id="R40fd3cc29fa247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b66ba4e6d74155" /><Relationship Type="http://schemas.openxmlformats.org/officeDocument/2006/relationships/image" Target="/ppt/media/image6.png" Id="R39a7b1fb8bf54620" /><Relationship Type="http://schemas.openxmlformats.org/officeDocument/2006/relationships/notesSlide" Target="/ppt/notesSlides/notesSlide16.xml" Id="R1c9f775cadc9414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a9129a23ec4a61" /><Relationship Type="http://schemas.openxmlformats.org/officeDocument/2006/relationships/notesSlide" Target="/ppt/notesSlides/notesSlide17.xml" Id="R4e930e6d286b4dc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6568e41851411e" /><Relationship Type="http://schemas.openxmlformats.org/officeDocument/2006/relationships/notesSlide" Target="/ppt/notesSlides/notesSlide18.xml" Id="R48985a32b6ed42e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4d8083e95844c6" /><Relationship Type="http://schemas.openxmlformats.org/officeDocument/2006/relationships/image" Target="/ppt/media/image7.png" Id="R6c921b83171b49b0" /><Relationship Type="http://schemas.openxmlformats.org/officeDocument/2006/relationships/notesSlide" Target="/ppt/notesSlides/notesSlide19.xml" Id="R1580a3df826f436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2bebf614ed4838" /><Relationship Type="http://schemas.openxmlformats.org/officeDocument/2006/relationships/notesSlide" Target="/ppt/notesSlides/notesSlide20.xml" Id="Rcb07a25595b84df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e952a0ca97410f" /><Relationship Type="http://schemas.openxmlformats.org/officeDocument/2006/relationships/notesSlide" Target="/ppt/notesSlides/notesSlide21.xml" Id="R1ba8ecebe92941a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4593c18f974a55" /><Relationship Type="http://schemas.openxmlformats.org/officeDocument/2006/relationships/notesSlide" Target="/ppt/notesSlides/notesSlide22.xml" Id="R3b60c6534a4242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255a907cc04e95" /><Relationship Type="http://schemas.openxmlformats.org/officeDocument/2006/relationships/notesSlide" Target="/ppt/notesSlides/notesSlide23.xml" Id="R06d7ead2f5364ec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aa2901bc164637" /><Relationship Type="http://schemas.openxmlformats.org/officeDocument/2006/relationships/notesSlide" Target="/ppt/notesSlides/notesSlide24.xml" Id="R9fac95c086d5408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a2c91560414c01" /><Relationship Type="http://schemas.openxmlformats.org/officeDocument/2006/relationships/notesSlide" Target="/ppt/notesSlides/notesSlide25.xml" Id="R41c20ecc78b1494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9cefd838a240c7" /><Relationship Type="http://schemas.openxmlformats.org/officeDocument/2006/relationships/notesSlide" Target="/ppt/notesSlides/notesSlide26.xml" Id="R94d93f9b0d2b43d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4ca6036b2a4c43" /><Relationship Type="http://schemas.openxmlformats.org/officeDocument/2006/relationships/notesSlide" Target="/ppt/notesSlides/notesSlide27.xml" Id="Rc0028a8f4d7846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2BFACDC-C642-4C59-AF0D-C1962F9A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HM3D-OVON">
            <a:extLst xmlns:a="http://schemas.openxmlformats.org/drawingml/2006/main">
              <a:ext uri="{FF2B5EF4-FFF2-40B4-BE49-F238E27FC236}">
                <a16:creationId xmlns:a16="http://schemas.microsoft.com/office/drawing/2014/main" id="{EBFFF0FD-1442-43E8-AD7E-F58BF56E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668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HM3D-OVON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5853138-D002-4C5F-BD06-99467B1E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57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论文方法一级分类</a:t>
            </a:r>
          </a:p>
        </p:txBody>
      </p:sp>
      <p:sp>
        <p:nvSpPr>
          <p:cNvPr id="4" name="对应文献与训练算力">
            <a:extLst xmlns:a="http://schemas.openxmlformats.org/drawingml/2006/main">
              <a:ext uri="{FF2B5EF4-FFF2-40B4-BE49-F238E27FC236}">
                <a16:creationId xmlns:a16="http://schemas.microsoft.com/office/drawing/2014/main" id="{A02818A5-3320-4D21-B9D1-8E8CFAAC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5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方法方向阐释与训练算力</a:t>
            </a:r>
          </a:p>
        </p:txBody>
      </p:sp>
      <p:sp>
        <p:nvSpPr>
          <p:cNvPr id="5" name="5 个一级分支">
            <a:extLst xmlns:a="http://schemas.openxmlformats.org/drawingml/2006/main">
              <a:ext uri="{FF2B5EF4-FFF2-40B4-BE49-F238E27FC236}">
                <a16:creationId xmlns:a16="http://schemas.microsoft.com/office/drawing/2014/main" id="{C1B2911A-6C33-4355-B7DA-4DCF06C2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5 个一级分支</a:t>
            </a:r>
          </a:p>
        </p:txBody>
      </p:sp>
      <p:sp>
        <p:nvSpPr>
          <p:cNvPr id="6" name="14 篇方法论文">
            <a:extLst xmlns:a="http://schemas.openxmlformats.org/drawingml/2006/main">
              <a:ext uri="{FF2B5EF4-FFF2-40B4-BE49-F238E27FC236}">
                <a16:creationId xmlns:a16="http://schemas.microsoft.com/office/drawing/2014/main" id="{25A42890-83B9-45B7-93A6-B2A712E5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720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14 篇方法论文</a:t>
            </a:r>
          </a:p>
        </p:txBody>
      </p:sp>
      <p:sp>
        <p:nvSpPr>
          <p:cNvPr id="7" name="4 篇基准文章">
            <a:extLst xmlns:a="http://schemas.openxmlformats.org/drawingml/2006/main">
              <a:ext uri="{FF2B5EF4-FFF2-40B4-BE49-F238E27FC236}">
                <a16:creationId xmlns:a16="http://schemas.microsoft.com/office/drawing/2014/main" id="{065981C7-271B-47B4-A006-D7111875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720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4 篇基准文章</a:t>
            </a:r>
          </a:p>
        </p:txBody>
      </p:sp>
      <p:sp>
        <p:nvSpPr>
          <p:cNvPr id="8" name="2026年10月">
            <a:extLst xmlns:a="http://schemas.openxmlformats.org/drawingml/2006/main">
              <a:ext uri="{FF2B5EF4-FFF2-40B4-BE49-F238E27FC236}">
                <a16:creationId xmlns:a16="http://schemas.microsoft.com/office/drawing/2014/main" id="{D170F9AF-1999-4AE5-8E1D-95005191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2026年10月</a:t>
            </a:r>
          </a:p>
        </p:txBody>
      </p:sp>
    </p:spTree>
    <p:extLst>
      <p:ext uri="{BB962C8B-B14F-4D97-AF65-F5344CB8AC3E}">
        <p14:creationId xmlns:p14="http://schemas.microsoft.com/office/powerpoint/2010/main" val="1182798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33F400-060F-4748-A822-74FE18A3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一级分支总览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4B7B686-BDB5-4F07-93BF-A57E297A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方法论文">
            <a:extLst xmlns:a="http://schemas.openxmlformats.org/drawingml/2006/main">
              <a:ext uri="{FF2B5EF4-FFF2-40B4-BE49-F238E27FC236}">
                <a16:creationId xmlns:a16="http://schemas.microsoft.com/office/drawing/2014/main" id="{363DE363-8A88-48BF-8C1E-279BB956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28587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25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方法论文</a:t>
            </a:r>
          </a:p>
        </p:txBody>
      </p:sp>
      <p:sp>
        <p:nvSpPr>
          <p:cNvPr id="4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1DBD1581-FC70-48BF-B9C3-7F258815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5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C492B937-26C8-4652-8FF4-78991CD9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47875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6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B3E30AD4-4FF1-4859-8F53-21234F40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478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7" name="系统组织架构">
            <a:extLst xmlns:a="http://schemas.openxmlformats.org/drawingml/2006/main">
              <a:ext uri="{FF2B5EF4-FFF2-40B4-BE49-F238E27FC236}">
                <a16:creationId xmlns:a16="http://schemas.microsoft.com/office/drawing/2014/main" id="{1B82066C-42E3-4641-9F55-859E28F9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系统组织架构</a:t>
            </a:r>
          </a:p>
        </p:txBody>
      </p:sp>
      <p:sp>
        <p:nvSpPr>
          <p:cNvPr id="8" name="6 篇">
            <a:extLst xmlns:a="http://schemas.openxmlformats.org/drawingml/2006/main">
              <a:ext uri="{FF2B5EF4-FFF2-40B4-BE49-F238E27FC236}">
                <a16:creationId xmlns:a16="http://schemas.microsoft.com/office/drawing/2014/main" id="{BFEC7673-288E-4822-8A8B-7BCCCEF8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6 篇</a:t>
            </a:r>
          </a:p>
        </p:txBody>
      </p:sp>
      <p:sp>
        <p:nvSpPr>
          <p:cNvPr id="9" name="TANGO">
            <a:extLst xmlns:a="http://schemas.openxmlformats.org/drawingml/2006/main">
              <a:ext uri="{FF2B5EF4-FFF2-40B4-BE49-F238E27FC236}">
                <a16:creationId xmlns:a16="http://schemas.microsoft.com/office/drawing/2014/main" id="{4531C4CF-0170-4F78-82BC-0E3A6673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TANGO</a:t>
            </a:r>
          </a:p>
        </p:txBody>
      </p:sp>
      <p:sp>
        <p:nvSpPr>
          <p:cNvPr id="10" name="SuperNav">
            <a:extLst xmlns:a="http://schemas.openxmlformats.org/drawingml/2006/main">
              <a:ext uri="{FF2B5EF4-FFF2-40B4-BE49-F238E27FC236}">
                <a16:creationId xmlns:a16="http://schemas.microsoft.com/office/drawing/2014/main" id="{D55256F9-3242-4CCD-8637-D4F5A9A4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SuperNav</a:t>
            </a:r>
          </a:p>
        </p:txBody>
      </p:sp>
      <p:sp>
        <p:nvSpPr>
          <p:cNvPr id="11" name="OmniNav">
            <a:extLst xmlns:a="http://schemas.openxmlformats.org/drawingml/2006/main">
              <a:ext uri="{FF2B5EF4-FFF2-40B4-BE49-F238E27FC236}">
                <a16:creationId xmlns:a16="http://schemas.microsoft.com/office/drawing/2014/main" id="{664B8EAC-1768-42B8-9333-7B6CA35F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OmniNav</a:t>
            </a:r>
          </a:p>
        </p:txBody>
      </p:sp>
      <p:sp>
        <p:nvSpPr>
          <p:cNvPr id="12" name="D3D-VLP">
            <a:extLst xmlns:a="http://schemas.openxmlformats.org/drawingml/2006/main">
              <a:ext uri="{FF2B5EF4-FFF2-40B4-BE49-F238E27FC236}">
                <a16:creationId xmlns:a16="http://schemas.microsoft.com/office/drawing/2014/main" id="{499EF13A-EBBD-4D42-AB86-A666D053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D3D-VLP</a:t>
            </a:r>
          </a:p>
        </p:txBody>
      </p:sp>
      <p:sp>
        <p:nvSpPr>
          <p:cNvPr id="13" name="Uni-NaVid">
            <a:extLst xmlns:a="http://schemas.openxmlformats.org/drawingml/2006/main">
              <a:ext uri="{FF2B5EF4-FFF2-40B4-BE49-F238E27FC236}">
                <a16:creationId xmlns:a16="http://schemas.microsoft.com/office/drawing/2014/main" id="{452F8DCA-9C7F-4151-AE93-5B60CF8A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Uni-NaVid</a:t>
            </a:r>
          </a:p>
        </p:txBody>
      </p:sp>
      <p:sp>
        <p:nvSpPr>
          <p:cNvPr id="14" name="MTU3D">
            <a:extLst xmlns:a="http://schemas.openxmlformats.org/drawingml/2006/main">
              <a:ext uri="{FF2B5EF4-FFF2-40B4-BE49-F238E27FC236}">
                <a16:creationId xmlns:a16="http://schemas.microsoft.com/office/drawing/2014/main" id="{8EBC972A-77C1-4E2E-BD2E-B0EBAD8E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MTU3D</a:t>
            </a:r>
          </a:p>
        </p:txBody>
      </p:sp>
      <p:sp>
        <p:nvSpPr>
          <p:cNvPr id="15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E298D16D-2708-4ABC-8187-80C15549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478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16" name="环境表征">
            <a:extLst xmlns:a="http://schemas.openxmlformats.org/drawingml/2006/main">
              <a:ext uri="{FF2B5EF4-FFF2-40B4-BE49-F238E27FC236}">
                <a16:creationId xmlns:a16="http://schemas.microsoft.com/office/drawing/2014/main" id="{E7D7C3CC-F858-4512-B0FF-437D0E61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90775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环境表征</a:t>
            </a:r>
          </a:p>
        </p:txBody>
      </p:sp>
      <p:sp>
        <p:nvSpPr>
          <p:cNvPr id="17" name="2 篇">
            <a:extLst xmlns:a="http://schemas.openxmlformats.org/drawingml/2006/main">
              <a:ext uri="{FF2B5EF4-FFF2-40B4-BE49-F238E27FC236}">
                <a16:creationId xmlns:a16="http://schemas.microsoft.com/office/drawing/2014/main" id="{75E7FCD1-E2EB-4EA5-B769-6C43B65F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 篇</a:t>
            </a:r>
          </a:p>
        </p:txBody>
      </p:sp>
      <p:sp>
        <p:nvSpPr>
          <p:cNvPr id="18" name="MSGNav">
            <a:extLst xmlns:a="http://schemas.openxmlformats.org/drawingml/2006/main">
              <a:ext uri="{FF2B5EF4-FFF2-40B4-BE49-F238E27FC236}">
                <a16:creationId xmlns:a16="http://schemas.microsoft.com/office/drawing/2014/main" id="{27C62DB7-7C2F-4FF4-B987-A9ABF639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38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MSGNav</a:t>
            </a:r>
          </a:p>
        </p:txBody>
      </p:sp>
      <p:sp>
        <p:nvSpPr>
          <p:cNvPr id="19" name="SoftNav">
            <a:extLst xmlns:a="http://schemas.openxmlformats.org/drawingml/2006/main">
              <a:ext uri="{FF2B5EF4-FFF2-40B4-BE49-F238E27FC236}">
                <a16:creationId xmlns:a16="http://schemas.microsoft.com/office/drawing/2014/main" id="{D063C816-FA05-4ABD-AC07-8E917162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19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SoftNav</a:t>
            </a:r>
          </a:p>
        </p:txBody>
      </p:sp>
      <p:sp>
        <p:nvSpPr>
          <p:cNvPr id="20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F950F8DF-EC39-4307-A425-92AA70AE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21" name="历史记忆">
            <a:extLst xmlns:a="http://schemas.openxmlformats.org/drawingml/2006/main">
              <a:ext uri="{FF2B5EF4-FFF2-40B4-BE49-F238E27FC236}">
                <a16:creationId xmlns:a16="http://schemas.microsoft.com/office/drawing/2014/main" id="{A370201A-DDE5-4080-9F6C-57B82474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90775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历史记忆</a:t>
            </a:r>
          </a:p>
        </p:txBody>
      </p:sp>
      <p:sp>
        <p:nvSpPr>
          <p:cNvPr id="22" name="2 篇">
            <a:extLst xmlns:a="http://schemas.openxmlformats.org/drawingml/2006/main">
              <a:ext uri="{FF2B5EF4-FFF2-40B4-BE49-F238E27FC236}">
                <a16:creationId xmlns:a16="http://schemas.microsoft.com/office/drawing/2014/main" id="{86E5ABD8-29DB-4DB1-96E2-51BCF82D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432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 篇</a:t>
            </a:r>
          </a:p>
        </p:txBody>
      </p:sp>
      <p:sp>
        <p:nvSpPr>
          <p:cNvPr id="23" name="AstraNav-Memory">
            <a:extLst xmlns:a="http://schemas.openxmlformats.org/drawingml/2006/main">
              <a:ext uri="{FF2B5EF4-FFF2-40B4-BE49-F238E27FC236}">
                <a16:creationId xmlns:a16="http://schemas.microsoft.com/office/drawing/2014/main" id="{2FF0D51E-8E1B-4EC7-99B6-9F82BFA3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38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AstraNav-Memory</a:t>
            </a:r>
          </a:p>
        </p:txBody>
      </p:sp>
      <p:sp>
        <p:nvSpPr>
          <p:cNvPr id="24" name="JanusVLN">
            <a:extLst xmlns:a="http://schemas.openxmlformats.org/drawingml/2006/main">
              <a:ext uri="{FF2B5EF4-FFF2-40B4-BE49-F238E27FC236}">
                <a16:creationId xmlns:a16="http://schemas.microsoft.com/office/drawing/2014/main" id="{B5BFD43D-4BA2-4BDE-984A-64AF0EE8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19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JanusVLN</a:t>
            </a:r>
          </a:p>
        </p:txBody>
      </p:sp>
      <p:sp>
        <p:nvSpPr>
          <p:cNvPr id="25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0622CC03-F29C-4BFB-80E3-6421A1A3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26" name="探索与目标搜索">
            <a:extLst xmlns:a="http://schemas.openxmlformats.org/drawingml/2006/main">
              <a:ext uri="{FF2B5EF4-FFF2-40B4-BE49-F238E27FC236}">
                <a16:creationId xmlns:a16="http://schemas.microsoft.com/office/drawing/2014/main" id="{14E42F99-D4AC-45F0-81F7-458F8502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90775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探索与目标搜索</a:t>
            </a:r>
          </a:p>
        </p:txBody>
      </p:sp>
      <p:sp>
        <p:nvSpPr>
          <p:cNvPr id="27" name="2 篇">
            <a:extLst xmlns:a="http://schemas.openxmlformats.org/drawingml/2006/main">
              <a:ext uri="{FF2B5EF4-FFF2-40B4-BE49-F238E27FC236}">
                <a16:creationId xmlns:a16="http://schemas.microsoft.com/office/drawing/2014/main" id="{8D925475-5DB6-4766-B28C-47190F2E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432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 篇</a:t>
            </a:r>
          </a:p>
        </p:txBody>
      </p:sp>
      <p:sp>
        <p:nvSpPr>
          <p:cNvPr id="28" name="VLFM">
            <a:extLst xmlns:a="http://schemas.openxmlformats.org/drawingml/2006/main">
              <a:ext uri="{FF2B5EF4-FFF2-40B4-BE49-F238E27FC236}">
                <a16:creationId xmlns:a16="http://schemas.microsoft.com/office/drawing/2014/main" id="{75DB43D3-196F-4575-87F1-E0D7EB32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38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VLFM</a:t>
            </a:r>
          </a:p>
        </p:txBody>
      </p:sp>
      <p:sp>
        <p:nvSpPr>
          <p:cNvPr id="29" name="OpenFrontier">
            <a:extLst xmlns:a="http://schemas.openxmlformats.org/drawingml/2006/main">
              <a:ext uri="{FF2B5EF4-FFF2-40B4-BE49-F238E27FC236}">
                <a16:creationId xmlns:a16="http://schemas.microsoft.com/office/drawing/2014/main" id="{EE5BAEF8-A370-4F66-AAE3-673D4791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19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OpenFrontier</a:t>
            </a:r>
          </a:p>
        </p:txBody>
      </p:sp>
      <p:sp>
        <p:nvSpPr>
          <p:cNvPr id="30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D3DCA9C9-D20C-4BDE-8414-A67C0704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478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31" name="导航策略&#10;训练与优化">
            <a:extLst xmlns:a="http://schemas.openxmlformats.org/drawingml/2006/main">
              <a:ext uri="{FF2B5EF4-FFF2-40B4-BE49-F238E27FC236}">
                <a16:creationId xmlns:a16="http://schemas.microsoft.com/office/drawing/2014/main" id="{4BBE2B49-B0EF-4D14-AF7A-B82FE3FC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90775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导航策略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训练与优化</a:t>
            </a:r>
          </a:p>
        </p:txBody>
      </p:sp>
      <p:sp>
        <p:nvSpPr>
          <p:cNvPr id="32" name="2 篇">
            <a:extLst xmlns:a="http://schemas.openxmlformats.org/drawingml/2006/main">
              <a:ext uri="{FF2B5EF4-FFF2-40B4-BE49-F238E27FC236}">
                <a16:creationId xmlns:a16="http://schemas.microsoft.com/office/drawing/2014/main" id="{C13D4264-AA99-41DF-B263-526DB1A4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 篇</a:t>
            </a:r>
          </a:p>
        </p:txBody>
      </p:sp>
      <p:sp>
        <p:nvSpPr>
          <p:cNvPr id="33" name="OVSegDT">
            <a:extLst xmlns:a="http://schemas.openxmlformats.org/drawingml/2006/main">
              <a:ext uri="{FF2B5EF4-FFF2-40B4-BE49-F238E27FC236}">
                <a16:creationId xmlns:a16="http://schemas.microsoft.com/office/drawing/2014/main" id="{C3D8501E-6F9A-4877-8D81-2CC1AD71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38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OVSegDT</a:t>
            </a:r>
          </a:p>
        </p:txBody>
      </p:sp>
      <p:sp>
        <p:nvSpPr>
          <p:cNvPr id="34" name="CompassNav">
            <a:extLst xmlns:a="http://schemas.openxmlformats.org/drawingml/2006/main">
              <a:ext uri="{FF2B5EF4-FFF2-40B4-BE49-F238E27FC236}">
                <a16:creationId xmlns:a16="http://schemas.microsoft.com/office/drawing/2014/main" id="{EED67CDA-3D70-4917-87FD-B84F2335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19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CompassNav</a:t>
            </a:r>
          </a:p>
        </p:txBody>
      </p:sp>
      <p:sp>
        <p:nvSpPr>
          <p:cNvPr id="3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4EA1B56C-9672-479F-8965-DEF805FB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另列数据集与评测基准：HM3D Semantics、HM3D-OVON、GOAT-Bench、SG3D / SG-LLM</a:t>
            </a:r>
          </a:p>
        </p:txBody>
      </p:sp>
    </p:spTree>
    <p:extLst>
      <p:ext uri="{BB962C8B-B14F-4D97-AF65-F5344CB8AC3E}">
        <p14:creationId xmlns:p14="http://schemas.microsoft.com/office/powerpoint/2010/main" val="10316778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81226B-E95F-43D9-AC07-A1DC55ED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系统组织架构的设计空间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A9BBACD-A7C4-4BD9-A614-3FD38D76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核心问题：高层任务意图怎样转成可执行动作">
            <a:extLst xmlns:a="http://schemas.openxmlformats.org/drawingml/2006/main">
              <a:ext uri="{FF2B5EF4-FFF2-40B4-BE49-F238E27FC236}">
                <a16:creationId xmlns:a16="http://schemas.microsoft.com/office/drawing/2014/main" id="{733D28A6-79C7-4E7C-B640-AC609CC4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核心问题：高层任务意图怎样转成可执行动作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EF323-4094-4C65-BBC8-66C81E6C98C3}"/>
              </a:ext>
            </a:extLst>
          </p:cNvPr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0820400" cy="35623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781300"/>
                <a:gridCol w="4953000"/>
                <a:gridCol w="3086100"/>
              </a:tblGrid>
              <a:tr h="4762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组织方式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主要机制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对应文献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10287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程序与工具编排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模型生成程序或调度技能，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执行后读取环境反馈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TANGO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SuperNav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快慢系统协作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全局推理选择子目标，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局部策略持续更新动作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OmniNav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统一任务与决策接口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用共享模型或候选打分机制，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连接多任务或多个决策环节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D3D-VLP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Uni-NaVid、MTU3D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归类依据：主要贡献落在模块分工和接口设计。地图与记忆可以作为">
            <a:extLst xmlns:a="http://schemas.openxmlformats.org/drawingml/2006/main">
              <a:ext uri="{FF2B5EF4-FFF2-40B4-BE49-F238E27FC236}">
                <a16:creationId xmlns:a16="http://schemas.microsoft.com/office/drawing/2014/main" id="{99C649B8-1901-40C9-92CE-B4BD163E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归类依据：主要贡献落在模块分工和接口设计。地图与记忆可以作为系统中的组件。</a:t>
            </a:r>
          </a:p>
        </p:txBody>
      </p:sp>
      <p:sp>
        <p:nvSpPr>
          <p:cNvPr id="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D2035008-4ADA-4338-8DD5-B5B025C6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整理自各篇阅读笔记与方法章节</a:t>
            </a:r>
          </a:p>
        </p:txBody>
      </p:sp>
    </p:spTree>
    <p:extLst>
      <p:ext uri="{BB962C8B-B14F-4D97-AF65-F5344CB8AC3E}">
        <p14:creationId xmlns:p14="http://schemas.microsoft.com/office/powerpoint/2010/main" val="14234005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F193FE-3322-42C5-A3A8-D686F8C3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OmniNav：快慢系统的接口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040A3EF-D504-4555-94D3-53F8DBAE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A9203-EC09-48E9-9EAA-14229AD8BD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331c7fd1848a6"/>
          <a:stretch xmlns:a="http://schemas.openxmlformats.org/drawingml/2006/main"/>
        </p:blipFill>
        <p:spPr>
          <a:xfrm xmlns:a="http://schemas.openxmlformats.org/drawingml/2006/main">
            <a:off x="1496478" y="1238250"/>
            <a:ext cx="9199044" cy="4819650"/>
          </a:xfrm>
          <a:prstGeom xmlns:a="http://schemas.openxmlformats.org/drawingml/2006/main" prst="rect">
            <a:avLst/>
          </a:prstGeom>
        </p:spPr>
      </p:pic>
      <p:sp>
        <p:nvSpPr>
          <p:cNvPr id="4" name="慢系统给出子目标，快系统生成连续航点，并根据新观测更新局部移">
            <a:extLst xmlns:a="http://schemas.openxmlformats.org/drawingml/2006/main">
              <a:ext uri="{FF2B5EF4-FFF2-40B4-BE49-F238E27FC236}">
                <a16:creationId xmlns:a16="http://schemas.microsoft.com/office/drawing/2014/main" id="{0C25FB3C-A7EE-4C4D-9993-64981BB5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慢系统给出子目标，快系统生成连续航点，并根据新观测更新局部移动。</a:t>
            </a: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F47C2110-6D10-4527-83EB-20B651F5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来源：OmniNav，图1（PDF第4页）</a:t>
            </a:r>
          </a:p>
        </p:txBody>
      </p:sp>
    </p:spTree>
    <p:extLst>
      <p:ext uri="{BB962C8B-B14F-4D97-AF65-F5344CB8AC3E}">
        <p14:creationId xmlns:p14="http://schemas.microsoft.com/office/powerpoint/2010/main" val="5090638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4037AE-8694-433C-8F83-590EB0F6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OmniNav：执行闭环与验证边界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2D7EBF-4E8A-48C5-8DBA-5FF06402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1  全局选择">
            <a:extLst xmlns:a="http://schemas.openxmlformats.org/drawingml/2006/main">
              <a:ext uri="{FF2B5EF4-FFF2-40B4-BE49-F238E27FC236}">
                <a16:creationId xmlns:a16="http://schemas.microsoft.com/office/drawing/2014/main" id="{74AF8FFF-E7C8-4D9E-9919-5F12E2B5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1  全局选择</a:t>
            </a:r>
          </a:p>
        </p:txBody>
      </p:sp>
      <p:sp>
        <p:nvSpPr>
          <p:cNvPr id="4" name="目标未出现时评价探索前沿，&#10;已出现时从观测与历史中定位目标。">
            <a:extLst xmlns:a="http://schemas.openxmlformats.org/drawingml/2006/main">
              <a:ext uri="{FF2B5EF4-FFF2-40B4-BE49-F238E27FC236}">
                <a16:creationId xmlns:a16="http://schemas.microsoft.com/office/drawing/2014/main" id="{3396B7F5-F271-4960-B1F7-4B4E6FF0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目标未出现时评价探索前沿，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已出现时从观测与历史中定位目标。</a:t>
            </a:r>
          </a:p>
        </p:txBody>
      </p:sp>
      <p:sp>
        <p:nvSpPr>
          <p:cNvPr id="5" name="2  局部执行">
            <a:extLst xmlns:a="http://schemas.openxmlformats.org/drawingml/2006/main">
              <a:ext uri="{FF2B5EF4-FFF2-40B4-BE49-F238E27FC236}">
                <a16:creationId xmlns:a16="http://schemas.microsoft.com/office/drawing/2014/main" id="{4340C450-B817-411E-8CE5-44336540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2  局部执行</a:t>
            </a:r>
          </a:p>
        </p:txBody>
      </p:sp>
      <p:sp>
        <p:nvSpPr>
          <p:cNvPr id="6" name="连续生成未来5个航点，&#10;利用当前视觉绕障并调整朝向。">
            <a:extLst xmlns:a="http://schemas.openxmlformats.org/drawingml/2006/main">
              <a:ext uri="{FF2B5EF4-FFF2-40B4-BE49-F238E27FC236}">
                <a16:creationId xmlns:a16="http://schemas.microsoft.com/office/drawing/2014/main" id="{7C6BE4DA-F9A0-4755-8F66-E74B273C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连续生成未来5个航点，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利用当前视觉绕障并调整朝向。</a:t>
            </a:r>
          </a:p>
        </p:txBody>
      </p:sp>
      <p:sp>
        <p:nvSpPr>
          <p:cNvPr id="7" name="3  新观测反馈">
            <a:extLst xmlns:a="http://schemas.openxmlformats.org/drawingml/2006/main">
              <a:ext uri="{FF2B5EF4-FFF2-40B4-BE49-F238E27FC236}">
                <a16:creationId xmlns:a16="http://schemas.microsoft.com/office/drawing/2014/main" id="{CD0E43BD-BD56-4076-9E5C-5ABE5B50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3  新观测反馈</a:t>
            </a:r>
          </a:p>
        </p:txBody>
      </p:sp>
      <p:sp>
        <p:nvSpPr>
          <p:cNvPr id="8" name="更新地图与图像历史，&#10;重新判断目标位置或下一探索方向。">
            <a:extLst xmlns:a="http://schemas.openxmlformats.org/drawingml/2006/main">
              <a:ext uri="{FF2B5EF4-FFF2-40B4-BE49-F238E27FC236}">
                <a16:creationId xmlns:a16="http://schemas.microsoft.com/office/drawing/2014/main" id="{D0FCCF53-1C53-40FB-8D34-10CF91E0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更新地图与图像历史，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重新判断目标位置或下一探索方向。</a:t>
            </a:r>
          </a:p>
        </p:txBody>
      </p:sp>
      <p:sp>
        <p:nvSpPr>
          <p:cNvPr id="9" name="Val-Unseen 的模块消融">
            <a:extLst xmlns:a="http://schemas.openxmlformats.org/drawingml/2006/main">
              <a:ext uri="{FF2B5EF4-FFF2-40B4-BE49-F238E27FC236}">
                <a16:creationId xmlns:a16="http://schemas.microsoft.com/office/drawing/2014/main" id="{020A8E02-5B21-489D-91E7-F15232F9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352550"/>
            <a:ext cx="489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Val-Unseen 的模块消融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71089-3A22-4CB7-AEA1-BC7EFDA25BBF}"/>
              </a:ext>
            </a:extLst>
          </p:cNvPr>
          <p:cNvGraphicFramePr/>
          <p:nvPr/>
        </p:nvGraphicFramePr>
        <p:xfrm>
          <a:off xmlns:a="http://schemas.openxmlformats.org/drawingml/2006/main" x="6610350" y="1924050"/>
          <a:ext xmlns:a="http://schemas.openxmlformats.org/drawingml/2006/main" cx="4895850" cy="30670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724150"/>
                <a:gridCol w="1085850"/>
                <a:gridCol w="1085850"/>
              </a:tblGrid>
              <a:tr h="4762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 %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 %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6477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自回归动作基线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35.3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22.1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加入连续策略头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43.5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27.3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再加入慢系统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55.9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30.7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完整配置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59.2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33.2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慢系统配置同时加入深度与里程计。&#10;实机超过5 Hz的结果对应">
            <a:extLst xmlns:a="http://schemas.openxmlformats.org/drawingml/2006/main">
              <a:ext uri="{FF2B5EF4-FFF2-40B4-BE49-F238E27FC236}">
                <a16:creationId xmlns:a16="http://schemas.microsoft.com/office/drawing/2014/main" id="{FEC643F3-020A-4BE8-9489-3957CE2E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86375"/>
            <a:ext cx="4895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D5C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8D5C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8D5C13"/>
                </a:solidFill>
                <a:latin typeface="Microsoft YaHei"/>
                <a:ea typeface="Microsoft YaHei"/>
                <a:cs typeface="Microsoft YaHei"/>
              </a:rPr>
              <a:t>慢系统配置同时加入深度与里程计。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8D5C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8D5C13"/>
                </a:solidFill>
                <a:latin typeface="Microsoft YaHei"/>
                <a:ea typeface="Microsoft YaHei"/>
                <a:cs typeface="Microsoft YaHei"/>
              </a:rPr>
              <a:t>实机超过5 Hz的结果对应快系统。</a:t>
            </a:r>
          </a:p>
        </p:txBody>
      </p:sp>
      <p:sp>
        <p:nvSpPr>
          <p:cNvPr id="1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DD5B640A-3D7D-45C8-9087-FB284259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SR：成功率。SPL：按路径长度加权的成功率。来源：OmniNav 第3节、表3及实机部署说明</a:t>
            </a:r>
          </a:p>
        </p:txBody>
      </p:sp>
    </p:spTree>
    <p:extLst>
      <p:ext uri="{BB962C8B-B14F-4D97-AF65-F5344CB8AC3E}">
        <p14:creationId xmlns:p14="http://schemas.microsoft.com/office/powerpoint/2010/main" val="14315146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013CCE-4976-41B8-8616-D21434BD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环境表征：结构与模型接口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7BD5407-650F-440F-A3F7-497E4CE6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核心问题：把跨视角观测转成可查询、可决策的环境状态">
            <a:extLst xmlns:a="http://schemas.openxmlformats.org/drawingml/2006/main">
              <a:ext uri="{FF2B5EF4-FFF2-40B4-BE49-F238E27FC236}">
                <a16:creationId xmlns:a16="http://schemas.microsoft.com/office/drawing/2014/main" id="{D9080D3F-BC1B-4C5F-A99E-C64382B8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核心问题：把跨视角观测转成可查询、可决策的环境状态</a:t>
            </a:r>
          </a:p>
        </p:txBody>
      </p:sp>
      <p:sp>
        <p:nvSpPr>
          <p:cNvPr id="4" name="显式图结构：MSGNav">
            <a:extLst xmlns:a="http://schemas.openxmlformats.org/drawingml/2006/main">
              <a:ext uri="{FF2B5EF4-FFF2-40B4-BE49-F238E27FC236}">
                <a16:creationId xmlns:a16="http://schemas.microsoft.com/office/drawing/2014/main" id="{40182B87-04CF-4A04-A0DC-E6C2065A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显式图结构：MSGNav</a:t>
            </a:r>
          </a:p>
        </p:txBody>
      </p:sp>
      <p:sp>
        <p:nvSpPr>
          <p:cNvPr id="5" name="表示对象&#10;物体节点、三维属性，以及保存共同观测图像的边。">
            <a:extLst xmlns:a="http://schemas.openxmlformats.org/drawingml/2006/main">
              <a:ext uri="{FF2B5EF4-FFF2-40B4-BE49-F238E27FC236}">
                <a16:creationId xmlns:a16="http://schemas.microsoft.com/office/drawing/2014/main" id="{9680093A-3ADD-46BF-B5E7-03FF547D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表示对象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物体节点、三维属性，以及保存共同观测图像的边。</a:t>
            </a:r>
          </a:p>
        </p:txBody>
      </p:sp>
      <p:sp>
        <p:nvSpPr>
          <p:cNvPr id="6" name="信息读取&#10;先选目标相关子图，再向VLM提供少量视觉证据。">
            <a:extLst xmlns:a="http://schemas.openxmlformats.org/drawingml/2006/main">
              <a:ext uri="{FF2B5EF4-FFF2-40B4-BE49-F238E27FC236}">
                <a16:creationId xmlns:a16="http://schemas.microsoft.com/office/drawing/2014/main" id="{879805C8-5C45-41AA-B69B-663951DD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信息读取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先选目标相关子图，再向VLM提供少量视觉证据。</a:t>
            </a:r>
          </a:p>
        </p:txBody>
      </p:sp>
      <p:sp>
        <p:nvSpPr>
          <p:cNvPr id="7" name="连续特征接口：SoftNav">
            <a:extLst xmlns:a="http://schemas.openxmlformats.org/drawingml/2006/main">
              <a:ext uri="{FF2B5EF4-FFF2-40B4-BE49-F238E27FC236}">
                <a16:creationId xmlns:a16="http://schemas.microsoft.com/office/drawing/2014/main" id="{1571C553-6626-4AD7-83BA-4A978920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14550"/>
            <a:ext cx="501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连续特征接口：SoftNav</a:t>
            </a:r>
          </a:p>
        </p:txBody>
      </p:sp>
      <p:sp>
        <p:nvSpPr>
          <p:cNvPr id="8" name="表示对象&#10;三维物体和探索前沿的特征向量，每个实体对应一个so">
            <a:extLst xmlns:a="http://schemas.openxmlformats.org/drawingml/2006/main">
              <a:ext uri="{FF2B5EF4-FFF2-40B4-BE49-F238E27FC236}">
                <a16:creationId xmlns:a16="http://schemas.microsoft.com/office/drawing/2014/main" id="{9F1EE17C-A41B-4D97-894E-39395FA9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33675"/>
            <a:ext cx="5010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表示对象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三维物体和探索前沿的特征向量，每个实体对应一个soft token。</a:t>
            </a:r>
          </a:p>
        </p:txBody>
      </p:sp>
      <p:sp>
        <p:nvSpPr>
          <p:cNvPr id="9" name="信息读取&#10;投影到VLM嵌入空间，与图像历史及语言目标共同参与">
            <a:extLst xmlns:a="http://schemas.openxmlformats.org/drawingml/2006/main">
              <a:ext uri="{FF2B5EF4-FFF2-40B4-BE49-F238E27FC236}">
                <a16:creationId xmlns:a16="http://schemas.microsoft.com/office/drawing/2014/main" id="{F2AC1E05-4822-4212-BA87-3EB71BBD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00500"/>
            <a:ext cx="5010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信息读取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投影到VLM嵌入空间，与图像历史及语言目标共同参与注意力计算。</a:t>
            </a:r>
          </a:p>
        </p:txBody>
      </p:sp>
      <p:sp>
        <p:nvSpPr>
          <p:cNvPr id="10" name="主要取舍：显式结构便于查询和核查，连续接口保留特征并需要学习">
            <a:extLst xmlns:a="http://schemas.openxmlformats.org/drawingml/2006/main">
              <a:ext uri="{FF2B5EF4-FFF2-40B4-BE49-F238E27FC236}">
                <a16:creationId xmlns:a16="http://schemas.microsoft.com/office/drawing/2014/main" id="{29D728A8-97A3-4989-B125-1C130D9C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主要取舍：显式结构便于查询和核查，连续接口保留特征并需要学习跨模态对齐。</a:t>
            </a:r>
          </a:p>
        </p:txBody>
      </p:sp>
      <p:sp>
        <p:nvSpPr>
          <p:cNvPr id="11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368C099-50C7-44A7-89FA-34BAA2B3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整理自 MSGNav 方法章节与 SoftNav 阅读笔记</a:t>
            </a:r>
          </a:p>
        </p:txBody>
      </p:sp>
    </p:spTree>
    <p:extLst>
      <p:ext uri="{BB962C8B-B14F-4D97-AF65-F5344CB8AC3E}">
        <p14:creationId xmlns:p14="http://schemas.microsoft.com/office/powerpoint/2010/main" val="15286451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84D976-6558-44CD-B3DD-CDAFB49D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MSGNav：三维场景图怎样用于导航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3C8B083-9C99-403E-88F7-442FCC89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物体节点保留空间属性，图边保留共同观测的图像证据">
            <a:extLst xmlns:a="http://schemas.openxmlformats.org/drawingml/2006/main">
              <a:ext uri="{FF2B5EF4-FFF2-40B4-BE49-F238E27FC236}">
                <a16:creationId xmlns:a16="http://schemas.microsoft.com/office/drawing/2014/main" id="{AF93CD75-D7C1-4CBC-ABDA-55DA3257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物体节点保留空间属性，图边保留共同观测的图像证据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42C5B-85E8-4A7F-AC3A-3B41C787FB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23aa40412459d"/>
          <a:stretch xmlns:a="http://schemas.openxmlformats.org/drawingml/2006/main"/>
        </p:blipFill>
        <p:spPr>
          <a:xfrm xmlns:a="http://schemas.openxmlformats.org/drawingml/2006/main">
            <a:off x="1082798" y="1638300"/>
            <a:ext cx="10026404" cy="4362450"/>
          </a:xfrm>
          <a:prstGeom xmlns:a="http://schemas.openxmlformats.org/drawingml/2006/main" prst="rect">
            <a:avLst/>
          </a:prstGeom>
        </p:spPr>
      </p:pic>
      <p:sp>
        <p:nvSpPr>
          <p:cNvPr id="5" name="KSS筛选子图，AVU更新词汇，CLR读取决策反馈，VVD选">
            <a:extLst xmlns:a="http://schemas.openxmlformats.org/drawingml/2006/main">
              <a:ext uri="{FF2B5EF4-FFF2-40B4-BE49-F238E27FC236}">
                <a16:creationId xmlns:a16="http://schemas.microsoft.com/office/drawing/2014/main" id="{34733D6D-A3CB-4431-9EE8-F92CC25F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082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KSS筛选子图，AVU更新词汇，CLR读取决策反馈，VVD选择终点观察位置。</a:t>
            </a:r>
          </a:p>
        </p:txBody>
      </p:sp>
      <p:sp>
        <p:nvSpPr>
          <p:cNvPr id="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C8407D1-2A53-4E78-BEC4-1CA6DA27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来源：MSGNav，图3（PDF第4页）</a:t>
            </a:r>
          </a:p>
        </p:txBody>
      </p:sp>
    </p:spTree>
    <p:extLst>
      <p:ext uri="{BB962C8B-B14F-4D97-AF65-F5344CB8AC3E}">
        <p14:creationId xmlns:p14="http://schemas.microsoft.com/office/powerpoint/2010/main" val="19751211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43B0B2-117A-4958-9E5E-752F5D81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MSGNav：目标定位后的视角选择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D8FA98-5CFA-41B8-A401-06E3D31B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定位物体之后，还要选择能清楚看见目标的可通行位置。">
            <a:extLst xmlns:a="http://schemas.openxmlformats.org/drawingml/2006/main">
              <a:ext uri="{FF2B5EF4-FFF2-40B4-BE49-F238E27FC236}">
                <a16:creationId xmlns:a16="http://schemas.microsoft.com/office/drawing/2014/main" id="{B7D43CD6-3142-46F7-A20A-E1241105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定位物体之后，还要选择能清楚看见目标的可通行位置。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65FF4-66AF-40A1-A900-572EA9ECD3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93dd3d7e524406"/>
          <a:stretch xmlns:a="http://schemas.openxmlformats.org/drawingml/2006/main"/>
        </p:blipFill>
        <p:spPr>
          <a:xfrm xmlns:a="http://schemas.openxmlformats.org/drawingml/2006/main">
            <a:off x="687388" y="2143125"/>
            <a:ext cx="5711825" cy="3400425"/>
          </a:xfrm>
          <a:prstGeom xmlns:a="http://schemas.openxmlformats.org/drawingml/2006/main" prst="rect">
            <a:avLst/>
          </a:prstGeom>
        </p:spPr>
      </p:pic>
      <p:sp>
        <p:nvSpPr>
          <p:cNvPr id="5" name="左：只靠距离可能停在较差视角&#10;右：采样候选位置并计算目标可见">
            <a:extLst xmlns:a="http://schemas.openxmlformats.org/drawingml/2006/main">
              <a:ext uri="{FF2B5EF4-FFF2-40B4-BE49-F238E27FC236}">
                <a16:creationId xmlns:a16="http://schemas.microsoft.com/office/drawing/2014/main" id="{8B629BB6-F789-4337-A364-09C70E0B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左：只靠距离可能停在较差视角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右：采样候选位置并计算目标可见率</a:t>
            </a:r>
          </a:p>
        </p:txBody>
      </p:sp>
      <p:sp>
        <p:nvSpPr>
          <p:cNvPr id="6" name="KSS：选择相关证据">
            <a:extLst xmlns:a="http://schemas.openxmlformats.org/drawingml/2006/main">
              <a:ext uri="{FF2B5EF4-FFF2-40B4-BE49-F238E27FC236}">
                <a16:creationId xmlns:a16="http://schemas.microsoft.com/office/drawing/2014/main" id="{3FB068C5-4C85-4752-A5F5-15DA51B3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25730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KSS：选择相关证据</a:t>
            </a:r>
          </a:p>
        </p:txBody>
      </p:sp>
      <p:sp>
        <p:nvSpPr>
          <p:cNvPr id="7" name="相关物体筛选后，以较少图像覆盖关键关系，平均约4张图像／查询">
            <a:extLst xmlns:a="http://schemas.openxmlformats.org/drawingml/2006/main">
              <a:ext uri="{FF2B5EF4-FFF2-40B4-BE49-F238E27FC236}">
                <a16:creationId xmlns:a16="http://schemas.microsoft.com/office/drawing/2014/main" id="{AD54A680-0418-41A9-A0B8-21D3ADC7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14500"/>
            <a:ext cx="4495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相关物体筛选后，以较少图像覆盖关键关系，平均约4张图像／查询。</a:t>
            </a:r>
          </a:p>
        </p:txBody>
      </p:sp>
      <p:sp>
        <p:nvSpPr>
          <p:cNvPr id="8" name="AVU 与 CLR：修正决策">
            <a:extLst xmlns:a="http://schemas.openxmlformats.org/drawingml/2006/main">
              <a:ext uri="{FF2B5EF4-FFF2-40B4-BE49-F238E27FC236}">
                <a16:creationId xmlns:a16="http://schemas.microsoft.com/office/drawing/2014/main" id="{D1AE797B-6DB0-4D10-8D3C-6423CE7A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5750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AVU 与 CLR：修正决策</a:t>
            </a:r>
          </a:p>
        </p:txBody>
      </p:sp>
      <p:sp>
        <p:nvSpPr>
          <p:cNvPr id="9" name="利用原始视觉证据更新对象词汇，结合过去的决策与反馈再次推理。">
            <a:extLst xmlns:a="http://schemas.openxmlformats.org/drawingml/2006/main">
              <a:ext uri="{FF2B5EF4-FFF2-40B4-BE49-F238E27FC236}">
                <a16:creationId xmlns:a16="http://schemas.microsoft.com/office/drawing/2014/main" id="{792DBAC3-2F5B-4E2E-B810-5129D9C9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14700"/>
            <a:ext cx="4495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利用原始视觉证据更新对象词汇，结合过去的决策与反馈再次推理。</a:t>
            </a:r>
          </a:p>
        </p:txBody>
      </p:sp>
      <p:sp>
        <p:nvSpPr>
          <p:cNvPr id="10" name="VVD：选择观察位置">
            <a:extLst xmlns:a="http://schemas.openxmlformats.org/drawingml/2006/main">
              <a:ext uri="{FF2B5EF4-FFF2-40B4-BE49-F238E27FC236}">
                <a16:creationId xmlns:a16="http://schemas.microsoft.com/office/drawing/2014/main" id="{3C90819D-6608-4112-B2F0-3D032DFA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5770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VVD：选择观察位置</a:t>
            </a:r>
          </a:p>
        </p:txBody>
      </p:sp>
      <p:sp>
        <p:nvSpPr>
          <p:cNvPr id="11" name="对目标周围的可通行位置计算可见率，选取遮挡较少的位置。">
            <a:extLst xmlns:a="http://schemas.openxmlformats.org/drawingml/2006/main">
              <a:ext uri="{FF2B5EF4-FFF2-40B4-BE49-F238E27FC236}">
                <a16:creationId xmlns:a16="http://schemas.microsoft.com/office/drawing/2014/main" id="{C3013CDE-F22E-41D3-84B3-EC1E78C8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14900"/>
            <a:ext cx="4495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对目标周围的可通行位置计算可见率，选取遮挡较少的位置。</a:t>
            </a:r>
          </a:p>
        </p:txBody>
      </p:sp>
      <p:sp>
        <p:nvSpPr>
          <p:cNvPr id="1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7E0BEDE-7040-4273-AE34-FEF10727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来源：MSGNav 图4、第3.3节。依赖RGB-D与位姿，感知和VLM推理成本另计</a:t>
            </a:r>
          </a:p>
        </p:txBody>
      </p:sp>
    </p:spTree>
    <p:extLst>
      <p:ext uri="{BB962C8B-B14F-4D97-AF65-F5344CB8AC3E}">
        <p14:creationId xmlns:p14="http://schemas.microsoft.com/office/powerpoint/2010/main" val="20792590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A6F4B1-B49B-479E-AC98-7B50C43E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历史记忆：保留内容与更新方式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892A7F9-2667-44B0-AC29-FBF846E9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核心问题：有限上下文中，怎样利用过去看见的环境">
            <a:extLst xmlns:a="http://schemas.openxmlformats.org/drawingml/2006/main">
              <a:ext uri="{FF2B5EF4-FFF2-40B4-BE49-F238E27FC236}">
                <a16:creationId xmlns:a16="http://schemas.microsoft.com/office/drawing/2014/main" id="{ACCD8288-97C6-4B90-B9D8-A49A1C94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核心问题：有限上下文中，怎样利用过去看见的环境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DCA47-0216-4863-BACA-86D12D720377}"/>
              </a:ext>
            </a:extLst>
          </p:cNvPr>
          <p:cNvGraphicFramePr/>
          <p:nvPr/>
        </p:nvGraphicFramePr>
        <p:xfrm>
          <a:off xmlns:a="http://schemas.openxmlformats.org/drawingml/2006/main" x="685800" y="2171700"/>
          <a:ext xmlns:a="http://schemas.openxmlformats.org/drawingml/2006/main" cx="10820400" cy="31623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3333750"/>
                <a:gridCol w="3524250"/>
                <a:gridCol w="3962400"/>
              </a:tblGrid>
              <a:tr h="5143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路线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保存的内容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控制开销的方式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132397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视觉历史压缩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AstraNav-Memory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带相机位姿的历史图像序列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降低每帧视觉token数量，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扩大可读取的历史范围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132397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双分支隐式记忆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JanusVLN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语义特征与几何特征，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分别利用历史上下文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起始窗口与最近窗口，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限制部分历史缓存长度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主要取舍：细节保留、历史覆盖，以及更新和读取的开销。">
            <a:extLst xmlns:a="http://schemas.openxmlformats.org/drawingml/2006/main">
              <a:ext uri="{FF2B5EF4-FFF2-40B4-BE49-F238E27FC236}">
                <a16:creationId xmlns:a16="http://schemas.microsoft.com/office/drawing/2014/main" id="{D98C4FDD-016D-48CD-8EFF-1AEE1A70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主要取舍：细节保留、历史覆盖，以及更新和读取的开销。</a:t>
            </a:r>
          </a:p>
        </p:txBody>
      </p:sp>
      <p:sp>
        <p:nvSpPr>
          <p:cNvPr id="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1F2E434B-FFD6-4F8D-98B1-888DD7F5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JanusVLN公开评测：语义侧重读采样历史，几何侧跨步维护缓存。来源详见备注</a:t>
            </a:r>
          </a:p>
        </p:txBody>
      </p:sp>
    </p:spTree>
    <p:extLst>
      <p:ext uri="{BB962C8B-B14F-4D97-AF65-F5344CB8AC3E}">
        <p14:creationId xmlns:p14="http://schemas.microsoft.com/office/powerpoint/2010/main" val="14368053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15C153-5F8E-48A4-AF09-B8EF15B2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AstraNav-Memory：压缩后读取长期历史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66E7AF-004F-4294-99B0-D5F1477D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主配置每帧视觉token：原始598个，压缩后30个">
            <a:extLst xmlns:a="http://schemas.openxmlformats.org/drawingml/2006/main">
              <a:ext uri="{FF2B5EF4-FFF2-40B4-BE49-F238E27FC236}">
                <a16:creationId xmlns:a16="http://schemas.microsoft.com/office/drawing/2014/main" id="{B390798A-A5F5-47C1-912D-DBDF4366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主配置每帧视觉token：原始598个，压缩后30个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18C94-0161-47BF-907F-23802E6F2E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d6ae474e24135"/>
          <a:stretch xmlns:a="http://schemas.openxmlformats.org/drawingml/2006/main"/>
        </p:blipFill>
        <p:spPr>
          <a:xfrm xmlns:a="http://schemas.openxmlformats.org/drawingml/2006/main">
            <a:off x="1181100" y="1790700"/>
            <a:ext cx="9829800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图像与位姿成对输入模型，用于预测目标位置或下一探索前沿坐标。">
            <a:extLst xmlns:a="http://schemas.openxmlformats.org/drawingml/2006/main">
              <a:ext uri="{FF2B5EF4-FFF2-40B4-BE49-F238E27FC236}">
                <a16:creationId xmlns:a16="http://schemas.microsoft.com/office/drawing/2014/main" id="{6FEE33C3-DA05-4BD9-89CC-72DD7101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082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图像与位姿成对输入模型，用于预测目标位置或下一探索前沿坐标。</a:t>
            </a:r>
          </a:p>
        </p:txBody>
      </p:sp>
      <p:sp>
        <p:nvSpPr>
          <p:cNvPr id="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3061E56-16C6-4554-AD80-FB095FAA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来源：AstraNav-Memory，图2（PDF第4页）；压缩算子按正文第3.2节解释</a:t>
            </a:r>
          </a:p>
        </p:txBody>
      </p:sp>
    </p:spTree>
    <p:extLst>
      <p:ext uri="{BB962C8B-B14F-4D97-AF65-F5344CB8AC3E}">
        <p14:creationId xmlns:p14="http://schemas.microsoft.com/office/powerpoint/2010/main" val="3758362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F8A4EE-188D-46A3-B788-56A88F62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AstraNav-Memory：历史长度与信息损失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6F76ECB-C64D-49A0-B370-C043D450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论文效率实验">
            <a:extLst xmlns:a="http://schemas.openxmlformats.org/drawingml/2006/main">
              <a:ext uri="{FF2B5EF4-FFF2-40B4-BE49-F238E27FC236}">
                <a16:creationId xmlns:a16="http://schemas.microsoft.com/office/drawing/2014/main" id="{1BC8F677-3693-42C1-8351-66D36D82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论文效率实验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B3D95-CD27-480D-91AC-80B88E6F692C}"/>
              </a:ext>
            </a:extLst>
          </p:cNvPr>
          <p:cNvGraphicFramePr/>
          <p:nvPr/>
        </p:nvGraphicFramePr>
        <p:xfrm>
          <a:off xmlns:a="http://schemas.openxmlformats.org/drawingml/2006/main" x="685800" y="1924050"/>
          <a:ext xmlns:a="http://schemas.openxmlformats.org/drawingml/2006/main" cx="6858000" cy="37909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857500"/>
                <a:gridCol w="952500"/>
                <a:gridCol w="1524000"/>
                <a:gridCol w="1524000"/>
              </a:tblGrid>
              <a:tr h="5143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历史设置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 %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推理 秒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显存 GB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8191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50帧，原始输入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60.2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90.6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50帧，压缩输入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56.6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46.8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100帧，压缩输入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57.5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4.2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68.5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200帧，压缩输入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55.2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86.8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更长历史仍有代价">
            <a:extLst xmlns:a="http://schemas.openxmlformats.org/drawingml/2006/main">
              <a:ext uri="{FF2B5EF4-FFF2-40B4-BE49-F238E27FC236}">
                <a16:creationId xmlns:a16="http://schemas.microsoft.com/office/drawing/2014/main" id="{C1EB5725-BFD6-4649-90CC-9F3AD03D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52550"/>
            <a:ext cx="321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更长历史仍有代价</a:t>
            </a:r>
          </a:p>
        </p:txBody>
      </p:sp>
      <p:sp>
        <p:nvSpPr>
          <p:cNvPr id="6" name="同为50帧，推理由10.3秒降到2.2秒，SR也由60.2%">
            <a:extLst xmlns:a="http://schemas.openxmlformats.org/drawingml/2006/main">
              <a:ext uri="{FF2B5EF4-FFF2-40B4-BE49-F238E27FC236}">
                <a16:creationId xmlns:a16="http://schemas.microsoft.com/office/drawing/2014/main" id="{C8AECFF2-8E83-4842-8C25-49448A1F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32194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同为50帧，推理由10.3秒降到2.2秒，SR也由60.2%降到56.6%。</a:t>
            </a:r>
          </a:p>
        </p:txBody>
      </p:sp>
      <p:sp>
        <p:nvSpPr>
          <p:cNvPr id="7" name="压缩后100帧优于200帧。历史长度、细节损失与模型读取能力">
            <a:extLst xmlns:a="http://schemas.openxmlformats.org/drawingml/2006/main">
              <a:ext uri="{FF2B5EF4-FFF2-40B4-BE49-F238E27FC236}">
                <a16:creationId xmlns:a16="http://schemas.microsoft.com/office/drawing/2014/main" id="{55B12DE1-28F9-48D5-9DC5-0604813E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38575"/>
            <a:ext cx="3219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压缩后100帧优于200帧。历史长度、细节损失与模型读取能力共同影响结果。</a:t>
            </a:r>
          </a:p>
        </p:txBody>
      </p:sp>
      <p:sp>
        <p:nvSpPr>
          <p:cNvPr id="8" name="压缩行采用原表16×空间压缩标记，与598到30的最终tok">
            <a:extLst xmlns:a="http://schemas.openxmlformats.org/drawingml/2006/main">
              <a:ext uri="{FF2B5EF4-FFF2-40B4-BE49-F238E27FC236}">
                <a16:creationId xmlns:a16="http://schemas.microsoft.com/office/drawing/2014/main" id="{A2ACA89E-A7D5-4EF2-85A1-660E5151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压缩行采用原表16×空间压缩标记，与598到30的最终token统计口径不同。</a:t>
            </a:r>
          </a:p>
        </p:txBody>
      </p:sp>
      <p:sp>
        <p:nvSpPr>
          <p:cNvPr id="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3A1AE2C0-F505-4300-AE7B-6E44771C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整理自 AstraNav-Memory 表3。推理单位：秒／指令；显存按原表口径保留</a:t>
            </a:r>
          </a:p>
        </p:txBody>
      </p:sp>
    </p:spTree>
    <p:extLst>
      <p:ext uri="{BB962C8B-B14F-4D97-AF65-F5344CB8AC3E}">
        <p14:creationId xmlns:p14="http://schemas.microsoft.com/office/powerpoint/2010/main" val="16196885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6F6ADE-0ACB-4B27-B834-1F8CAFA0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探索与目标搜索：候选位置的价值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5117860-7C2A-4E80-95E9-9443DB7A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核心问题：目标尚未出现时，下一步去哪里更有价值">
            <a:extLst xmlns:a="http://schemas.openxmlformats.org/drawingml/2006/main">
              <a:ext uri="{FF2B5EF4-FFF2-40B4-BE49-F238E27FC236}">
                <a16:creationId xmlns:a16="http://schemas.microsoft.com/office/drawing/2014/main" id="{231E0559-8B31-4CD6-BA2F-67B10FD7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核心问题：目标尚未出现时，下一步去哪里更有价值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B6BE9-6E3F-4D8C-88C3-268A777CF255}"/>
              </a:ext>
            </a:extLst>
          </p:cNvPr>
          <p:cNvGraphicFramePr/>
          <p:nvPr/>
        </p:nvGraphicFramePr>
        <p:xfrm>
          <a:off xmlns:a="http://schemas.openxmlformats.org/drawingml/2006/main" x="685800" y="2162175"/>
          <a:ext xmlns:a="http://schemas.openxmlformats.org/drawingml/2006/main" cx="10820400" cy="31051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381250"/>
                <a:gridCol w="3333750"/>
                <a:gridCol w="5105400"/>
              </a:tblGrid>
              <a:tr h="5143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决策载体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选择依据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12954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VLFM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语义价值地图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图文相似度累积到空间，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用价值地图评价前沿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12954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OpenFrontier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图像中的视觉前沿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目标相关性结合信息增益，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再考虑移动距离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共同闭环：发现候选位置，执行移动，更新观测，再确认目标。">
            <a:extLst xmlns:a="http://schemas.openxmlformats.org/drawingml/2006/main">
              <a:ext uri="{FF2B5EF4-FFF2-40B4-BE49-F238E27FC236}">
                <a16:creationId xmlns:a16="http://schemas.microsoft.com/office/drawing/2014/main" id="{2A742861-EF3F-4F67-835B-B390815E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483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共同闭环：发现候选位置，执行移动，更新观测，再确认目标。</a:t>
            </a:r>
          </a:p>
        </p:txBody>
      </p:sp>
      <p:sp>
        <p:nvSpPr>
          <p:cNvPr id="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3D340DDE-925F-4474-9D0E-B938E02C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探索前沿指已知与未知区域的交界。整理自 VLFM 与 OpenFrontier 方法章节</a:t>
            </a:r>
          </a:p>
        </p:txBody>
      </p:sp>
    </p:spTree>
    <p:extLst>
      <p:ext uri="{BB962C8B-B14F-4D97-AF65-F5344CB8AC3E}">
        <p14:creationId xmlns:p14="http://schemas.microsoft.com/office/powerpoint/2010/main" val="3904398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BC4C62-063B-45A8-BB7F-F081CF7F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OpenFrontier：在图像中评价探索方向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76C1DCF-F967-4F89-B1CC-50E5828A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标记候选前沿后，VLM根据周围场景判断哪个方向更可能通向目标">
            <a:extLst xmlns:a="http://schemas.openxmlformats.org/drawingml/2006/main">
              <a:ext uri="{FF2B5EF4-FFF2-40B4-BE49-F238E27FC236}">
                <a16:creationId xmlns:a16="http://schemas.microsoft.com/office/drawing/2014/main" id="{35B1490C-506E-48E2-B641-9A804D4E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标记候选前沿后，VLM根据周围场景判断哪个方向更可能通向目标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2E6AB-0618-44C4-B3A4-EC784071E9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70087a3d54897"/>
          <a:stretch xmlns:a="http://schemas.openxmlformats.org/drawingml/2006/main"/>
        </p:blipFill>
        <p:spPr>
          <a:xfrm xmlns:a="http://schemas.openxmlformats.org/drawingml/2006/main">
            <a:off x="685800" y="2078578"/>
            <a:ext cx="10820400" cy="3453319"/>
          </a:xfrm>
          <a:prstGeom xmlns:a="http://schemas.openxmlformats.org/drawingml/2006/main" prst="rect">
            <a:avLst/>
          </a:prstGeom>
        </p:spPr>
      </p:pic>
      <p:sp>
        <p:nvSpPr>
          <p:cNvPr id="5" name="FrontierNet提供探索先验，VLM提供目标相关概率，">
            <a:extLst xmlns:a="http://schemas.openxmlformats.org/drawingml/2006/main">
              <a:ext uri="{FF2B5EF4-FFF2-40B4-BE49-F238E27FC236}">
                <a16:creationId xmlns:a16="http://schemas.microsoft.com/office/drawing/2014/main" id="{DE1A47EC-28E0-4745-8739-246FE05E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FrontierNet提供探索先验，VLM提供目标相关概率，三维后端维护全局候选位置。</a:t>
            </a:r>
          </a:p>
        </p:txBody>
      </p:sp>
      <p:sp>
        <p:nvSpPr>
          <p:cNvPr id="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F10AEF9-EB39-4AF2-9EE0-50EF6187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来源：OpenFrontier，图2（PDF第2页）</a:t>
            </a:r>
          </a:p>
        </p:txBody>
      </p:sp>
    </p:spTree>
    <p:extLst>
      <p:ext uri="{BB962C8B-B14F-4D97-AF65-F5344CB8AC3E}">
        <p14:creationId xmlns:p14="http://schemas.microsoft.com/office/powerpoint/2010/main" val="20647751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2CFC73-5AA4-4064-96E6-C19EE181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OpenFrontier：候选效用与目标确认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C54BCC-8A73-4896-B2B3-527BCDD5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前沿效用的组成">
            <a:extLst xmlns:a="http://schemas.openxmlformats.org/drawingml/2006/main">
              <a:ext uri="{FF2B5EF4-FFF2-40B4-BE49-F238E27FC236}">
                <a16:creationId xmlns:a16="http://schemas.microsoft.com/office/drawing/2014/main" id="{E618ABD3-DF72-4E0B-BFE0-9C563DEC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前沿效用的组成</a:t>
            </a:r>
          </a:p>
        </p:txBody>
      </p:sp>
      <p:sp>
        <p:nvSpPr>
          <p:cNvPr id="4" name="目标相关概率 × 信息增益 ÷ 到达距离">
            <a:extLst xmlns:a="http://schemas.openxmlformats.org/drawingml/2006/main">
              <a:ext uri="{FF2B5EF4-FFF2-40B4-BE49-F238E27FC236}">
                <a16:creationId xmlns:a16="http://schemas.microsoft.com/office/drawing/2014/main" id="{4894E185-4964-44E6-8B23-AA217CF6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905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目标相关概率 × 信息增益 ÷ 到达距离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CBABA-5942-4F27-B2A0-6EF41B0459F9}"/>
              </a:ext>
            </a:extLst>
          </p:cNvPr>
          <p:cNvGraphicFramePr/>
          <p:nvPr/>
        </p:nvGraphicFramePr>
        <p:xfrm>
          <a:off xmlns:a="http://schemas.openxmlformats.org/drawingml/2006/main" x="685800" y="2857500"/>
          <a:ext xmlns:a="http://schemas.openxmlformats.org/drawingml/2006/main" cx="5905500" cy="27051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000250"/>
                <a:gridCol w="3905250"/>
              </a:tblGrid>
              <a:tr h="4762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量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来源与含义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7429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目标相关概率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VLM根据图像与目标评估方向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信息增益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FrontierNet预测可揭示的未知空间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到达距离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当前位置到候选前沿的空间距离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停止前的目标确认">
            <a:extLst xmlns:a="http://schemas.openxmlformats.org/drawingml/2006/main">
              <a:ext uri="{FF2B5EF4-FFF2-40B4-BE49-F238E27FC236}">
                <a16:creationId xmlns:a16="http://schemas.microsoft.com/office/drawing/2014/main" id="{D37008D4-8AC8-4F13-896D-8CD56B44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5255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停止前的目标确认</a:t>
            </a:r>
          </a:p>
        </p:txBody>
      </p:sp>
      <p:sp>
        <p:nvSpPr>
          <p:cNvPr id="7" name="1  提出观察位置">
            <a:extLst xmlns:a="http://schemas.openxmlformats.org/drawingml/2006/main">
              <a:ext uri="{FF2B5EF4-FFF2-40B4-BE49-F238E27FC236}">
                <a16:creationId xmlns:a16="http://schemas.microsoft.com/office/drawing/2014/main" id="{48780A30-E70E-4D49-9007-857ADCC7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47875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1  提出观察位置</a:t>
            </a:r>
          </a:p>
        </p:txBody>
      </p:sp>
      <p:sp>
        <p:nvSpPr>
          <p:cNvPr id="8" name="分割检测到疑似目标，结合深度与位姿，生成面向物体的观察位置。">
            <a:extLst xmlns:a="http://schemas.openxmlformats.org/drawingml/2006/main">
              <a:ext uri="{FF2B5EF4-FFF2-40B4-BE49-F238E27FC236}">
                <a16:creationId xmlns:a16="http://schemas.microsoft.com/office/drawing/2014/main" id="{F3CCF843-7949-4910-AE19-49D31420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05075"/>
            <a:ext cx="4324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分割检测到疑似目标，结合深度与位姿，生成面向物体的观察位置。</a:t>
            </a:r>
          </a:p>
        </p:txBody>
      </p:sp>
      <p:sp>
        <p:nvSpPr>
          <p:cNvPr id="9" name="2  到达后再次核查">
            <a:extLst xmlns:a="http://schemas.openxmlformats.org/drawingml/2006/main">
              <a:ext uri="{FF2B5EF4-FFF2-40B4-BE49-F238E27FC236}">
                <a16:creationId xmlns:a16="http://schemas.microsoft.com/office/drawing/2014/main" id="{7D011530-AFA7-47A7-8CCA-D790E455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14725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2  到达后再次核查</a:t>
            </a:r>
          </a:p>
        </p:txBody>
      </p:sp>
      <p:sp>
        <p:nvSpPr>
          <p:cNvPr id="10" name="由VLM检查当前图像，判断该物体是否满足目标描述。">
            <a:extLst xmlns:a="http://schemas.openxmlformats.org/drawingml/2006/main">
              <a:ext uri="{FF2B5EF4-FFF2-40B4-BE49-F238E27FC236}">
                <a16:creationId xmlns:a16="http://schemas.microsoft.com/office/drawing/2014/main" id="{6D9E87E9-679C-4CD3-A696-146DC4F5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71925"/>
            <a:ext cx="4324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由VLM检查当前图像，判断该物体是否满足目标描述。</a:t>
            </a:r>
          </a:p>
        </p:txBody>
      </p:sp>
      <p:sp>
        <p:nvSpPr>
          <p:cNvPr id="11" name="确认后靠近目标。未确认则丢弃假设，恢复前沿搜索。">
            <a:extLst xmlns:a="http://schemas.openxmlformats.org/drawingml/2006/main">
              <a:ext uri="{FF2B5EF4-FFF2-40B4-BE49-F238E27FC236}">
                <a16:creationId xmlns:a16="http://schemas.microsoft.com/office/drawing/2014/main" id="{5A3AB9A0-67D5-4776-9A12-BE6BA672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14925"/>
            <a:ext cx="4324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确认后靠近目标。未确认则丢弃假设，恢复前沿搜索。</a:t>
            </a:r>
          </a:p>
        </p:txBody>
      </p:sp>
      <p:sp>
        <p:nvSpPr>
          <p:cNvPr id="1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6332F48-49BF-4E46-A893-46188843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整理自 OpenFrontier 第III节。仍依赖相机几何、位姿和下层导航，推理开销另计</a:t>
            </a:r>
          </a:p>
        </p:txBody>
      </p:sp>
    </p:spTree>
    <p:extLst>
      <p:ext uri="{BB962C8B-B14F-4D97-AF65-F5344CB8AC3E}">
        <p14:creationId xmlns:p14="http://schemas.microsoft.com/office/powerpoint/2010/main" val="7304805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7A2980-AA4B-4DB3-B5E4-FE41BE7E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导航策略训练与优化：学习信号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CC02577-D6BF-4482-B422-699960A6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核心问题：怎样训练开放词汇目标搜索策略，并适应未见类别">
            <a:extLst xmlns:a="http://schemas.openxmlformats.org/drawingml/2006/main">
              <a:ext uri="{FF2B5EF4-FFF2-40B4-BE49-F238E27FC236}">
                <a16:creationId xmlns:a16="http://schemas.microsoft.com/office/drawing/2014/main" id="{F5D639FB-FF50-47D2-ADAD-1503FBBA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核心问题：怎样训练开放词汇目标搜索策略，并适应未见类别</a:t>
            </a:r>
          </a:p>
        </p:txBody>
      </p:sp>
      <p:sp>
        <p:nvSpPr>
          <p:cNvPr id="4" name="OVSegDT：分割与混合优化">
            <a:extLst xmlns:a="http://schemas.openxmlformats.org/drawingml/2006/main">
              <a:ext uri="{FF2B5EF4-FFF2-40B4-BE49-F238E27FC236}">
                <a16:creationId xmlns:a16="http://schemas.microsoft.com/office/drawing/2014/main" id="{13621627-555F-444A-A6C5-BDBF44D3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12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OVSegDT：分割与混合优化</a:t>
            </a:r>
          </a:p>
        </p:txBody>
      </p:sp>
      <p:sp>
        <p:nvSpPr>
          <p:cNvPr id="5" name="目标视觉线索&#10;将目标掩码直接作为输入，并用辅助重建保留目标位">
            <a:extLst xmlns:a="http://schemas.openxmlformats.org/drawingml/2006/main">
              <a:ext uri="{FF2B5EF4-FFF2-40B4-BE49-F238E27FC236}">
                <a16:creationId xmlns:a16="http://schemas.microsoft.com/office/drawing/2014/main" id="{06DEDA27-7F4C-49C9-B66B-DDC03650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5124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目标视觉线索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将目标掩码直接作为输入，并用辅助重建保留目标位置线索。</a:t>
            </a:r>
          </a:p>
        </p:txBody>
      </p:sp>
      <p:sp>
        <p:nvSpPr>
          <p:cNvPr id="6" name="优化方式&#10;根据动作不确定性，连续调节BC与PPO的损失权重。">
            <a:extLst xmlns:a="http://schemas.openxmlformats.org/drawingml/2006/main">
              <a:ext uri="{FF2B5EF4-FFF2-40B4-BE49-F238E27FC236}">
                <a16:creationId xmlns:a16="http://schemas.microsoft.com/office/drawing/2014/main" id="{9CBE04D6-1279-4DAE-8DBD-5FF78A0C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124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优化方式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根据动作不确定性，连续调节BC与PPO的损失权重。</a:t>
            </a:r>
          </a:p>
        </p:txBody>
      </p:sp>
      <p:sp>
        <p:nvSpPr>
          <p:cNvPr id="7" name="CompassNav：比较候选动作">
            <a:extLst xmlns:a="http://schemas.openxmlformats.org/drawingml/2006/main">
              <a:ext uri="{FF2B5EF4-FFF2-40B4-BE49-F238E27FC236}">
                <a16:creationId xmlns:a16="http://schemas.microsoft.com/office/drawing/2014/main" id="{5DD3FFD9-578B-4234-A93C-2E4AD617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33600"/>
            <a:ext cx="497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CompassNav：比较候选动作</a:t>
            </a:r>
          </a:p>
        </p:txBody>
      </p:sp>
      <p:sp>
        <p:nvSpPr>
          <p:cNvPr id="8" name="示范初始化&#10;SFT学习教师的分析与动作编号，建立基本导航决策">
            <a:extLst xmlns:a="http://schemas.openxmlformats.org/drawingml/2006/main">
              <a:ext uri="{FF2B5EF4-FFF2-40B4-BE49-F238E27FC236}">
                <a16:creationId xmlns:a16="http://schemas.microsoft.com/office/drawing/2014/main" id="{3B0D46A6-7C69-428C-A016-A0E547B1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90825"/>
            <a:ext cx="4972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示范初始化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SFT学习教师的分析与动作编号，建立基本导航决策能力。</a:t>
            </a:r>
          </a:p>
        </p:txBody>
      </p:sp>
      <p:sp>
        <p:nvSpPr>
          <p:cNvPr id="9" name="质量反馈&#10;GRPO结合候选动作的距离评分及差距感知奖励，改进">
            <a:extLst xmlns:a="http://schemas.openxmlformats.org/drawingml/2006/main">
              <a:ext uri="{FF2B5EF4-FFF2-40B4-BE49-F238E27FC236}">
                <a16:creationId xmlns:a16="http://schemas.microsoft.com/office/drawing/2014/main" id="{776B1796-0613-491A-8476-6384D0C6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71950"/>
            <a:ext cx="4972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质量反馈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GRPO结合候选动作的距离评分及差距感知奖励，改进动作选择。</a:t>
            </a:r>
          </a:p>
        </p:txBody>
      </p:sp>
      <p:sp>
        <p:nvSpPr>
          <p:cNvPr id="10" name="BC：行为克隆。PPO：近端策略优化。SFT：监督微调。GR">
            <a:extLst xmlns:a="http://schemas.openxmlformats.org/drawingml/2006/main">
              <a:ext uri="{FF2B5EF4-FFF2-40B4-BE49-F238E27FC236}">
                <a16:creationId xmlns:a16="http://schemas.microsoft.com/office/drawing/2014/main" id="{C9B44E66-5615-4D9D-80C6-DC643175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BC：行为克隆。PPO：近端策略优化。SFT：监督微调。GRPO：组相对策略优化。</a:t>
            </a:r>
          </a:p>
        </p:txBody>
      </p:sp>
      <p:sp>
        <p:nvSpPr>
          <p:cNvPr id="11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AFD436C-C621-4AF0-A120-C670E6C6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整理自 OVSegDT 第4节与 CompassNav 阅读笔记</a:t>
            </a:r>
          </a:p>
        </p:txBody>
      </p:sp>
    </p:spTree>
    <p:extLst>
      <p:ext uri="{BB962C8B-B14F-4D97-AF65-F5344CB8AC3E}">
        <p14:creationId xmlns:p14="http://schemas.microsoft.com/office/powerpoint/2010/main" val="18400180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00FDF3-0109-4991-9DFB-01EF5CED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OVSegDT：目标掩码怎样进入策略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80A5260-EE9F-4216-B4F3-C9632D49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B7975-19F4-45F9-87D0-F1C5930FA1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7b1fb8bf54620"/>
          <a:stretch xmlns:a="http://schemas.openxmlformats.org/drawingml/2006/main"/>
        </p:blipFill>
        <p:spPr>
          <a:xfrm xmlns:a="http://schemas.openxmlformats.org/drawingml/2006/main">
            <a:off x="686725" y="1457325"/>
            <a:ext cx="5998900" cy="4752975"/>
          </a:xfrm>
          <a:prstGeom xmlns:a="http://schemas.openxmlformats.org/drawingml/2006/main" prst="rect">
            <a:avLst/>
          </a:prstGeom>
        </p:spPr>
      </p:pic>
      <p:sp>
        <p:nvSpPr>
          <p:cNvPr id="4" name="输入">
            <a:extLst xmlns:a="http://schemas.openxmlformats.org/drawingml/2006/main">
              <a:ext uri="{FF2B5EF4-FFF2-40B4-BE49-F238E27FC236}">
                <a16:creationId xmlns:a16="http://schemas.microsoft.com/office/drawing/2014/main" id="{EB214245-C37D-47AF-9598-654B9283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66850"/>
            <a:ext cx="4124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5" name="当前RGB、目标文字、&#10;上一步动作、目标二值掩码。">
            <a:extLst xmlns:a="http://schemas.openxmlformats.org/drawingml/2006/main">
              <a:ext uri="{FF2B5EF4-FFF2-40B4-BE49-F238E27FC236}">
                <a16:creationId xmlns:a16="http://schemas.microsoft.com/office/drawing/2014/main" id="{C4D7E481-22B1-43AB-80DD-C3908D22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24050"/>
            <a:ext cx="41243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当前RGB、目标文字、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上一步动作、目标二值掩码。</a:t>
            </a:r>
          </a:p>
        </p:txBody>
      </p:sp>
      <p:sp>
        <p:nvSpPr>
          <p:cNvPr id="6" name="时间建模">
            <a:extLst xmlns:a="http://schemas.openxmlformats.org/drawingml/2006/main">
              <a:ext uri="{FF2B5EF4-FFF2-40B4-BE49-F238E27FC236}">
                <a16:creationId xmlns:a16="http://schemas.microsoft.com/office/drawing/2014/main" id="{8B793068-58AB-46EB-BA9D-CD5FB525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57525"/>
            <a:ext cx="4124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时间建模</a:t>
            </a:r>
          </a:p>
        </p:txBody>
      </p:sp>
      <p:sp>
        <p:nvSpPr>
          <p:cNvPr id="7" name="Transformer读取最近100步，&#10;预测动作分布与状态">
            <a:extLst xmlns:a="http://schemas.openxmlformats.org/drawingml/2006/main">
              <a:ext uri="{FF2B5EF4-FFF2-40B4-BE49-F238E27FC236}">
                <a16:creationId xmlns:a16="http://schemas.microsoft.com/office/drawing/2014/main" id="{C8CE06C7-D78B-4FD0-9E93-082441C9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14725"/>
            <a:ext cx="41243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Transformer读取最近100步，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预测动作分布与状态价值。</a:t>
            </a:r>
          </a:p>
        </p:txBody>
      </p:sp>
      <p:sp>
        <p:nvSpPr>
          <p:cNvPr id="8" name="辅助监督">
            <a:extLst xmlns:a="http://schemas.openxmlformats.org/drawingml/2006/main">
              <a:ext uri="{FF2B5EF4-FFF2-40B4-BE49-F238E27FC236}">
                <a16:creationId xmlns:a16="http://schemas.microsoft.com/office/drawing/2014/main" id="{14D278A5-3713-4B08-8251-42C541AC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48200"/>
            <a:ext cx="4124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辅助监督</a:t>
            </a:r>
          </a:p>
        </p:txBody>
      </p:sp>
      <p:sp>
        <p:nvSpPr>
          <p:cNvPr id="9" name="重建目标掩码，促使序列特征&#10;保留目标位置线索。">
            <a:extLst xmlns:a="http://schemas.openxmlformats.org/drawingml/2006/main">
              <a:ext uri="{FF2B5EF4-FFF2-40B4-BE49-F238E27FC236}">
                <a16:creationId xmlns:a16="http://schemas.microsoft.com/office/drawing/2014/main" id="{8DAB2CDE-49A0-4B54-B453-69A960D3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105400"/>
            <a:ext cx="41243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重建目标掩码，促使序列特征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保留目标位置线索。</a:t>
            </a:r>
          </a:p>
        </p:txBody>
      </p:sp>
      <p:sp>
        <p:nvSpPr>
          <p:cNvPr id="10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7DAC774-4BCF-44F2-9619-0994C7A9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来源：OVSegDT，图2（PDF第4页）。图中分割头为训练辅助头，输入掩码由外部感知提供</a:t>
            </a:r>
          </a:p>
        </p:txBody>
      </p:sp>
    </p:spTree>
    <p:extLst>
      <p:ext uri="{BB962C8B-B14F-4D97-AF65-F5344CB8AC3E}">
        <p14:creationId xmlns:p14="http://schemas.microsoft.com/office/powerpoint/2010/main" val="12722872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AF4A13-E3B0-4619-A32D-5867A405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OVSegDT：BC 与 PPO 的自适应配比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3A3D407-A938-49A8-99C7-D5C8ACBA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" name="使用动作熵的滑动平均，连续调节两种学习信号的权重">
            <a:extLst xmlns:a="http://schemas.openxmlformats.org/drawingml/2006/main">
              <a:ext uri="{FF2B5EF4-FFF2-40B4-BE49-F238E27FC236}">
                <a16:creationId xmlns:a16="http://schemas.microsoft.com/office/drawing/2014/main" id="{753A93CE-2C90-436C-8D98-B7104B59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使用动作熵的滑动平均，连续调节两种学习信号的权重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924A4-F3DA-4779-9F13-4E910312062B}"/>
              </a:ext>
            </a:extLst>
          </p:cNvPr>
          <p:cNvGraphicFramePr/>
          <p:nvPr/>
        </p:nvGraphicFramePr>
        <p:xfrm>
          <a:off xmlns:a="http://schemas.openxmlformats.org/drawingml/2006/main" x="685800" y="2085975"/>
          <a:ext xmlns:a="http://schemas.openxmlformats.org/drawingml/2006/main" cx="10820400" cy="21717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4286250"/>
                <a:gridCol w="3267075"/>
                <a:gridCol w="3267075"/>
              </a:tblGrid>
              <a:tr h="4953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策略状态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BC 比重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 比重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8382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高熵：动作选择较分散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增大，更多学习专家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减小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低熵：动作选择更集中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减小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增大，更多依赖交互奖励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适应预测掩码">
            <a:extLst xmlns:a="http://schemas.openxmlformats.org/drawingml/2006/main">
              <a:ext uri="{FF2B5EF4-FFF2-40B4-BE49-F238E27FC236}">
                <a16:creationId xmlns:a16="http://schemas.microsoft.com/office/drawing/2014/main" id="{E1B572EF-4A8A-4ACA-9D91-6B04A3B6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适应预测掩码</a:t>
            </a:r>
          </a:p>
        </p:txBody>
      </p:sp>
      <p:sp>
        <p:nvSpPr>
          <p:cNvPr id="6" name="真值掩码训练2亿步，&#10;再使用YOLOE预测掩码适配1500万">
            <a:extLst xmlns:a="http://schemas.openxmlformats.org/drawingml/2006/main">
              <a:ext uri="{FF2B5EF4-FFF2-40B4-BE49-F238E27FC236}">
                <a16:creationId xmlns:a16="http://schemas.microsoft.com/office/drawing/2014/main" id="{467C1D0F-6A73-4C4E-8649-400F2789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5105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真值掩码训练2亿步，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再使用YOLOE预测掩码适配1500万步。</a:t>
            </a:r>
          </a:p>
        </p:txBody>
      </p:sp>
      <p:sp>
        <p:nvSpPr>
          <p:cNvPr id="7" name="HM3D-OVON Val-Unseen">
            <a:extLst xmlns:a="http://schemas.openxmlformats.org/drawingml/2006/main">
              <a:ext uri="{FF2B5EF4-FFF2-40B4-BE49-F238E27FC236}">
                <a16:creationId xmlns:a16="http://schemas.microsoft.com/office/drawing/2014/main" id="{3BEF9FA9-8601-4C6E-B090-E5ADFDD2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HM3D-OVON Val-Unseen</a:t>
            </a:r>
          </a:p>
        </p:txBody>
      </p:sp>
      <p:sp>
        <p:nvSpPr>
          <p:cNvPr id="8" name="SR 44.7 ± 0.4%，SPL 20.6 ± 0.2%">
            <a:extLst xmlns:a="http://schemas.openxmlformats.org/drawingml/2006/main">
              <a:ext uri="{FF2B5EF4-FFF2-40B4-BE49-F238E27FC236}">
                <a16:creationId xmlns:a16="http://schemas.microsoft.com/office/drawing/2014/main" id="{DB9C4BE5-2993-4F94-B1D6-42FB6341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48275"/>
            <a:ext cx="4933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SR 44.7 ± 0.4%，SPL 20.6 ± 0.2%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目标掩码的质量仍然影响泛化。</a:t>
            </a:r>
          </a:p>
        </p:txBody>
      </p:sp>
      <p:sp>
        <p:nvSpPr>
          <p:cNvPr id="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F291C53B-2A4F-4C6D-984F-52767C33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整理自 OVSegDT 第4.2–4.3节及表1。指标为三随机种子均值±标准差；训练2 × A100</a:t>
            </a:r>
          </a:p>
        </p:txBody>
      </p:sp>
    </p:spTree>
    <p:extLst>
      <p:ext uri="{BB962C8B-B14F-4D97-AF65-F5344CB8AC3E}">
        <p14:creationId xmlns:p14="http://schemas.microsoft.com/office/powerpoint/2010/main" val="14457783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325160-0D95-4E04-A901-BD7EDC56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评测基准：各自检验什么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2B03C26-C816-4B18-8CA5-69DF813B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" name="任务定义决定应验证哪一种能力">
            <a:extLst xmlns:a="http://schemas.openxmlformats.org/drawingml/2006/main">
              <a:ext uri="{FF2B5EF4-FFF2-40B4-BE49-F238E27FC236}">
                <a16:creationId xmlns:a16="http://schemas.microsoft.com/office/drawing/2014/main" id="{E47A347A-58FB-4AFA-81D7-94CC7922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任务定义决定应验证哪一种能力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F1A5E-9AEE-49D5-9F69-1C46A081933B}"/>
              </a:ext>
            </a:extLst>
          </p:cNvPr>
          <p:cNvGraphicFramePr/>
          <p:nvPr/>
        </p:nvGraphicFramePr>
        <p:xfrm>
          <a:off xmlns:a="http://schemas.openxmlformats.org/drawingml/2006/main" x="685800" y="1971675"/>
          <a:ext xmlns:a="http://schemas.openxmlformats.org/drawingml/2006/main" cx="10820400" cy="38481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762250"/>
                <a:gridCol w="4095750"/>
                <a:gridCol w="3962400"/>
              </a:tblGrid>
              <a:tr h="4953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任务或资源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主要检验内容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8096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 Semantics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室内三维场景语义标注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提供物体与空间语义基础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开放词汇类别目标导航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已见、同义词及未见类别泛化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GOAT-Bench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多模态目标连续导航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历史积累与跨目标复用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SG3D / SG-LLM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顺序目标定位与导航，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以及相应模型基线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任务上下文与跨步骤对象引用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EB8E79F-2C8A-4BAD-A8E4-1E3544C8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整理自四篇基准论文。跨论文比较需对齐目标类型、传感器、划分及成功条件</a:t>
            </a:r>
          </a:p>
        </p:txBody>
      </p:sp>
    </p:spTree>
    <p:extLst>
      <p:ext uri="{BB962C8B-B14F-4D97-AF65-F5344CB8AC3E}">
        <p14:creationId xmlns:p14="http://schemas.microsoft.com/office/powerpoint/2010/main" val="15594845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C95061-1301-453B-997C-1AA11016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GOAT-Bench：连续多模态目标任务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2808E48-F09B-4AE9-B98D-F0C3D4A4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同一环境内依次完成5至10个子任务，环境与智能体状态持续保留">
            <a:extLst xmlns:a="http://schemas.openxmlformats.org/drawingml/2006/main">
              <a:ext uri="{FF2B5EF4-FFF2-40B4-BE49-F238E27FC236}">
                <a16:creationId xmlns:a16="http://schemas.microsoft.com/office/drawing/2014/main" id="{6387A14C-249F-4A95-90A1-74D9FF65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同一环境内依次完成5至10个子任务，环境与智能体状态持续保留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24EA1-7B41-45AD-8364-4C590D5885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21b83171b49b0"/>
          <a:stretch xmlns:a="http://schemas.openxmlformats.org/drawingml/2006/main"/>
        </p:blipFill>
        <p:spPr>
          <a:xfrm xmlns:a="http://schemas.openxmlformats.org/drawingml/2006/main">
            <a:off x="685800" y="1828919"/>
            <a:ext cx="7905750" cy="4447936"/>
          </a:xfrm>
          <a:prstGeom xmlns:a="http://schemas.openxmlformats.org/drawingml/2006/main" prst="rect">
            <a:avLst/>
          </a:prstGeom>
        </p:spPr>
      </p:pic>
      <p:sp>
        <p:nvSpPr>
          <p:cNvPr id="5" name="目标形式">
            <a:extLst xmlns:a="http://schemas.openxmlformats.org/drawingml/2006/main">
              <a:ext uri="{FF2B5EF4-FFF2-40B4-BE49-F238E27FC236}">
                <a16:creationId xmlns:a16="http://schemas.microsoft.com/office/drawing/2014/main" id="{AE696D41-29F7-4BF6-8DE5-696BF3D5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907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目标形式</a:t>
            </a:r>
          </a:p>
        </p:txBody>
      </p:sp>
      <p:sp>
        <p:nvSpPr>
          <p:cNvPr id="6" name="类别名称&#10;参考图像&#10;语言描述">
            <a:extLst xmlns:a="http://schemas.openxmlformats.org/drawingml/2006/main">
              <a:ext uri="{FF2B5EF4-FFF2-40B4-BE49-F238E27FC236}">
                <a16:creationId xmlns:a16="http://schemas.microsoft.com/office/drawing/2014/main" id="{F19A8EA6-6E5D-49BB-8CBA-E81776A5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47925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类别名称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参考图像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语言描述</a:t>
            </a:r>
          </a:p>
        </p:txBody>
      </p:sp>
      <p:sp>
        <p:nvSpPr>
          <p:cNvPr id="7" name="历史价值">
            <a:extLst xmlns:a="http://schemas.openxmlformats.org/drawingml/2006/main">
              <a:ext uri="{FF2B5EF4-FFF2-40B4-BE49-F238E27FC236}">
                <a16:creationId xmlns:a16="http://schemas.microsoft.com/office/drawing/2014/main" id="{A0D62926-840D-4433-9145-1933C5B6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385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历史价值</a:t>
            </a:r>
          </a:p>
        </p:txBody>
      </p:sp>
      <p:sp>
        <p:nvSpPr>
          <p:cNvPr id="8" name="复用已见物体及位置，&#10;减少后续重复探索。">
            <a:extLst xmlns:a="http://schemas.openxmlformats.org/drawingml/2006/main">
              <a:ext uri="{FF2B5EF4-FFF2-40B4-BE49-F238E27FC236}">
                <a16:creationId xmlns:a16="http://schemas.microsoft.com/office/drawing/2014/main" id="{71921286-B630-4719-844C-714BEEBE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95775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复用已见物体及位置，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减少后续重复探索。</a:t>
            </a:r>
          </a:p>
        </p:txBody>
      </p:sp>
      <p:sp>
        <p:nvSpPr>
          <p:cNvPr id="9" name="评测成功率与路径效率，检验跨目标经验复用。">
            <a:extLst xmlns:a="http://schemas.openxmlformats.org/drawingml/2006/main">
              <a:ext uri="{FF2B5EF4-FFF2-40B4-BE49-F238E27FC236}">
                <a16:creationId xmlns:a16="http://schemas.microsoft.com/office/drawing/2014/main" id="{D7A77DF4-D8A6-45BA-B00E-CC8CBF01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673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评测成功率与路径效率，检验跨目标经验复用。</a:t>
            </a:r>
          </a:p>
        </p:txBody>
      </p:sp>
      <p:sp>
        <p:nvSpPr>
          <p:cNvPr id="10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77F54BA-2896-4D45-8D0E-87A9808A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来源：GOAT-Bench，图1与第3节</a:t>
            </a:r>
          </a:p>
        </p:txBody>
      </p:sp>
    </p:spTree>
    <p:extLst>
      <p:ext uri="{BB962C8B-B14F-4D97-AF65-F5344CB8AC3E}">
        <p14:creationId xmlns:p14="http://schemas.microsoft.com/office/powerpoint/2010/main" val="1267012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E9CC50-C436-432F-8948-4F60082A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五个方向的贡献位置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E711210-5709-4217-BAD5-C39DCC00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" name="按主要方法贡献归类，同一系统可以同时采用多个方向的组件">
            <a:extLst xmlns:a="http://schemas.openxmlformats.org/drawingml/2006/main">
              <a:ext uri="{FF2B5EF4-FFF2-40B4-BE49-F238E27FC236}">
                <a16:creationId xmlns:a16="http://schemas.microsoft.com/office/drawing/2014/main" id="{39BA55F3-A4CA-4C6A-AC25-AF1A5C7E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按主要方法贡献归类，同一系统可以同时采用多个方向的组件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880AC-443C-4365-A473-D7B110CC6A58}"/>
              </a:ext>
            </a:extLst>
          </p:cNvPr>
          <p:cNvGraphicFramePr/>
          <p:nvPr/>
        </p:nvGraphicFramePr>
        <p:xfrm>
          <a:off xmlns:a="http://schemas.openxmlformats.org/drawingml/2006/main" x="685800" y="2057400"/>
          <a:ext xmlns:a="http://schemas.openxmlformats.org/drawingml/2006/main" cx="10820400" cy="4162425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381250"/>
                <a:gridCol w="3067050"/>
                <a:gridCol w="2838450"/>
                <a:gridCol w="2533650"/>
              </a:tblGrid>
              <a:tr h="4953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重点改变的环节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典型输出或载体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代表论文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7334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系统组织架构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模块职责与任务接口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子目标、航点或统一决策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OmniNav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环境表征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观测信息的组织与表达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场景图或连续特征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MSGNav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历史记忆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跨时间信息的保留与读取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压缩历史或隐式缓存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AstraNav-Memory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探索与目标搜索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候选位置的价值与目标确认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下一探索位置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OpenFrontier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策略训练与优化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监督、奖励与优化配比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学到的导航策略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OVSegDT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EB58A6C-992B-4DB3-B0AA-95670982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依据当前文献集归纳。</a:t>
            </a: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训练算力与传感器作为独立属性见后续页面</a:t>
            </a:r>
          </a:p>
        </p:txBody>
      </p:sp>
    </p:spTree>
    <p:extLst>
      <p:ext uri="{BB962C8B-B14F-4D97-AF65-F5344CB8AC3E}">
        <p14:creationId xmlns:p14="http://schemas.microsoft.com/office/powerpoint/2010/main" val="161879358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568735-3743-4D38-91F8-654AC26E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系统组织架构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59C5F03-8B4B-444C-BD62-C1435ACD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FBA8C70D-78D0-4984-AC66-57817911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程序与工具／技能编排、快慢系统分层协作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多任务及规划、定位、探索与导航能力的统一建模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4B123-F91A-486E-A01F-00E55E389799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39814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057400"/>
                <a:gridCol w="4857750"/>
                <a:gridCol w="3905250"/>
              </a:tblGrid>
              <a:tr h="4381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GPU 配置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时长与备注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5715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TANGO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无需新增导航专项训练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复用预训练模型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SuperNav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主模型与几何执行器无需专项训练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学习式执行器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GPU 配置未报告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OmniNav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阶段1：96 × H20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阶段2：64 × H20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48小时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D3D-VLP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× RTX 6000 Ada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约14天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Uni-NaVid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 × H800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约35小时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MTU3D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× A100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约164 GPU·小时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BD7D1ABE-44FF-4CA7-B7DA-6D495DAD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训练配置沿用源文档口径，基础模型与复用组件的预训练开销另计</a:t>
            </a:r>
          </a:p>
        </p:txBody>
      </p:sp>
    </p:spTree>
    <p:extLst>
      <p:ext uri="{BB962C8B-B14F-4D97-AF65-F5344CB8AC3E}">
        <p14:creationId xmlns:p14="http://schemas.microsoft.com/office/powerpoint/2010/main" val="48078638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A738A8-84E6-4898-A544-8DF13C2B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环境表征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220681-2320-4177-9861-D874AF55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44E5735A-0FBF-45E1-93F0-A64AFD2D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三维场景图组织物体、空间信息与视觉证据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三维物体和前沿特征的 soft-token 表示接口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04FA3-06CE-4704-93AF-06E178A622FE}"/>
              </a:ext>
            </a:extLst>
          </p:cNvPr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952750"/>
                <a:gridCol w="4667250"/>
                <a:gridCol w="3200400"/>
              </a:tblGrid>
              <a:tr h="5143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GPU 配置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时长与备注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MSGNav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无需新增导航专项训练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推理资源另计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SoftNav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× RTX 4090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时长未报告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79319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CDE9EB-0A50-45A2-97C9-EC6DDE77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历史记忆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065CFE9-FB6A-4230-8C15-CC8147A9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3562E04E-273B-4710-8C68-5EFE7321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长期视觉历史压缩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语义与空间双分支记忆、历史缓存与滑动窗口更新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DD23B-EEAC-4A56-82DC-F252D7BBC038}"/>
              </a:ext>
            </a:extLst>
          </p:cNvPr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3429000"/>
                <a:gridCol w="3333750"/>
                <a:gridCol w="4057650"/>
              </a:tblGrid>
              <a:tr h="5143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GPU 配置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时长与备注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AstraNav-Memory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 × H20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时长未报告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JanusVLN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 × H20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约31小时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笔记转引作者答复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1471F2ED-B048-4757-8142-512EA640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JanusVLN 配置据阅读笔记转引作者答复，本次未能加载评论正文</a:t>
            </a:r>
          </a:p>
        </p:txBody>
      </p:sp>
    </p:spTree>
    <p:extLst>
      <p:ext uri="{BB962C8B-B14F-4D97-AF65-F5344CB8AC3E}">
        <p14:creationId xmlns:p14="http://schemas.microsoft.com/office/powerpoint/2010/main" val="50223133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460842-3884-4C29-8304-3A24F178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探索与目标搜索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AA9858-DF8F-4EE2-B343-A2630C38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197D1851-AC8C-4AF3-9D02-C9389799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语义价值地图与视觉前沿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结合目标相关性、信息增益和距离选择探索位置，并确认目标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1FC4A-0590-43EC-8D9F-E62C43FDB2B3}"/>
              </a:ext>
            </a:extLst>
          </p:cNvPr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667000"/>
                <a:gridCol w="4191000"/>
                <a:gridCol w="3962400"/>
              </a:tblGrid>
              <a:tr h="5143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训练配置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统计口径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VLFM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无需新增导航专项训练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复用组件的预训练开销另计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OpenFrontier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无需新增导航专项训练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运行与推理仍需计算资源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55DCB2E7-4A8B-42F1-972C-57A254CD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源文档未将运行显卡配置计作训练算力</a:t>
            </a:r>
          </a:p>
        </p:txBody>
      </p:sp>
    </p:spTree>
    <p:extLst>
      <p:ext uri="{BB962C8B-B14F-4D97-AF65-F5344CB8AC3E}">
        <p14:creationId xmlns:p14="http://schemas.microsoft.com/office/powerpoint/2010/main" val="82585841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0F419B-4AE5-4BA5-91C4-C434FA59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导航策略训练与优化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628252D-A178-4FD0-A6E4-AA9B3D0C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B806E84A-783B-40E2-B58C-ECA14C28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目标分割辅助监督与自适应 BC／PPO 联合优化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基于候选动作质量的 SFT／GRPO 与差距感知奖励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FD92E-8B5F-48C0-95C8-12E6BAE58B63}"/>
              </a:ext>
            </a:extLst>
          </p:cNvPr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381250"/>
                <a:gridCol w="4000500"/>
                <a:gridCol w="4438650"/>
              </a:tblGrid>
              <a:tr h="5143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GPU 配置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训练规模与时长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OVSegDT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× A100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约2.15亿环境步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时长未报告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CompassNav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SFT：8 × A800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RFT：8 × H200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SFT：约12小时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RFT：约56.7小时（估算）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7DD8A187-0815-412C-92A9-AEE7C56F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CompassNav 的 RFT 时长按约170步、每步约20分钟换算</a:t>
            </a:r>
          </a:p>
        </p:txBody>
      </p:sp>
    </p:spTree>
    <p:extLst>
      <p:ext uri="{BB962C8B-B14F-4D97-AF65-F5344CB8AC3E}">
        <p14:creationId xmlns:p14="http://schemas.microsoft.com/office/powerpoint/2010/main" val="68773786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65B535-FB0C-493F-8F1E-D658E6BD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数据集与评测基准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030FD52-FEDB-4028-99EC-1A45BE1B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F84F9CDD-65D5-4C15-A99F-390F2A8C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场景语义标注、开放词汇与多模态目标构建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连续或顺序任务设计，以及评测协议和基线设计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FE3E6-94F7-4AEB-88A0-27B91A5B057B}"/>
              </a:ext>
            </a:extLst>
          </p:cNvPr>
          <p:cNvGraphicFramePr/>
          <p:nvPr/>
        </p:nvGraphicFramePr>
        <p:xfrm>
          <a:off xmlns:a="http://schemas.openxmlformats.org/drawingml/2006/main" x="685800" y="2266950"/>
          <a:ext xmlns:a="http://schemas.openxmlformats.org/drawingml/2006/main" cx="10820400" cy="36957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4095750"/>
                <a:gridCol w="6724650"/>
              </a:tblGrid>
              <a:tr h="4953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训练算力统计口径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8001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 Semantics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数据集本身不适用，导航基线另计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按各基线分别统计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GOAT-Bench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按各基线分别统计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SG3D / SG-LLM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SG-LLM 等基线分别统计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73411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44C877-481C-4111-B108-12012318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训练算力统计口径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89D53B-DAF3-4E31-8FC7-61DF641E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2AA35-D226-4480-8841-94DB82A45CEB}"/>
              </a:ext>
            </a:extLst>
          </p:cNvPr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43243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476500"/>
                <a:gridCol w="8343900"/>
              </a:tblGrid>
              <a:tr h="4953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统计项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口径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8001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配置来源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各篇阅读笔记记录的论文或作者报告配置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成本范围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基础模型与复用组件的预训练开销另计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免训练方法仍需推理资源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时间与卡时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GPU·小时 = GPU 数量 × 训练小时数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不同型号 GPU 的卡时分别保留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缺失与估算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未报告的数据保留“未报告”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CompassNav RFT 的约56.7小时属于换算估计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78B48EC-1762-4918-889C-BC4548D1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JanusVLN 的训练配置保留“阅读笔记转引作者答复”来源说明</a:t>
            </a:r>
          </a:p>
        </p:txBody>
      </p:sp>
    </p:spTree>
    <p:extLst>
      <p:ext uri="{BB962C8B-B14F-4D97-AF65-F5344CB8AC3E}">
        <p14:creationId xmlns:p14="http://schemas.microsoft.com/office/powerpoint/2010/main" val="1985172583"/>
      </p:ext>
    </p:extLst>
  </p:cSld>
</p:sld>
</file>

<file path=ppt/theme/theme1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2026-10-16T14:32:27.1590000Z</dcterms:created>
  <dcterms:modified xsi:type="dcterms:W3CDTF">2026-10-16T14:32:27.1590000Z</dcterms:modified>
</coreProperties>
</file>