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报告依照最新版一级分支分类，先按论文主要贡献划分五个方向，再按可复用的方法机制归并为八类。重点解释每类如何处理输入、维护状态并形成决策，再用代表论文展示具体实现。方法类别可组合，一篇论文的主归属不排除其采用其他类别的组件。指标范围仅限已收录的十四篇方法论文，数据集和基准单列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组织架构关注职责和接口，环境表征关注空间信息怎样组织，历史记忆关注过去信息怎样保留与读取，探索与目标搜索关注未知目标出现前怎样选择位置，训练与优化关注策略从什么学习信号改进。二级分类概括可复用机制，而具体模型与算法是类内差异。图表按主要贡献列出论文。二维和三维属于表征属性，任务数量与训练算力另外记录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比较范围为本方向六篇已收录方法论文。OmniNav采用完整慢系统与CoT配置，MTU3D为物体与前沿统一决策。D3D-VLP的SG3D结果使用给定真实计划的评测设置，不能据此推断完整任务规划性能。两类组织机制可以组合，不以任务数、传感器或算力决定归类。</a:t>
            </a:r>
          </a:p>
          <a:p/>
          <a:p>
            <a:r>
              <a:t>arch_omni_U：OmniNav；HM3D-OVON / Val-Unseen；SR 59.2%，SPL 33.2%。E:\科研_机器人\HM3D-OVON\HM3D_OVON_Papers\05_视觉语言动作决策与视频记忆\2026_ICLR_OmniNav.pdf，PDF第8页，Table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arch_mtu_goat_U：MTU3D；GOAT-Bench / Val-Unseen；SR 47.2%，SPL 27.7%。E:\科研_机器人\HM3D-OVON\HM3D_OVON_Papers\04_三维空间表征与目标推理\2025_ICCV_MTU3D_Move_to_Understand_a_3D_Scene.pdf，PDF第7页，Table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arch_omni_r2r：OmniNav；R2R-CE / Val-Unseen；SR 69.5%，SPL 66.1%。E:\科研_机器人\HM3D-OVON\HM3D_OVON_Papers\05_视觉语言动作决策与视频记忆\2026_ICLR_OmniNav.pdf，PDF第8页，Table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arch_omni_rxr：OmniNav；RxR-CE / Val-Unseen；SR 73.6%，SPL 62%。E:\科研_机器人\HM3D-OVON\HM3D_OVON_Papers\05_视觉语言动作决策与视频记忆\2026_ICLR_OmniNav.pdf，PDF第8页，Table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arch_d3d_sg3d：D3D-VLP；SG3D-Nav / 导航任务；SR 33.7%，SPL 21.6%。E:\科研_机器人\HM3D-OVON\HM3D_OVON_Papers\04_三维空间表征与目标推理\2026_CVPR_D3D-VLP.pdf，PDF第7页，Table 3。协议：给定GT计划；s-SR=33.7；t-SR=13.8。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这一类的共同点是决策层与执行层通过明确接口协作。TANGO 先把请求组织成可解释的程序，再由解释器调用具体模块；SuperNav 更强调每轮查看工具返回的视觉与诊断信息，继续调用工具；OmniNav 则让慢系统选择空间子目标，快系统持续更新局部航点。它们都可以处理多种任务，因此“分层”不能等同于“单任务”。优势是可以复用成熟执行器，定位错误也较方便；局限是模块间可能存在坐标、语义和状态不一致，高层看到的证据也可能滞后。这里概括的是组织方式，不能据此推断训练算力必然较小。</a:t>
            </a:r>
          </a:p>
          <a:p/>
          <a:p>
            <a:r>
              <a:t>资料来源：</a:t>
            </a:r>
          </a:p>
          <a:p>
            <a:r>
              <a:t>E:\科研_机器人\HM3D-OVON\HM3D_OVON_Papers\03_大模型规划与工具调用\read-Tango.md</a:t>
            </a:r>
          </a:p>
          <a:p>
            <a:r>
              <a:t>E:\科研_机器人\HM3D-OVON\HM3D_OVON_Papers\03_大模型规划与工具调用\read-SuperNav.md</a:t>
            </a:r>
          </a:p>
          <a:p>
            <a:r>
              <a:t>E:\科研_机器人\HM3D-OVON\HM3D_OVON_Papers\05_视觉语言动作决策与视频记忆\read-OmniNav.md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是分层与模块化协作的一种实现。第一步，读取导航目标、当前图像、带位姿的历史图像及地图前沿，形成任务与环境状态。完整慢系统另外依赖深度与里程计构图。第二步，慢系统在目标尚未出现时选择值得探索的前沿，目标已在当前或历史观测中出现时确定目标位置；以空间坐标作为Point-Goal接口传给快系统。第三步，快系统结合子目标、当前及近期视觉观测，由连续策略头生成未来5个航点，底层控制器负责实际移动。图中标作Diffusion Policy Head，正文实现采用Flow Matching。第四步，执行后更新图像、位姿、地图与探索状态，快系统滚动调整局部航点，到达子目标或需要重规划时重新进行高层选择。快慢系统共享VLM参数，分层指职责与决策尺度，不意味着两个完全独立训练的大模型。</a:t>
            </a:r>
          </a:p>
          <a:p>
            <a:r>
              <a:t/>
            </a:r>
          </a:p>
          <a:p>
            <a:r>
              <a:t>例如寻找洗碗机：先判断当前和历史是否看见目标，未见则选择厨房方向的探索前沿，快系统生成局部航点；获得洗碗机的新观察后，将子目标更新为目标位置并继续接近。</a:t>
            </a:r>
          </a:p>
          <a:p>
            <a:r>
              <a:t/>
            </a:r>
          </a:p>
          <a:p>
            <a:r>
              <a:t>来源：05_视觉语言动作决策与视频记忆/read-OmniNav.md；OmniNav §3，Fig.1，式(1)–(4)。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这一类统一的对象并不相同。D3D-VLP 让规划、三维定位与导航处于同一自回归序列，并共享环境和进度记忆；Uni-NaVid 让视觉语言导航、物体导航、具身问答和人物跟随共用视频语言接口，通过标记切换动作或文字；MTU3D 则把已观察对象与待探索前沿一起打分，从而决定现在接近目标，还是继续找目标。这里的“统一”描述学习与决策接口，不能泛化为从传感器到电机的完全端到端系统。三者仍保留不同程度的执行模块。多任务训练和分层协作可以同时存在，一级归属依据论文最突出的主要贡献，而不是排除其他属性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E:\科研_机器人\HM3D-OVON\HM3D_OVON_Papers\04_三维空间表征与目标推理\read-MTU.md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D3D-VLP 的“统一”发生在决策链内部：模型不能只写一个与执行脱节的静态计划，还要结合三维证据定位目标并决定下一航点。执行以后，历史计划、已定位目标和经过的轨迹被重新放回上下文，因此后续决策可以感知任务进度。三维记忆与 CoT 记忆作用不同，前者描述环境，后者描述决策和进展。SLFS 使只有导航标注或只有定位标注的样本也能参与共享模型训练，但并不等于缺失的中间步骤都有真实标签。该方法仍需要候选航点与底层控制，三维建图或定位发生错误时，统一生成本身不能自动保证安全与正确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D3D-VLP §3.1–3.3，Figs.2–3</a:t>
            </a:r>
          </a:p>
          <a:p>
            <a:r>
              <a:t/>
            </a:r>
          </a:p>
          <a:p>
            <a:r>
              <a:t>对应第6页方法框架：</a:t>
            </a:r>
          </a:p>
          <a:p>
            <a:r>
              <a:t>1. 形成统一输入：RGB-D与位姿更新多层次三维记忆，指令、空间tokens及历史决策共同输入。</a:t>
            </a:r>
          </a:p>
          <a:p>
            <a:r>
              <a:t>2. 共享语义与空间理解：3D-VLM将任务意图与环境证据对齐，在同一上下文理解目标和可行动位置。</a:t>
            </a:r>
          </a:p>
          <a:p>
            <a:r>
              <a:t>3. 产生能力相关输出：依次生成后续计划、三维目标与航点，需要时再输出任务回答。</a:t>
            </a:r>
          </a:p>
          <a:p>
            <a:r>
              <a:t>4. 联合训练并更新决策：部分标注样本仅对已有监督项计损失。执行后将轨迹与进度写回决策记忆。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比较用于解释分类口径。分层协作关注系统内部如何分工，统一建模关注不同能力如何共享表示和训练，两者不是严格互斥的系统属性。把每篇文章放在一个主要分支，是为了讲清它最突出的研究贡献，并不意味着其他方法特征不存在。因此，OmniNav 虽然有统一多任务骨干，仍以快慢协作为这里的主线；MTU3D 虽然有独立规划器，仍以对象定位和探索统一为主线。二维与三维属于表征形式，算力属于资源条件，均应在相应页面单独注明，不能替代方法分类。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arch_omni_S: OmniNav，HM3D-OVON / Val-Seen，SR=56.1%，SPL=30%。来源：E:\科研_机器人\HM3D-OVON\HM3D_OVON_Papers\05_视觉语言动作决策与视频记忆\2026_ICLR_OmniNav.pdf，PDF第8页，Table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arch_omni_Y: OmniNav，HM3D-OVON / Val-Seen-Synonyms，SR=68.6%，SPL=38.8%。来源：E:\科研_机器人\HM3D-OVON\HM3D_OVON_Papers\05_视觉语言动作决策与视频记忆\2026_ICLR_OmniNav.pdf，PDF第8页，Table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arch_omni_U: OmniNav，HM3D-OVON / Val-Unseen，SR=59.2%，SPL=33.2%。来源：E:\科研_机器人\HM3D-OVON\HM3D_OVON_Papers\05_视觉语言动作决策与视频记忆\2026_ICLR_OmniNav.pdf，PDF第8页，Table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arch_mtu_goat_S: MTU3D，GOAT-Bench / Val-Seen，SR=52.2%，SPL=30.5%。来源：E:\科研_机器人\HM3D-OVON\HM3D_OVON_Papers\04_三维空间表征与目标推理\2025_ICCV_MTU3D_Move_to_Understand_a_3D_Scene.pdf，PDF第7页，Table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arch_mtu_goat_Y: MTU3D，GOAT-Bench / Val-Seen-Synonyms，SR=48.4%，SPL=30.3%。来源：E:\科研_机器人\HM3D-OVON\HM3D_OVON_Papers\04_三维空间表征与目标推理\2025_ICCV_MTU3D_Move_to_Understand_a_3D_Scene.pdf，PDF第7页，Table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arch_mtu_goat_U: MTU3D，GOAT-Bench / Val-Unseen，SR=47.2%，SPL=27.7%。来源：E:\科研_机器人\HM3D-OVON\HM3D_OVON_Papers\04_三维空间表征与目标推理\2025_ICCV_MTU3D_Move_to_Understand_a_3D_Scene.pdf，PDF第7页，Table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arch_uni_obj: Uni-NaVid，HM3D ObjectNav / Val，SR=73.7%，SPL=37.1%。来源：E:\科研_机器人\HM3D-OVON\HM3D_OVON_Papers\05_视觉语言动作决策与视频记忆\2025_RSS_Uni-NaVid.pdf，PDF第8页，Table IV。协议：原论文验证集；单RGB；与SuperNav重评协议分列。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/>
          <a:p>
            <a:r>
              <a:t>新增性能数据说明：OmniNav是三视角快系统。D3D-VLP的SG3D给定真实计划文本，表中SR分子任务和整任务，SPL取原导航统计。Uni-NaVid人物跟随无SPL。非导航评测包括：TANGO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arch_omni_r2r: OmniNav，R2R-CE / Val-Unseen，SR=69.5%，SPL=66.1%。来源：E:\科研_机器人\HM3D-OVON\HM3D_OVON_Papers\05_视觉语言动作决策与视频记忆\2026_ICLR_OmniNav.pdf，PDF第8页，Table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arch_omni_rxr: OmniNav，RxR-CE / Val-Unseen，SR=73.6%，SPL=62%。来源：E:\科研_机器人\HM3D-OVON\HM3D_OVON_Papers\05_视觉语言动作决策与视频记忆\2026_ICLR_OmniNav.pdf，PDF第8页，Table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arch_d3d_reverie: D3D-VLP，REVERIE-CE / 论文验证设置，SR=47.5%，SPL=34.7%。来源：E:\科研_机器人\HM3D-OVON\HM3D_OVON_Papers\04_三维空间表征与目标推理\2026_CVPR_D3D-VLP.pdf，PDF第7页，Table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arch_d3d_navrag: D3D-VLP，NavRAG-CE / 论文验证设置，SR=31.1%，SPL=23.9%。来源：E:\科研_机器人\HM3D-OVON\HM3D_OVON_Papers\04_三维空间表征与目标推理\2026_CVPR_D3D-VLP.pdf，PDF第7页，Table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arch_d3d_sg3d: D3D-VLP，SG3D-Nav / 导航任务，SR=33.7%，SPL=21.6%。来源：E:\科研_机器人\HM3D-OVON\HM3D_OVON_Papers\04_三维空间表征与目标推理\2026_CVPR_D3D-VLP.pdf，PDF第7页，Table 3。协议：给定GT计划；s-SR=33.7；t-SR=13.8。</a:t>
            </a:r>
          </a:p>
          <a:p>
            <a:r>
              <a:t>arch_uni_follow: Uni-NaVid，自建人物跟随 / 默认验证配置，SR=61.21%，SPL=未报告%。来源：E:\科研_机器人\HM3D-OVON\HM3D_OVON_Papers\05_视觉语言动作决策与视频记忆\2025_RSS_Uni-NaVid.pdf，PDF第9页，Table VII。协议：无SPL；FR=71.93%，CR=2.07%。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super_ovon025: SuperNav，HM3D-OVON / Val-Unseen 120子集，0.25 m，SR=68.33%，SPL=38.37%。来源：E:\科研_机器人\HM3D-OVON\HM3D_OVON_Papers\03_大模型规划与工具调用\SuperNav.pdf，PDF第8页，Table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super_ovon1: SuperNav，HM3D-OVON / Val-Unseen 120子集，1 m，SR=73.33%，SPL=41.05%。来源：E:\科研_机器人\HM3D-OVON\HM3D_OVON_Papers\03_大模型规划与工具调用\SuperNav.pdf，PDF第8页，Table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super_astra025: SuperNav，HM3D-OVON / 120子集，0.25 m；模型替换，SR=71.67%，SPL=45.79%。来源：E:\科研_机器人\HM3D-OVON\HM3D_OVON_Papers\03_大模型规划与工具调用\SuperNav.pdf，PDF第8页，Table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super_astra1: SuperNav，HM3D-OVON / 120子集，1 m；模型替换，SR=79.17%，SPL=49.74%。来源：E:\科研_机器人\HM3D-OVON\HM3D_OVON_Papers\03_大模型规划与工具调用\SuperNav.pdf，PDF第8页，Table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super_hm302: SuperNav，HM3Dv2 ObjectNav / 1000 episodes，0.2 m，SR=80.3%，SPL=33.38%。来源：E:\科研_机器人\HM3D-OVON\HM3D_OVON_Papers\03_大模型规划与工具调用\SuperNav.pdf，PDF第8页，Table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super_hm31: SuperNav，HM3Dv2 ObjectNav / 1000 episodes，1 m，SR=86.5%，SPL=36.38%。来源：E:\科研_机器人\HM3D-OVON\HM3D_OVON_Papers\03_大模型规划与工具调用\SuperNav.pdf，PDF第8页，Table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super_single: SuperNav，Habitat-GS / InteriorGS / 单目标，150 tasks，SR=78%，SPL=41.27%。来源：E:\科研_机器人\HM3D-OVON\HM3D_OVON_Papers\03_大模型规划与工具调用\SuperNav.pdf，PDF第6页，Table 1。协议：Geo执行器；距合格目标视点&lt;1 m，需STOP。原SPL乘100转换为百分制</a:t>
            </a:r>
          </a:p>
          <a:p>
            <a:r>
              <a:t>super_multi: SuperNav，Habitat-GS / InteriorGS / 顺序多目标，150 tasks，SR=34%，SPL=13.88%。来源：E:\科研_机器人\HM3D-OVON\HM3D_OVON_Papers\03_大模型规划与工具调用\SuperNav.pdf，PDF第6页，Table 1。协议：Geo执行器；2–5目标全部成功，需STOP。原SPL乘100转换为百分制</a:t>
            </a:r>
          </a:p>
          <a:p>
            <a:r>
              <a:t>super_demand: SuperNav，Demand-Bench / AI2-THOR / 需求驱动，200 tasks，SR=59.5%，SPL=18.01%。来源：E:\科研_机器人\HM3D-OVON\HM3D_OVON_Papers\03_大模型规划与工具调用\SuperNav.pdf，PDF第6页，Table 1。协议：改编协议；进入顺序2 m包围盒区域，需STOP。原SPL乘100转换为百分制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GOAT每划分30 episodes，MSGNav为360 episodes与2669子任务。较高SR与SPL来自不同报告，必须保留各自完整结果对。SoftNav三维特征输入与二维坐标输出属于不同处理阶段。显式对象身份和连续向量可以同时存在。</a:t>
            </a:r>
          </a:p>
          <a:p/>
          <a:p>
            <a:r>
              <a:t>env_soft_ovon_U：SoftNav；HM3D-OVON / Val-Unseen；SR 66.7%，SPL 25.7%。E:\科研_机器人\HM3D-OVON\HM3D_OVON_Papers\04_三维空间表征与目标推理\2607.14586v1.pdf，PDF第5页，Table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env_soft_goat_U：SoftNav；GOAT-Bench / Val-Unseen；SR 64.2%，SPL 24.7%。E:\科研_机器人\HM3D-OVON\HM3D_OVON_Papers\04_三维空间表征与目标推理\2607.14586v1.pdf，PDF第5页，Table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env_msg_goat：MSGNav；GOAT-Bench / Val-Unseen；SR 52%，SPL 29.6%。E:\科研_机器人\HM3D-OVON\HM3D_OVON_Papers\04_三维空间表征与目标推理\2026_CVPR_MSGNav.pdf，PDF第7页，Table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env_msg_hm3d：MSGNav；HM3D-ObjNav / Val，6类别；SR 74.1%，SPL 33.4%。E:\科研_机器人\HM3D-OVON\HM3D_OVON_Papers\04_三维空间表征与目标推理\2026_CVPR_MSGNav.pdf，PDF第7页，Table 2。协议：1000 episodes；1 m；RGB-D+位姿。</a:t>
            </a:r>
          </a:p>
          <a:p>
            <a:r>
              <a:t>env_soft_sg3d：SoftNav；SG3D / 338 episodes / 1351子任务；SR 47.2%，SPL 14.7%。E:\科研_机器人\HM3D-OVON\HM3D_OVON_Papers\04_三维空间表征与目标推理\2607.14586v1.pdf，PDF第5页，Table IV。协议：s-SR=47.2；t-SR=16.6。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按信息怎样保存和读取分类，而不是按相机输入或算力分类。显式表示给空间单元或物体建立可查询的记录：格子可以存占据状态和语义价值，物体节点可以存坐标、类别与图像证据。多帧观测需要先对齐并合并，随后根据当前目标读取有关区域。它适合跨任务复用与解释失败原因，但感知漏检、位姿偏差和错误匹配也会进入后续决策。二维和三维是这一范式的不同空间实现；RGB 图像输入并不能据此判定方法属于二维。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E:\科研_机器人\HM3D-OVON\HM3D_OVON_Papers\04_三维空间表征与目标推理\read-MSGNav.md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MSGNav 的关键不是简单给物体画一张关系图，而是用三维物体对组织共同观测图像。建边时不需要反复调用大模型生成关系文字，关系的视觉细节仍留在图像中。查询时，先把图压成简要邻接信息，再让模型聚焦目标相关物体，最后选取少量能覆盖相关关系的图像。模型依据这些证据选择目标或下一探索位置。找到物体之后，系统还要选择看得清目标的站位，避免只走到一个距离近、却被遮挡的位置。建图质量仍然决定后续查询的上限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E:\科研_机器人\HM3D-OVON\HM3D_OVON_Papers\04_三维空间表征与目标推理\read-MSGNav.md</a:t>
            </a:r>
          </a:p>
          <a:p>
            <a:r>
              <a:t>MSGNav §3.2–3.3，Fig.3，Algorithm 1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>
            <a:r>
              <a:t/>
            </a:r>
          </a:p>
          <a:p>
            <a:r>
              <a:t>对应第13页方法框架：</a:t>
            </a:r>
          </a:p>
          <a:p>
            <a:r>
              <a:t>1. 建立空间记录：RGB-D与位姿生成三维物体节点，将近邻物体的共同观测图像关联到边。</a:t>
            </a:r>
          </a:p>
          <a:p>
            <a:r>
              <a:t>2. 合并重复观测：按空间与视觉匹配维护全局物体ID，融合点云、类别与图像，AVU补充词表。</a:t>
            </a:r>
          </a:p>
          <a:p>
            <a:r>
              <a:t>3. 按当前目标读取：KSS筛选相关子图及覆盖关系的图像。VLM结合前沿与历史决策判断下一步。</a:t>
            </a:r>
          </a:p>
          <a:p>
            <a:r>
              <a:t>4. 转换为导航子目标：未找到目标则前往选定探索前沿。找到后，VVD选择看得清目标的视点。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这一类改变的是空间信息进入决策模型的形式。纯文字描述往往只保留物体类别、坐标等少量属性，连续特征则能携带外观、几何及周围上下文。不同论文可以沿用这一共性，却采用不同接口：MTU3D 给对象和前沿统一评分，SoftNav 将三维向量投影成语言模型可读取的 tokens，D3D-VLP 使用多层三维 tokens 联合定位与导航。不要把它与显式地图机械对立：对象仍可以有明确坐标和身份，只是额外携带学习到的向量。代价是特征较难解释，也依赖预训练与数据覆盖。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E:\科研_机器人\HM3D-OVON\HM3D_OVON_Papers\04_三维空间表征与目标推理\read-MTU.md</a:t>
            </a:r>
          </a:p>
          <a:p>
            <a:r>
              <a:t>E:\科研_机器人\HM3D-OVON\HM3D_OVON_Papers\04_三维空间表征与目标推理\read-D3D.md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SoftNav §III，Fig.2上半部分，Table V</a:t>
            </a:r>
          </a:p>
          <a:p>
            <a:r>
              <a:t/>
            </a:r>
          </a:p>
          <a:p>
            <a:r>
              <a:t>对应第15页方法框架：</a:t>
            </a:r>
          </a:p>
          <a:p>
            <a:r>
              <a:t>1. 编码空间实体：PQ3D为物体和前沿生成768维向量。视觉分支将近期图像压为每帧15 tokens。</a:t>
            </a:r>
          </a:p>
          <a:p>
            <a:r>
              <a:t>2. 对齐目标与特征：MLP将768维空间向量投影到2048维，形成可与任务文本共同处理的soft tokens。</a:t>
            </a:r>
          </a:p>
          <a:p>
            <a:r>
              <a:t>3. 联合评分或生成：空间tokens、近期图像与指令共同输入，VLM生成下一探索坐标，下页展开决策。</a:t>
            </a:r>
          </a:p>
          <a:p>
            <a:r>
              <a:t>4. 更新环境特征：移动后更新物体库、占据地图与前沿，视觉记忆滚动保留最近16帧。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>
            <a:r>
              <a:t>本页延续上一页的特征编码，展示三类输入的联合注意力与最终前沿执行。模型输入包含视觉历史、三维实体soft tokens和任务文本；生成的坐标需要通过几何约束转成合法前沿。图中二维执行平面与三维感知信息处在不同处理阶段。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SoftNav §III，Fig.2下半部分，Algorithm 1</a:t>
            </a:r>
          </a:p>
          <a:p>
            <a:r>
              <a:t/>
            </a:r>
          </a:p>
          <a:p>
            <a:r>
              <a:t>对应第15页方法框架：</a:t>
            </a:r>
          </a:p>
          <a:p>
            <a:r>
              <a:t>1. 编码空间实体：沿用上页的物体、前沿与视觉历史，保留几何和语义信息供本轮决策读取。</a:t>
            </a:r>
          </a:p>
          <a:p>
            <a:r>
              <a:t>2. 对齐目标与特征：将投影后的空间tokens与图像、指令放入同一序列，通过注意力融合。</a:t>
            </a:r>
          </a:p>
          <a:p>
            <a:r>
              <a:t>3. 联合评分或生成：生成二维坐标，吸附至合格前沿，再交由局部导航器执行移动。</a:t>
            </a:r>
          </a:p>
          <a:p>
            <a:r>
              <a:t>4. 更新环境特征：新观测刷新物体库、前沿与近期历史。当前沿为空时，触发恢复探索流程。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/>
          <a:p>
            <a:r>
              <a:t>新增性能数据说明：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env_soft_ovon_S: SoftNav，HM3D-OVON / Val-Seen，SR=74.2%，SPL=33.9%。来源：E:\科研_机器人\HM3D-OVON\HM3D_OVON_Papers\04_三维空间表征与目标推理\2607.14586v1.pdf，PDF第5页，Table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env_soft_ovon_Y: SoftNav，HM3D-OVON / Val-Seen-Synonyms，SR=68.3%，SPL=28.6%。来源：E:\科研_机器人\HM3D-OVON\HM3D_OVON_Papers\04_三维空间表征与目标推理\2607.14586v1.pdf，PDF第5页，Table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env_soft_ovon_U: SoftNav，HM3D-OVON / Val-Unseen，SR=66.7%，SPL=25.7%。来源：E:\科研_机器人\HM3D-OVON\HM3D_OVON_Papers\04_三维空间表征与目标推理\2607.14586v1.pdf，PDF第5页，Table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env_msg_hm3d: MSGNav，HM3D-ObjNav / Val，6类别，SR=74.1%，SPL=33.4%。来源：E:\科研_机器人\HM3D-OVON\HM3D_OVON_Papers\04_三维空间表征与目标推理\2026_CVPR_MSGNav.pdf，PDF第7页，Table 2。协议：1000 episodes；1 m；RGB-D+位姿。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env_soft_goat_S: SoftNav，GOAT-Bench / Val-Seen，SR=67.2%，SPL=29%。来源：E:\科研_机器人\HM3D-OVON\HM3D_OVON_Papers\04_三维空间表征与目标推理\2607.14586v1.pdf，PDF第5页，Table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env_soft_goat_Y: SoftNav，GOAT-Bench / Val-Seen-Synonyms，SR=63.2%，SPL=25.8%。来源：E:\科研_机器人\HM3D-OVON\HM3D_OVON_Papers\04_三维空间表征与目标推理\2607.14586v1.pdf，PDF第5页，Table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env_soft_goat_U: SoftNav，GOAT-Bench / Val-Unseen，SR=64.2%，SPL=24.7%。来源：E:\科研_机器人\HM3D-OVON\HM3D_OVON_Papers\04_三维空间表征与目标推理\2607.14586v1.pdf，PDF第5页，Table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env_msg_goat: MSGNav，GOAT-Bench / Val-Unseen，SR=52%，SPL=29.6%。来源：E:\科研_机器人\HM3D-OVON\HM3D_OVON_Papers\04_三维空间表征与目标推理\2026_CVPR_MSGNav.pdf，PDF第7页，Table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env_soft_sg3d: SoftNav，SG3D / 338 episodes / 1351子任务，SR=47.2%，SPL=14.7%。来源：E:\科研_机器人\HM3D-OVON\HM3D_OVON_Papers\04_三维空间表征与目标推理\2607.14586v1.pdf，PDF第5页，Table IV。协议：s-SR=47.2；t-SR=16.6。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类方法关注历史如何进入当前决策。AstraNav图像和位姿历史不等于跨步持续语言模型KV。JanusVLN公开评测中VGGT几何缓存跨步复用，语义分支重放采样历史。Janus附录OVON结果44.9/31.7仅作补充，披露细节不足以和AstraNav严格排名。</a:t>
            </a:r>
          </a:p>
          <a:p/>
          <a:p>
            <a:r>
              <a:t>mem_astra_ovon_U：AstraNav-Memory；HM3D-OVON / Val-Unseen；SR 62.5%，SPL 34.9%。E:\科研_机器人\HM3D-OVON\HM3D_OVON_Papers\05_视觉语言动作决策与视频记忆\2026_CVPR_AstraNav-Memory.pdf，PDF第6页，Table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mem_astra_goat_U：AstraNav-Memory；GOAT-Bench / Val-Unseen；SR 62.7%，SPL 56.9%。E:\科研_机器人\HM3D-OVON\HM3D_OVON_Papers\05_视觉语言动作决策与视频记忆\2026_CVPR_AstraNav-Memory.pdf，PDF第6页，Table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mem_janus_r2r：JanusVLN；R2R-CE / Val-Unseen；SR 60.5%，SPL 56.8%。E:\科研_机器人\HM3D-OVON\HM3D_OVON_Papers\05_视觉语言动作决策与视频记忆\ICLR-2026-janusvln-decoupling-semantics-and-spatiality-with-dual-implicit-memory-for-vision-language-navigation-Paper-Conference.pdf，PDF第8页，Table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mem_janus_rxr：JanusVLN；RxR-CE / Val-Unseen；SR 56.2%，SPL 47.5%。E:\科研_机器人\HM3D-OVON\HM3D_OVON_Papers\05_视觉语言动作决策与视频记忆\ICLR-2026-janusvln-decoupling-semantics-and-spatiality-with-dual-implicit-memory-for-vision-language-navigation-Paper-Conference.pdf，PDF第8页，Table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这一类把过去的观察保存为可再次读取的上下文。重放不一定重新运行视觉编码器，缓存好的视觉特征也可以直接复用；关键是决策模型在本次输入中再次看到历史表示。减少每帧 tokens、分层压缩或限制窗口，都是控制输入长度的办法。它适合连续任务，因为后续目标可能已经出现过。不过，更长历史不必然更好：无关信息会增加注意力成本，强压缩也可能删掉细节。还要区分视觉特征缓存和语言模型 KV，前者被复用，并不能证明后者也在跨导航步延续。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E:\科研_机器人\HM3D-OVON\HM3D_OVON_Papers\05_视觉语言动作决策与视频记忆\read-AstraNav.md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E:\科研_机器人\HM3D-OVON\HM3D_OVON_Papers\04_三维空间表征与目标推理\read-SoftNav.md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AstraNav 将长期记忆理解为压缩后的图像与位姿上下文，而不是维护物体关系图。压缩器与导航模型联合训练，希望留下对位置判断和目标搜索有用的信息。主配置从每帧 598 个视觉 tokens 减为 30 个，约缩减二十倍；正文中的十六倍则指压缩块的空间压缩，二者口径不同。历史信息允许后续任务复用已经看过的位置，但实验也表明，强压缩配合更长历史未必更好。因此应把该方向理解为信息保留与处理成本的折中，而不是简单扩大记忆容量。</a:t>
            </a:r>
          </a:p>
          <a:p>
            <a:r>
              <a:t>资料来源：</a:t>
            </a:r>
          </a:p>
          <a:p>
            <a:r>
              <a:t>E:\科研_机器人\HM3D-OVON\HM3D_OVON_Papers\05_视觉语言动作决策与视频记忆\read-AstraNav.md</a:t>
            </a:r>
          </a:p>
          <a:p>
            <a:r>
              <a:t>AstraNav-Memory §3，Fig.2，Tables 3–4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>
            <a:r>
              <a:t/>
            </a:r>
          </a:p>
          <a:p>
            <a:r>
              <a:t>对应第21页方法框架：</a:t>
            </a:r>
          </a:p>
          <a:p>
            <a:r>
              <a:t>1. 保存观察与位置：按时间保留RGB图像及相机位姿，将每个位姿与对应图像成对组织。</a:t>
            </a:r>
          </a:p>
          <a:p>
            <a:r>
              <a:t>2. 控制历史信息量：DINOv3与可训练压缩器提取视觉信息，主配置每帧由598个tokens压为30个。</a:t>
            </a:r>
          </a:p>
          <a:p>
            <a:r>
              <a:t>3. 重放选取的历史：将压缩图像、位姿文本及当前指令重新送入VLM，生成目标或前沿坐标。</a:t>
            </a:r>
          </a:p>
          <a:p>
            <a:r>
              <a:t>4. 利用过去出现的目标：连续子任务保留环境状态与视觉经历。后续目标已出现时，利用历史推断位置。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与把历史作为当前上下文重新提供相比，这一类强调跨步保留并增量更新内部状态。以几何注意力为例，新帧只计算自己的查询和键值，再读取历史缓存，形成融合历史的当前特征。窗口控制了可以访问的过去，也带来了遗忘：最初锚点和最近观察被保留，中间经历可能移出。它的收益主要在减少重复编码和改善时间关联，不意味着永久保存所有空间事实。递归在这里描述状态持续更新的机制，也包括 Transformer 的缓存更新，不必限定为传统循环神经网络。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E:\科研_机器人\HM3D-OVON\HM3D_OVON_Papers\05_视觉语言动作决策与视频记忆\read-JANUSVLN.md</a:t>
            </a:r>
          </a:p>
          <a:p>
            <a:r>
              <a:t>JanusVLN §3.2，Fig.2，Appendix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 展示了从纯 RGB 输入使用三维几何先验的路线。VGGT 原本需要跨帧联合处理，论文将其改为读取历史键值的流式几何编码器，保留起始锚点与最近窗口。几何特征经投影后与 Qwen 语义特征相加，语言模型生成离散动作。需要区分论文的双隐式记忆表述和公开评测路径：代码跨步保留的是 VGGT 缓存，语义侧每次重放采样历史图像，并未显式把上一导航步的语言模型 KV 传入下一步。消融支持几何记忆有益，但不能据此声称两路均永久保存完整历史。</a:t>
            </a:r>
          </a:p>
          <a:p>
            <a:r>
              <a:t>资料来源：</a:t>
            </a:r>
          </a:p>
          <a:p>
            <a:r>
              <a:t>E:\科研_机器人\HM3D-OVON\HM3D_OVON_Papers\05_视觉语言动作决策与视频记忆\read-JANUSVLN.md</a:t>
            </a:r>
          </a:p>
          <a:p>
            <a:r>
              <a:t>JanusVLN §3.2–3.3，Fig.2；笔记核对公开评测实现</a:t>
            </a:r>
          </a:p>
          <a:p>
            <a:r>
              <a:t/>
            </a:r>
          </a:p>
          <a:p>
            <a:r>
              <a:t>对应第23页方法框架：</a:t>
            </a:r>
          </a:p>
          <a:p>
            <a:r>
              <a:t>1. 读取历史状态：当前RGB在VGGT中生成Query，读取历史及当前帧的Key与Value。</a:t>
            </a:r>
          </a:p>
          <a:p>
            <a:r>
              <a:t>2. 写入当前观察：为新帧计算几何表示并更新缓存，下一导航步继续读取已有几何信息。</a:t>
            </a:r>
          </a:p>
          <a:p>
            <a:r>
              <a:t>3. 维护有限容量：几何KV保留初始8帧与近期48帧，移除超出窗口的中间历史。</a:t>
            </a:r>
          </a:p>
          <a:p>
            <a:r>
              <a:t>4. 融合当前决策：几何特征投影后与语义特征加权相加，连同指令生成前进、转向或停止动作。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JanusVLN附录Table 6的OVON SR/SPL=44.9/31.7，仅作补充。AstraNav全部六个划分结果已列出，Janus只有OVON Val-Unseen、R2R/RxR Val-Unseen报告，不能补填未报告划分。</a:t>
            </a:r>
          </a:p>
          <a:p/>
          <a:p>
            <a:r>
              <a:t>新增性能数据说明：JanusVLN附录Table 6的OVON SR/SPL=44.9/31.7，仅作补充。AstraNav全部六个划分结果已列出，Janus只有OVON Val-Unseen、R2R/RxR Val-Unseen报告，不能补填未报告划分。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mem_astra_ovon_S: AstraNav-Memory，HM3D-OVON / Val-Seen，SR=65.6%，SPL=35.4%。来源：E:\科研_机器人\HM3D-OVON\HM3D_OVON_Papers\05_视觉语言动作决策与视频记忆\2026_CVPR_AstraNav-Memory.pdf，PDF第6页，Table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mem_astra_ovon_Y: AstraNav-Memory，HM3D-OVON / Val-Seen-Synonyms，SR=57.5%，SPL=33%。来源：E:\科研_机器人\HM3D-OVON\HM3D_OVON_Papers\05_视觉语言动作决策与视频记忆\2026_CVPR_AstraNav-Memory.pdf，PDF第6页，Table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mem_astra_ovon_U: AstraNav-Memory，HM3D-OVON / Val-Unseen，SR=62.5%，SPL=34.9%。来源：E:\科研_机器人\HM3D-OVON\HM3D_OVON_Papers\05_视觉语言动作决策与视频记忆\2026_CVPR_AstraNav-Memory.pdf，PDF第6页，Table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mem_astra_goat_S: AstraNav-Memory，GOAT-Bench / Val-Seen，SR=65.5%，SPL=49%。来源：E:\科研_机器人\HM3D-OVON\HM3D_OVON_Papers\05_视觉语言动作决策与视频记忆\2026_CVPR_AstraNav-Memory.pdf，PDF第6页，Table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mem_astra_goat_Y: AstraNav-Memory，GOAT-Bench / Val-Seen-Synonyms，SR=66.8%，SPL=54.7%。来源：E:\科研_机器人\HM3D-OVON\HM3D_OVON_Papers\05_视觉语言动作决策与视频记忆\2026_CVPR_AstraNav-Memory.pdf，PDF第6页，Table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mem_astra_goat_U: AstraNav-Memory，GOAT-Bench / Val-Unseen，SR=62.7%，SPL=56.9%。来源：E:\科研_机器人\HM3D-OVON\HM3D_OVON_Papers\05_视觉语言动作决策与视频记忆\2026_CVPR_AstraNav-Memory.pdf，PDF第6页，Table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mem_janus_r2r: JanusVLN，R2R-CE / Val-Unseen，SR=60.5%，SPL=56.8%。来源：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mem_janus_rxr: JanusVLN，RxR-CE / Val-Unseen，SR=56.2%，SPL=47.5%。来源：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mem_janus_ovon: JanusVLN，HM3D-OVON / Val-Unseen，SR=44.9%，SPL=31.7%。来源：E:\科研_机器人\HM3D-OVON\HM3D_OVON_Papers\05_视觉语言动作决策与视频记忆\ICLR-2026-janusvln-decoupling-semantics-and-spatiality-with-dual-implicit-memory-for-vision-language-navigation-Paper-Conference.pdf，PDF第19页，Table 6。协议：未完整披露该项评测细节，作附录补充报告。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VLFM与OpenFrontier是同一类语义引导前沿搜索的不同实现。OpenFrontier论文同表列出VLFM，在HM3D、MP3D与OVON Unseen的SR/SPL更高；其余划分不能外推。前沿相关性不是真实目标存在概率的保证，执行后还需要目标确认。</a:t>
            </a:r>
          </a:p>
          <a:p/>
          <a:p>
            <a:r>
              <a:t>exp_vlfm_gibson：VLFM；Gibson / Val；SR 84%，SPL 52.2%。E:\科研_机器人\HM3D-OVON\HM3D_OVON_Papers\02_语义地图与前沿探索\VLFM_Vision-Language_Frontier_Maps_for_Zero-Shot_Semantic_Navigation.pdf，PDF第5页，Table I。协议：VLFM原论文验证设置。</a:t>
            </a:r>
          </a:p>
          <a:p>
            <a:r>
              <a:t>exp_open_hm3d：OpenFrontier；HM3D ObjectNav / Val；SR 77.3%，SPL 35.6%。E:\科研_机器人\HM3D-OVON\HM3D_OVON_Papers\02_语义地图与前沿探索\2026_RSS_OpenFrontier.pdf，PDF第5页，Table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exp_open_mp3d：OpenFrontier；MP3D ObjectNav / Val；SR 40.7%，SPL 17.8%。E:\科研_机器人\HM3D-OVON\HM3D_OVON_Papers\02_语义地图与前沿探索\2026_RSS_OpenFrontier.pdf，PDF第5页，Table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exp_vlfm_ovon_S：VLFM；HM3D-OVON / Val-Seen；SR 35.2%，SPL 18.6%。E:\科研_机器人\HM3D-OVON\HM3D_OVON_Papers\00_数据集与任务基准\2024_IROS_HM3D_OVON.pdf，PDF第6页，HM3D-OVON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exp_vlfm_ovon_Y：VLFM；HM3D-OVON / Val-Seen-Synonyms；SR 32.4%，SPL 17.3%。E:\科研_机器人\HM3D-OVON\HM3D_OVON_Papers\00_数据集与任务基准\2024_IROS_HM3D_OVON.pdf，PDF第6页，HM3D-OVON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exp_open_ovon：OpenFrontier；HM3D-OVON / Val-Unseen；SR 39%，SPL 20.1%。E:\科研_机器人\HM3D-OVON\HM3D_OVON_Papers\02_语义地图与前沿探索\2026_RSS_OpenFrontier.pdf，PDF第5页，Table I。协议：Gemini-2.5-Flash；同一套系统参数。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语义前沿搜索把连续导航拆成候选位置选择与局部执行。寻找微波炉时，模型可以优先评价厨房相关前沿；这只是依据场景先验调整搜索顺序，并不能证明目标存在。VLFM把相关性投到二维价值地图并跨视角融合，OpenFrontier则直接评价图像标记的视觉前沿，再将其定位到三维并管理。两者都需要可达性、局部导航和最终目标确认，类内差异不必分别提升为一级方法。无需新增导航训练指复用已有组件，不代表组件没有预训练成本。</a:t>
            </a:r>
          </a:p>
          <a:p/>
          <a:p>
            <a:r>
              <a:t>资料来源：</a:t>
            </a:r>
          </a:p>
          <a:p>
            <a:r>
              <a:t>E:\科研_机器人\HM3D-OVON\HM3D_OVON_Papers\方法分类索引.md</a:t>
            </a:r>
          </a:p>
          <a:p>
            <a:r>
              <a:t>E:\科研_机器人\HM3D-OVON\HM3D_OVON_Papers\02_语义地图与前沿探索\read.md</a:t>
            </a:r>
          </a:p>
          <a:p>
            <a:r>
              <a:t>VLFM §IV；OpenFrontier §III，Algorithm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Frontier在RGB图像标记视觉前沿，FrontierNet预测潜在信息增益，视觉语言模型根据目标评价每个方向。深度与相机位姿将候选投到三维，全局前沿集合负责合并重复位置、移除已清空或不可达项。效用结合相关性、信息增益和距离。发现疑似目标后，分割与几何模块提出观察位姿，到达后再用VLM核验。其共同方法仍是语义前沿搜索，新增的接口主要是图像中的前沿候选与稀疏三维候选管理。</a:t>
            </a:r>
          </a:p>
          <a:p>
            <a:r>
              <a:t>资料来源：</a:t>
            </a:r>
          </a:p>
          <a:p>
            <a:r>
              <a:t>E:\科研_机器人\HM3D-OVON\HM3D_OVON_Papers\02_语义地图与前沿探索\read.md</a:t>
            </a:r>
          </a:p>
          <a:p>
            <a:r>
              <a:t>OpenFrontier Fig.2，§III，Algorithm 1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>
            <a:r>
              <a:t/>
            </a:r>
          </a:p>
          <a:p>
            <a:r>
              <a:t>对应第27页方法框架：</a:t>
            </a:r>
          </a:p>
          <a:p>
            <a:r>
              <a:t>1. 产生探索候选：FrontierNet在关键帧中检测视觉前沿，借助深度与位姿将候选定位到三维。</a:t>
            </a:r>
          </a:p>
          <a:p>
            <a:r>
              <a:t>2. 评价目标相关性：在RGB图像中标记各个前沿，VLM结合周围场景给出目标相关概率。</a:t>
            </a:r>
          </a:p>
          <a:p>
            <a:r>
              <a:t>3. 权衡收益与代价：将目标相关概率乘以预计信息增益，再考虑到达距离，选择效用较高的前沿。</a:t>
            </a:r>
          </a:p>
          <a:p>
            <a:r>
              <a:t>4. 移动后更新与核验：执行后合并、清理全局前沿候选。发现疑似目标后前往观察位姿，再核验。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都先提出候选，再评价语义价值，但评价发生的位置不同。VLFM对整个观测计算图文相关性，并在二维地图中累积带置信度的价值，随后读取前沿区域的分数。OpenFrontier对图像中的每个视觉前沿打分，结合信息增益和距离，维护稀疏三维候选。后者无需把稠密三维语义地图作为语义决策的必要接口，但仍使用几何信息。两者的导航性能既受语义评价影响，也受候选覆盖、局部规划与目标核验影响。</a:t>
            </a:r>
          </a:p>
          <a:p/>
          <a:p>
            <a:r>
              <a:t>资料来源：</a:t>
            </a:r>
          </a:p>
          <a:p>
            <a:r>
              <a:t>E:\科研_机器人\HM3D-OVON\HM3D_OVON_Papers\方法分类索引.md</a:t>
            </a:r>
          </a:p>
          <a:p>
            <a:r>
              <a:t>E:\科研_机器人\HM3D-OVON\HM3D_OVON_Papers\02_语义地图与前沿探索\read.md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两篇都是示范信号和奖励信号结合的训练方法。OVSegDT连续调整BC和PPO权重，CompassNav先SFT再GRPO，不能据此当成两个互不相干的方法类别。CompassNav HM3D表1与表2的版本对应不充分，按原表设置保留，不把61.6视为56.6的同条件更新。OVSegDT为三种子均值，标准差在完整结果页展示。</a:t>
            </a:r>
          </a:p>
          <a:p/>
          <a:p>
            <a:r>
              <a:t>train_ovseg_U：OVSegDT；HM3D-OVON / Val-Unseen；SR 44.7%，SPL 20.6%。E:\科研_机器人\HM3D-OVON\HM3D_OVON_Papers\01_模仿学习与强化学习导航\2026_CVPR_OVSegDT.pdf，PDF第7页，Table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train_compass_ovon：CompassNav；HM3D-OVON / Val-Unseen；SR 43.5%，SPL 21.6%。E:\科研_机器人\HM3D-OVON\HM3D_OVON_Papers\05_视觉语言动作决策与视频记忆\2026_ICLR_CompassNav.pdf，PDF第14页，Table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train_compass_hm3d2：CompassNav；HM3D ObjectNav / Table 2 设置；SR 61.6%，SPL 27.8%。E:\科研_机器人\HM3D-OVON\HM3D_OVON_Papers\05_视觉语言动作决策与视频记忆\2026_ICLR_CompassNav.pdf，PDF第8页，Table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train_compass_mp3d：CompassNav；MP3D ObjectNav / Val；SR 42%，SPL 17.5%。E:\科研_机器人\HM3D-OVON\HM3D_OVON_Papers\05_视觉语言动作决策与视频记忆\2026_ICLR_CompassNav.pdf，PDF第8页，Table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train_compass_iin：CompassNav；Instance-ImageNav / Table 2 设置；SR 35.6%，SPL 14.8%。E:\科研_机器人\HM3D-OVON\HM3D_OVON_Papers\05_视觉语言动作决策与视频记忆\2026_ICLR_CompassNav.pdf，PDF第8页，Table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train_compass_procthor：CompassNav；AI2-THOR / ProcTHOR / 未见合成环境；SR 58.1%，SPL 32.8%。E:\科研_机器人\HM3D-OVON\HM3D_OVON_Papers\05_视觉语言动作决策与视频记忆\2026_ICLR_CompassNav.pdf，PDF第14页，Table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仿学习降低初始探索难度，让模型先获得基本动作或回答格式；强化学习则通过奖励比较行动的后果。两篇的区别主要是信号如何组合。OVSegDT用策略熵的平滑统计动态调整行为克隆与PPO的混合权重，辅助分割保留目标相关特征。CompassNav先用教师分析与动作做SFT，再对同一观察采样多个候选回答，用GRPO优化到目标距离构造的奖励。奖励所用真实目标坐标只存在于训练标注，不向测试策略提供。</a:t>
            </a:r>
          </a:p>
          <a:p/>
          <a:p>
            <a:r>
              <a:t>资料来源：</a:t>
            </a:r>
          </a:p>
          <a:p>
            <a:r>
              <a:t>E:\科研_机器人\HM3D-OVON\HM3D_OVON_Papers\01_模仿学习与强化学习导航\read.md</a:t>
            </a:r>
          </a:p>
          <a:p>
            <a:r>
              <a:t>E:\科研_机器人\HM3D-OVON\HM3D_OVON_Papers\05_视觉语言动作决策与视频记忆\read-CompassNav.md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SegDT将当前RGB、目标文本、上一动作和目标二值掩码编码，利用最近100步的Transformer上下文产生动作与价值，同时重建目标掩码。目标掩码提供定位线索，辅助分割损失约束状态保留目标信息。训练用策略熵的平滑统计调节BC与PPO权重：策略不确定时更多依靠示范，动作集中后提高奖励优化作用。真值掩码主训练之后，再使用YOLOE预测掩码适配，减少实际感知误差带来的分布差异。</a:t>
            </a:r>
          </a:p>
          <a:p>
            <a:r>
              <a:t>资料来源：</a:t>
            </a:r>
          </a:p>
          <a:p>
            <a:r>
              <a:t>E:\科研_机器人\HM3D-OVON\HM3D_OVON_Papers\01_模仿学习与强化学习导航\read.md</a:t>
            </a:r>
          </a:p>
          <a:p>
            <a:r>
              <a:t>OVSegDT Fig.2；§4.2–4.3，§5 Training details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>
            <a:r>
              <a:t/>
            </a:r>
          </a:p>
          <a:p>
            <a:r>
              <a:t>对应第31页方法框架：</a:t>
            </a:r>
          </a:p>
          <a:p>
            <a:r>
              <a:t>1. 从示范学习决策：输入RGB、目标文本、上一动作及掩码，通过BC学习专家动作与初始导航能力。</a:t>
            </a:r>
          </a:p>
          <a:p>
            <a:r>
              <a:t>2. 构建策略优化信号：导航奖励与语义奖励评价行动结果。价值头估计回报，辅助分割头重建掩码。</a:t>
            </a:r>
          </a:p>
          <a:p>
            <a:r>
              <a:t>3. 联合或分阶段优化：EALM根据策略熵动态调整BC与PPO权重，同时加入辅助分割损失。</a:t>
            </a:r>
          </a:p>
          <a:p>
            <a:r>
              <a:t>4. 适应部署时的输入：真值掩码主训练后，改用YOLOE预测掩码微调策略，适应实际感知中的错误。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ssNav先在RGB图像画出基于深度与几何后端生成的可行动作箭头。SFT学习成功教师的分析文本与动作编号，建立基本的决策与输出能力。RFT阶段对同一状态采样多个回答，以候选落点到目标的测地距离计算连续质量分数。最佳候选与次佳候选差距大时，增加最优动作奖励；差距小时保留接近的评分。奖励只验证选出的动作，不逐句验证分析文本。真实目标坐标和距离用于训练标签，推理输入只含目标与带候选箭头的观测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E:\科研_机器人\HM3D-OVON\HM3D_OVON_Papers\05_视觉语言动作决策与视频记忆\read-CompassNav.md</a:t>
            </a:r>
          </a:p>
          <a:p>
            <a:r>
              <a:t>CompassNav §3–4，Figs.3–4，式(1)–(6)，Appendix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train_ovseg_S: OVSegDT，HM3D-OVON / Val-Seen，SR=43.6%，SPL=20.1%。来源：E:\科研_机器人\HM3D-OVON\HM3D_OVON_Papers\01_模仿学习与强化学习导航\2026_CVPR_OVSegDT.pdf，PDF第7页，Table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train_ovseg_Y: OVSegDT，HM3D-OVON / Val-Seen-Synonyms，SR=40.1%，SPL=17.9%。来源：E:\科研_机器人\HM3D-OVON\HM3D_OVON_Papers\01_模仿学习与强化学习导航\2026_CVPR_OVSegDT.pdf，PDF第7页，Table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train_ovseg_U: OVSegDT，HM3D-OVON / Val-Unseen，SR=44.7%，SPL=20.6%。来源：E:\科研_机器人\HM3D-OVON\HM3D_OVON_Papers\01_模仿学习与强化学习导航\2026_CVPR_OVSegDT.pdf，PDF第7页，Table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train_compass_ovon: CompassNav，HM3D-OVON / Val-Unseen，SR=43.5%，SPL=21.6%。来源：E:\科研_机器人\HM3D-OVON\HM3D_OVON_Papers\05_视觉语言动作决策与视频记忆\2026_ICLR_CompassNav.pdf，PDF第14页，Table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train_compass_hm3d1: CompassNav，HM3D ObjectNav / Table 1 设置，SR=56.6%，SPL=27.6%。来源：E:\科研_机器人\HM3D-OVON\HM3D_OVON_Papers\05_视觉语言动作决策与视频记忆\2026_ICLR_CompassNav.pdf，PDF第8页，Table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train_compass_hm3d2: CompassNav，HM3D ObjectNav / Table 2 设置，SR=61.6%，SPL=27.8%。来源：E:\科研_机器人\HM3D-OVON\HM3D_OVON_Papers\05_视觉语言动作决策与视频记忆\2026_ICLR_CompassNav.pdf，PDF第8页，Table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train_compass_mp3d: CompassNav，MP3D ObjectNav / Val，SR=42%，SPL=17.5%。来源：E:\科研_机器人\HM3D-OVON\HM3D_OVON_Papers\05_视觉语言动作决策与视频记忆\2026_ICLR_CompassNav.pdf，PDF第8页，Table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train_compass_iin: CompassNav，Instance-ImageNav / Table 2 设置，SR=35.6%，SPL=14.8%。来源：E:\科研_机器人\HM3D-OVON\HM3D_OVON_Papers\05_视觉语言动作决策与视频记忆\2026_ICLR_CompassNav.pdf，PDF第8页，Table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train_compass_procthor: CompassNav，AI2-THOR / ProcTHOR / 未见合成环境，SR=58.1%，SPL=32.8%。来源：E:\科研_机器人\HM3D-OVON\HM3D_OVON_Papers\05_视觉语言动作决策与视频记忆\2026_ICLR_CompassNav.pdf，PDF第14页，Table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一级方向描述不同环节，因此一套系统可以同时采用多种方法。显式三维物体图可以附带连续特征，保存的图像也可以被压缩重放；分层系统可以使用统一多任务骨干。代表论文的主要归属用于组织文献，不是限制组件组合。讨论新研究时，应先指明改变的是哪一环节，再明确维度、传感器、任务与训练预算，最后在相同协议下验证改善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这四项属于数据集与评测资源，独立于五个方法分支。HM3D Semantics主要提供室内三维语义标注。HM3D-OVON用已见、同义词和未见类别切分考查开放词汇目标泛化。GOAT-Bench把类别、图像及语言目标串成连续子任务，检验同一环境中历史经验的复用。SG3D侧重任务上下文中的顺序目标定位和导航，后续目标可能隐含引用前序对象；SG-LLM是其中的模型基线。不同基准的传感器、成功条件、划分和序列协议不同，结果不能直接作为统一排名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E:\科研_机器人\HM3D-OVON\HM3D_OVON_Papers\00_数据集与任务基准\README.md</a:t>
            </a:r>
          </a:p>
          <a:p>
            <a:r>
              <a:t>E:\科研_机器人\HM3D-OVON\HM3D_OVON_Papers\00_数据集与任务基准\2024_SG3D_Sequential_Grounding_and_Navigation.pdf，第1–3节</a:t>
            </a:r>
          </a:p>
          <a:p>
            <a:r>
              <a:t>E:\科研_机器人\HM3D-OVON\HM3D_OVON_Papers\00_数据集与任务基准\2024_CVPR_GOAT_Bench.pdf，第3–4节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例子从同一环境出发，依次寻找躺椅、图中的烤箱、客厅茶几上的白色书等目标。每个episode包含5至10个子任务，目标形式可为类别名称、参考图像或自然语言描述。一个子任务结束后继续给下一个目标，环境与智能体状态不重置，因此此前探索过的物体和空间可以帮助后续搜索。原始论文第3节规定每子任务最多500步，并在目标实例1米内调用STOP作为成功条件，实际复现实验应始终核对所用版本的评测配置。评价既包括成功率，也包括SPL等路径效率。该基准为历史记忆和统一目标接口提供验证场景，不保证任何特定记忆方案有效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E:\科研_机器人\HM3D-OVON\HM3D_OVON_Papers\00_数据集与任务基准\2024_CVPR_GOAT_Bench.pdf，PDF第1页，图1；PDF第3页，第3节任务定义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程序与工具／技能编排、快慢系统分层协作，以及多任务或规划、定位、探索与导航能力的统一建模。</a:t>
            </a:r>
          </a:p>
          <a:p/>
          <a:p>
            <a:r>
              <a:t>TANGO：无需新增导航专项训练</a:t>
            </a:r>
          </a:p>
          <a:p>
            <a:r>
              <a:t>SuperNav：主模型与几何执行器无需；可选学习式执行器的 GPU 配置未报告</a:t>
            </a:r>
          </a:p>
          <a:p>
            <a:r>
              <a:t>OmniNav：阶段1 96×H20，120小时；阶段2 64×H20，48小时</a:t>
            </a:r>
          </a:p>
          <a:p>
            <a:r>
              <a:t>D3D-VLP：4×RTX 6000 Ada，约14天</a:t>
            </a:r>
          </a:p>
          <a:p>
            <a:r>
              <a:t>Uni-NaVid：40×H800，约35小时</a:t>
            </a:r>
          </a:p>
          <a:p>
            <a:r>
              <a:t>MTU3D：4×A100；约164 GPU·小时</a:t>
            </a:r>
          </a:p>
          <a:p>
            <a:r>
              <a:t>SuperNav执行器训练：https://arxiv.org/html/2610.12126v1，附录C.2。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用三维场景图组织物体、空间信息与视觉证据；将三维物体和前沿特征转换为视觉语言模型可使用的 soft tokens。</a:t>
            </a:r>
          </a:p>
          <a:p/>
          <a:p>
            <a:r>
              <a:t>MSGNav：无需新增导航专项训练</a:t>
            </a:r>
          </a:p>
          <a:p>
            <a:r>
              <a:t>SoftNav：1×RTX 4090；时长未报告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压缩长期视觉历史，维护语义与空间双分支记忆，并通过历史缓存和滑动窗口更新跨帧信息。</a:t>
            </a:r>
          </a:p>
          <a:p/>
          <a:p>
            <a:r>
              <a:t>AstraNav-Memory：32×H20；时长未报告</a:t>
            </a:r>
          </a:p>
          <a:p>
            <a:r>
              <a:t>JanusVLN：64×H20，约31小时；阅读笔记转引作者答复</a:t>
            </a:r>
          </a:p>
          <a:p>
            <a:r>
              <a:t>JanusVLN配置由源文档转引阅读笔记中的作者答复。本次未能加载评论正文，未独立复核。</a:t>
            </a:r>
          </a:p>
          <a:p>
            <a:r>
              <a:t>阅读笔记：E:\科研_机器人\HM3D-OVON\HM3D_OVON_Papers\05_视觉语言动作决策与视频记忆\read-JANUSVLN.md</a:t>
            </a:r>
          </a:p>
          <a:p>
            <a:r>
              <a:t>作者答复：https://github.com/MIV-XJTU/JanusVLN/issues/3#issuecomment-3375195701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构建语义价值地图或生成视觉前沿，利用目标相关性、信息增益和距离等评价探索位置，并进行目标确认。</a:t>
            </a:r>
          </a:p>
          <a:p/>
          <a:p>
            <a:r>
              <a:t>VLFM：无需新增导航专项训练</a:t>
            </a:r>
          </a:p>
          <a:p>
            <a:r>
              <a:t>OpenFrontier：无需新增导航专项训练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目标分割辅助监督、自适应 BC／PPO 联合优化，以及基于候选动作质量的 SFT／GRPO 与差距感知奖励设计。</a:t>
            </a:r>
          </a:p>
          <a:p/>
          <a:p>
            <a:r>
              <a:t>OVSegDT：2×A100；约2.15亿环境步，时长未报告</a:t>
            </a:r>
          </a:p>
          <a:p>
            <a:r>
              <a:t>CompassNav：SFT 8×A800，约12小时；RFT 8×H200，约56.7小时（估算）</a:t>
            </a:r>
          </a:p>
          <a:p>
            <a:r>
              <a:t>CompassNav RFT时长为源文档估算：170步×20分钟/步≈56.7小时。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场景语义标注、开放词汇与多模态目标构建、连续或顺序任务设计，以及评测协议和基线设计。</a:t>
            </a:r>
          </a:p>
          <a:p/>
          <a:p>
            <a:r>
              <a:t>HM3D Semantics：数据集本身不适用；导航基线另计</a:t>
            </a:r>
          </a:p>
          <a:p>
            <a:r>
              <a:t>HM3D-OVON：按各基线分别统计</a:t>
            </a:r>
          </a:p>
          <a:p>
            <a:r>
              <a:t>GOAT-Bench：按各基线分别统计</a:t>
            </a:r>
          </a:p>
          <a:p>
            <a:r>
              <a:t>SG3D / SG-LLM：按 SG-LLM 等基线分别统计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资料口径沿用源文档。GPU·小时表示GPU数量乘以训练小时数，不能把不同GPU型号的卡时直接视为等价算力。</a:t>
            </a:r>
          </a:p>
          <a:p>
            <a:r>
              <a:t>SuperNav学习式执行器训练见：https://arxiv.org/html/2610.12126v1，附录C.2。</a:t>
            </a:r>
          </a:p>
          <a:p>
            <a:r>
              <a:t>JanusVLN作者答复由源文档及阅读笔记转引，本次网页未加载评论正文。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开放词汇导航的方法分类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M3D-OVON-Papers"/>
          <p:cNvSpPr>
            <a:spLocks noGrp="1"/>
          </p:cNvSpPr>
          <p:nvPr/>
        </p:nvSpPr>
        <p:spPr>
          <a:xfrm>
            <a:off x="685800" y="1685925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HM3D-OVON-Papers</a:t>
            </a:r>
            <a:endParaRPr sz="2700" b="0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五个研究方向，八类方法范式"/>
          <p:cNvSpPr>
            <a:spLocks noGrp="1"/>
          </p:cNvSpPr>
          <p:nvPr/>
        </p:nvSpPr>
        <p:spPr>
          <a:xfrm>
            <a:off x="685800" y="2638425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五个研究方向，八类方法范式</a:t>
            </a:r>
            <a:endParaRPr sz="36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方法机制、代表论文与评测结果"/>
          <p:cNvSpPr>
            <a:spLocks noGrp="1"/>
          </p:cNvSpPr>
          <p:nvPr/>
        </p:nvSpPr>
        <p:spPr>
          <a:xfrm>
            <a:off x="685800" y="376237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方法机制、代表论文与评测结果</a:t>
            </a:r>
            <a:endParaRPr sz="23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训练算力置于方法讲解之后"/>
          <p:cNvSpPr>
            <a:spLocks noGrp="1"/>
          </p:cNvSpPr>
          <p:nvPr/>
        </p:nvSpPr>
        <p:spPr>
          <a:xfrm>
            <a:off x="685800" y="43624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训练算力置于方法讲解之后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依据本地已收录文献与阅读笔记"/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依据本地已收录文献与阅读笔记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2026年10月17日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方法分类总览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400550"/>
        </p:xfrm>
        <a:graphic>
          <a:graphicData uri="http://schemas.openxmlformats.org/drawingml/2006/table">
            <a:tbl>
              <a:tblPr firstRow="1"/>
              <a:tblGrid>
                <a:gridCol w="2362200"/>
                <a:gridCol w="4019550"/>
                <a:gridCol w="4438650"/>
              </a:tblGrid>
              <a:tr h="4667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一级方向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二级方法类别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主要归属文献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系统组织架构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TANGO、SuperNav、OmniNav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D3D-VLP、Uni-NaVid、MTU3D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环境表征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显式地图与场景结构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学习式连续空间特征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历史记忆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观察历史的压缩与重放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递归状态与缓存更新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探索与目标搜索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语义引导的前沿搜索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VLFM、OpenFrontier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导航策略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训练与优化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模仿学习与强化学习结合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OVSegDT、CompassNav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主要归属用于组织汇报。显式结构、连续特征、历史重放与缓存"/>
          <p:cNvSpPr>
            <a:spLocks noGrp="1"/>
          </p:cNvSpPr>
          <p:nvPr/>
        </p:nvSpPr>
        <p:spPr>
          <a:xfrm>
            <a:off x="685800" y="60960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主要归属用于组织汇报。显式结构、连续特征、历史重放与缓存可以组合。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分类依据：一级分支分类.md。数据集与评测基准另列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系统组织架构：方法与评测概览</a:t>
            </a:r>
            <a:endParaRPr sz="3450" b="1">
              <a:solidFill>
                <a:srgbClr val="92D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任务决策怎样与感知、规划和执行协作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研究问题：任务决策怎样与感知、规划和执行协作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分层与模块化协作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通过工具或子目标接口，&#10;衔接高层决策与局部执行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通过工具或子目标接口，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衔接高层决策与局部执行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多能力统一联合建模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共享表示与决策接口，&#10;联合处理多种能力或任务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共享表示与决策接口，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联合处理多种能力或任务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343275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子任务与整任务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mniNav OVON按1 m判据。SG3D给定真实计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 OVON按1 m判据。SG3D给定真实计划，s／t为子任务／整任务SR。其他结果见后续页。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高层处理任务意图，通过明确接口调用专门的执行模块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高层处理任务意图，通过明确接口调用专门的执行模块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理解任务与当前状态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理解任务与当前状态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读取目标、当前观测和已完成进度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读取目标、当前观测和已完成进度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选择接口与子目标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选择接口与子目标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输出程序调用、工具参数或空间子目标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输出程序调用、工具参数或空间子目标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执行专门模块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15415" y="38608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执行专门模块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感知、局部规划或策略完成短程移动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感知、局部规划或策略完成短程移动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接收执行反馈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接收执行反馈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根据新观测更新任务状态与后续选择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根据新观测更新任务状态与后续选择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TANGO程序编排，SuperNav工具循环，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类内实现：TANGO程序编排，SuperNav工具循环，OmniNav快慢协作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模块可复用、可替换。限制：接口误差传递，高层证据可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收益：模块可复用、可替换。限制：接口误差传递，高层证据可能滞后。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6A47A404-6917-48D2-9B80-60729EE0B7A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OmniNav：快慢系统的接口</a:t>
            </a:r>
          </a:p>
        </p:txBody>
      </p:sp>
      <p:sp>
        <p:nvSpPr>
          <p:cNvPr id="2" name="以子目标坐标衔接全局规划与局部执行">
            <a:extLst>
              <a:ext uri="{FF2B5EF4-FFF2-40B4-BE49-F238E27FC236}">
                <ns2:creationId id="{A58A0E06-8C35-4A89-A34E-DB6C99A0E488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以子目标坐标衔接全局规划与局部执行</a:t>
            </a:r>
          </a:p>
        </p:txBody>
      </p:sp>
      <p:sp>
        <p:nvSpPr>
          <p:cNvPr id="3" name="快慢系统通过子目标坐标协作">
            <a:extLst>
              <a:ext uri="{FF2B5EF4-FFF2-40B4-BE49-F238E27FC236}">
                <ns2:creationId id="{54A3CDE2-C597-402E-AED4-16EE3DC399B7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快慢系统通过子目标坐标协作</a:t>
            </a:r>
          </a:p>
        </p:txBody>
      </p:sp>
      <p:pic>
        <p:nvPicPr>
          <p:cNvPr id="4" name="">
            <a:extLst>
              <a:ext uri="{FF2B5EF4-FFF2-40B4-BE49-F238E27FC236}">
                <ns2:creationId id="{C3C5AE7C-A054-4DD0-823C-D47A14727271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270717"/>
            <a:ext cx="5257800" cy="2754716"/>
          </a:xfrm>
          <a:prstGeom prst="rect">
            <a:avLst/>
          </a:prstGeom>
        </p:spPr>
      </p:pic>
      <p:sp>
        <p:nvSpPr>
          <p:cNvPr id="5" name="慢系统确定下一探索点或目标位置。&#10;快系统把子目标转换为连续航">
            <a:extLst>
              <a:ext uri="{FF2B5EF4-FFF2-40B4-BE49-F238E27FC236}">
                <ns2:creationId id="{B4DC048B-86BE-4507-9691-917E26BBEE3F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慢系统确定下一探索点或目标位置。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快系统把子目标转换为连续航点。</a:t>
            </a:r>
          </a:p>
        </p:txBody>
      </p:sp>
      <p:sp>
        <p:nvSpPr>
          <p:cNvPr id="6" name="快慢系统共享 VLM 参数">
            <a:extLst>
              <a:ext uri="{FF2B5EF4-FFF2-40B4-BE49-F238E27FC236}">
                <ns2:creationId id="{59ADE319-A2F2-434C-B702-70FD5E8EBD4B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快慢系统共享 VLM 参数</a:t>
            </a:r>
          </a:p>
        </p:txBody>
      </p:sp>
      <p:sp>
        <p:nvSpPr>
          <p:cNvPr id="7" name="01">
            <a:extLst>
              <a:ext uri="{FF2B5EF4-FFF2-40B4-BE49-F238E27FC236}">
                <ns2:creationId id="{92046A24-8DA5-4831-830E-8E6E0960F55B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理解任务与当前状态">
            <a:extLst>
              <a:ext uri="{FF2B5EF4-FFF2-40B4-BE49-F238E27FC236}">
                <ns2:creationId id="{9309DA66-3ECC-4148-BCFF-0C29520FCBA8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理解任务与当前状态</a:t>
            </a:r>
          </a:p>
        </p:txBody>
      </p:sp>
      <p:sp>
        <p:nvSpPr>
          <p:cNvPr id="9" name="读取目标、当前与历史图像、位姿&#10;及探索前沿，判断目标是否出现">
            <a:extLst>
              <a:ext uri="{FF2B5EF4-FFF2-40B4-BE49-F238E27FC236}">
                <ns2:creationId id="{D0D0DCF7-7F5F-40C4-9397-38F8FD17696F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读取目标、当前与历史图像、位姿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及探索前沿，判断目标是否出现。</a:t>
            </a:r>
          </a:p>
        </p:txBody>
      </p:sp>
      <p:sp>
        <p:nvSpPr>
          <p:cNvPr id="10" name="02">
            <a:extLst>
              <a:ext uri="{FF2B5EF4-FFF2-40B4-BE49-F238E27FC236}">
                <ns2:creationId id="{40ADA02E-D8CB-477B-BA1F-3B42F109D389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选择接口与子目标">
            <a:extLst>
              <a:ext uri="{FF2B5EF4-FFF2-40B4-BE49-F238E27FC236}">
                <ns2:creationId id="{ED62E281-DB5E-40C9-9890-9D7C6B9C82E7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选择接口与子目标</a:t>
            </a:r>
          </a:p>
        </p:txBody>
      </p:sp>
      <p:sp>
        <p:nvSpPr>
          <p:cNvPr id="12" name="未见目标选前沿，已见目标选位置。&#10;慢系统将坐标以 Point">
            <a:extLst>
              <a:ext uri="{FF2B5EF4-FFF2-40B4-BE49-F238E27FC236}">
                <ns2:creationId id="{24AF9696-1630-4C09-9EAF-C30922DE16F4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未见目标选前沿，已见目标选位置。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慢系统将坐标以 Point-Goal 传给快系统。</a:t>
            </a:r>
          </a:p>
        </p:txBody>
      </p:sp>
      <p:sp>
        <p:nvSpPr>
          <p:cNvPr id="13" name="03">
            <a:extLst>
              <a:ext uri="{FF2B5EF4-FFF2-40B4-BE49-F238E27FC236}">
                <ns2:creationId id="{F75A0D5E-8FF4-4E03-B024-29E9019E5D29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执行专门模块">
            <a:extLst>
              <a:ext uri="{FF2B5EF4-FFF2-40B4-BE49-F238E27FC236}">
                <ns2:creationId id="{46F1EA6A-9417-4F29-83BE-41D938A38987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执行专门模块</a:t>
            </a:r>
          </a:p>
        </p:txBody>
      </p:sp>
      <p:sp>
        <p:nvSpPr>
          <p:cNvPr id="15" name="快系统结合子目标和近期观测，&#10;生成未来5个连续航点，由控制器">
            <a:extLst>
              <a:ext uri="{FF2B5EF4-FFF2-40B4-BE49-F238E27FC236}">
                <ns2:creationId id="{F647B0BC-A709-481B-A626-947A2B61C279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快系统结合子目标和近期观测，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生成未来5个连续航点，由控制器执行。</a:t>
            </a:r>
          </a:p>
        </p:txBody>
      </p:sp>
      <p:sp>
        <p:nvSpPr>
          <p:cNvPr id="16" name="04">
            <a:extLst>
              <a:ext uri="{FF2B5EF4-FFF2-40B4-BE49-F238E27FC236}">
                <ns2:creationId id="{F93EC00B-0149-4DF8-BC37-3C02D5E39B6A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接收执行反馈">
            <a:extLst>
              <a:ext uri="{FF2B5EF4-FFF2-40B4-BE49-F238E27FC236}">
                <ns2:creationId id="{CB7210D3-4DB8-4D02-A562-C91C96FB755E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接收执行反馈</a:t>
            </a:r>
          </a:p>
        </p:txBody>
      </p:sp>
      <p:sp>
        <p:nvSpPr>
          <p:cNvPr id="18" name="移动后更新图像、位姿与探索状态。&#10;到达子目标或需重规划时，再">
            <a:extLst>
              <a:ext uri="{FF2B5EF4-FFF2-40B4-BE49-F238E27FC236}">
                <ns2:creationId id="{550D3E9F-28E3-4929-9682-F64DA1186E3E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移动后更新图像、位姿与探索状态。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到达子目标或需重规划时，再选下一处。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CB9B11B4-3454-46C2-9891-C924D67F681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来源：OmniNav，图1（PDF第4页）及第3节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F6526AC2-583E-4DC9-BE67-EFA3B8E60698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ns4:creationId val="2035915519"/>
      </p:ext>
    </p:extLst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用共享表示或输出接口，让相关能力共同参与一次决策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用共享表示或输出接口，让相关能力共同参与一次决策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形成统一输入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形成统一输入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将指令、观测、空间与历史编码为模型输入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将指令、观测、空间与历史编码为模型输入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共享语义与空间理解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共享语义与空间理解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联合建模任务意图、目标实体和可行动位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联合建模任务意图、目标实体和可行动位置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产生能力相关输出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产生能力相关输出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输出结构化决策、任务动作或候选评分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输出结构化决策、任务动作或候选评分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联合训练并更新决策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联合训练并更新决策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多源监督训练共享模型，执行后更新状态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多源监督训练共享模型，执行后更新状态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结构化决策链、多任务动作生成、物体与前沿统一评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类内实现：结构化决策链、多任务动作生成、物体与前沿统一评分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减少能力间表示割裂。限制：依赖任务对齐与数据覆盖，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收益：减少能力间表示割裂。限制：依赖任务对齐与数据覆盖，仍可保留执行器。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32926592-2845-442F-A516-0FA9AD0DDE2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D3D-VLP：计划、目标定位与航点联合决策</a:t>
            </a:r>
          </a:p>
        </p:txBody>
      </p:sp>
      <p:sp>
        <p:nvSpPr>
          <p:cNvPr id="2" name="以动态三维决策链统一规划、定位与导航">
            <a:extLst>
              <a:ext uri="{FF2B5EF4-FFF2-40B4-BE49-F238E27FC236}">
                <ns2:creationId id="{6515EB1B-F152-450D-AC7B-CA4BCB0A438B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以动态三维决策链统一规划、定位与导航</a:t>
            </a:r>
          </a:p>
        </p:txBody>
      </p:sp>
      <p:sp>
        <p:nvSpPr>
          <p:cNvPr id="3" name="三维环境记忆与决策记忆共同参与推理">
            <a:extLst>
              <a:ext uri="{FF2B5EF4-FFF2-40B4-BE49-F238E27FC236}">
                <ns2:creationId id="{4E181F53-0FCF-4883-8C02-7C18A0211E2E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三维环境记忆与决策记忆共同参与推理</a:t>
            </a:r>
          </a:p>
        </p:txBody>
      </p:sp>
      <p:pic>
        <p:nvPicPr>
          <p:cNvPr id="4" name="">
            <a:extLst>
              <a:ext uri="{FF2B5EF4-FFF2-40B4-BE49-F238E27FC236}">
                <ns2:creationId id="{8BE3DA9A-44C3-4772-84F7-231E3CA2C0C5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818167"/>
            <a:ext cx="5257800" cy="1659815"/>
          </a:xfrm>
          <a:prstGeom prst="rect">
            <a:avLst/>
          </a:prstGeom>
        </p:spPr>
      </p:pic>
      <p:sp>
        <p:nvSpPr>
          <p:cNvPr id="5" name="环境记忆保存三维证据。&#10;决策记忆保存计划、目标与已走轨迹。">
            <a:extLst>
              <a:ext uri="{FF2B5EF4-FFF2-40B4-BE49-F238E27FC236}">
                <ns2:creationId id="{3FA2CD8A-5473-48F8-9C0D-6E9F242ECFCC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环境记忆保存三维证据。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决策记忆保存计划、目标与已走轨迹。</a:t>
            </a:r>
          </a:p>
        </p:txBody>
      </p:sp>
      <p:sp>
        <p:nvSpPr>
          <p:cNvPr id="6" name="航点仍由底层控制器执行">
            <a:extLst>
              <a:ext uri="{FF2B5EF4-FFF2-40B4-BE49-F238E27FC236}">
                <ns2:creationId id="{0752F3A7-0E67-4AB1-914F-AA11ABC98490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航点仍由底层控制器执行</a:t>
            </a:r>
          </a:p>
        </p:txBody>
      </p:sp>
      <p:sp>
        <p:nvSpPr>
          <p:cNvPr id="7" name="01">
            <a:extLst>
              <a:ext uri="{FF2B5EF4-FFF2-40B4-BE49-F238E27FC236}">
                <ns2:creationId id="{3B29ADD1-5F03-4337-A3F8-9C554C7E9C66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形成统一输入">
            <a:extLst>
              <a:ext uri="{FF2B5EF4-FFF2-40B4-BE49-F238E27FC236}">
                <ns2:creationId id="{17783962-F8CD-42DF-AF23-0CDD5B98B9CB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形成统一输入</a:t>
            </a:r>
          </a:p>
        </p:txBody>
      </p:sp>
      <p:sp>
        <p:nvSpPr>
          <p:cNvPr id="9" name="RGB-D与位姿更新多层次三维记忆，&#10;指令、空间tokens">
            <a:extLst>
              <a:ext uri="{FF2B5EF4-FFF2-40B4-BE49-F238E27FC236}">
                <ns2:creationId id="{14165F2B-1A79-4E85-B14A-61B878686C1C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RGB-D与位姿更新多层次三维记忆，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指令、空间tokens及历史决策共同输入。</a:t>
            </a:r>
          </a:p>
        </p:txBody>
      </p:sp>
      <p:sp>
        <p:nvSpPr>
          <p:cNvPr id="10" name="02">
            <a:extLst>
              <a:ext uri="{FF2B5EF4-FFF2-40B4-BE49-F238E27FC236}">
                <ns2:creationId id="{C896EF0F-D04E-45F2-89AA-207D9F44704C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共享语义与空间理解">
            <a:extLst>
              <a:ext uri="{FF2B5EF4-FFF2-40B4-BE49-F238E27FC236}">
                <ns2:creationId id="{EF613DDB-4004-478C-A16F-9E92457A7921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共享语义与空间理解</a:t>
            </a:r>
          </a:p>
        </p:txBody>
      </p:sp>
      <p:sp>
        <p:nvSpPr>
          <p:cNvPr id="12" name="3D-VLM将任务意图与环境证据对齐，&#10;在同一上下文理解目标">
            <a:extLst>
              <a:ext uri="{FF2B5EF4-FFF2-40B4-BE49-F238E27FC236}">
                <ns2:creationId id="{1B1453B8-3DA3-4670-99D6-C7244DE2DABB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3D-VLM将任务意图与环境证据对齐，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在同一上下文理解目标和可行动位置。</a:t>
            </a:r>
          </a:p>
        </p:txBody>
      </p:sp>
      <p:sp>
        <p:nvSpPr>
          <p:cNvPr id="13" name="03">
            <a:extLst>
              <a:ext uri="{FF2B5EF4-FFF2-40B4-BE49-F238E27FC236}">
                <ns2:creationId id="{A0F43F71-6CCD-4C5E-89AD-C147D3FE203C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产生能力相关输出">
            <a:extLst>
              <a:ext uri="{FF2B5EF4-FFF2-40B4-BE49-F238E27FC236}">
                <ns2:creationId id="{2D9A8596-1803-4581-9468-099D80A7DD94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产生能力相关输出</a:t>
            </a:r>
          </a:p>
        </p:txBody>
      </p:sp>
      <p:sp>
        <p:nvSpPr>
          <p:cNvPr id="15" name="依次生成后续计划、三维目标与航点，&#10;需要时再输出任务回答。">
            <a:extLst>
              <a:ext uri="{FF2B5EF4-FFF2-40B4-BE49-F238E27FC236}">
                <ns2:creationId id="{C6D898B7-17C0-4369-8B06-08AF4BD6D14E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依次生成后续计划、三维目标与航点，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需要时再输出任务回答。</a:t>
            </a:r>
          </a:p>
        </p:txBody>
      </p:sp>
      <p:sp>
        <p:nvSpPr>
          <p:cNvPr id="16" name="04">
            <a:extLst>
              <a:ext uri="{FF2B5EF4-FFF2-40B4-BE49-F238E27FC236}">
                <ns2:creationId id="{E438AE81-26BD-40B4-AF1A-C905DD612FCC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联合训练并更新决策">
            <a:extLst>
              <a:ext uri="{FF2B5EF4-FFF2-40B4-BE49-F238E27FC236}">
                <ns2:creationId id="{8AC5F3A0-D649-40A9-84A1-B873B32F7168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联合训练并更新决策</a:t>
            </a:r>
          </a:p>
        </p:txBody>
      </p:sp>
      <p:sp>
        <p:nvSpPr>
          <p:cNvPr id="18" name="部分标注样本仅对已有监督项计损失。&#10;执行后将轨迹与进度写回决">
            <a:extLst>
              <a:ext uri="{FF2B5EF4-FFF2-40B4-BE49-F238E27FC236}">
                <ns2:creationId id="{09408534-032A-4897-9708-C06A5CFF6F05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部分标注样本仅对已有监督项计损失。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执行后将轨迹与进度写回决策记忆。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4D8936A3-CEED-4B3E-A14B-55782314E2D3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来源：D3D-VLP，第3.1–3.3节，图2–3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33AF868C-89D8-4F1F-A204-C5C455BE9785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ns4:creationId val="395631677"/>
      </p:ext>
    </p:extLst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同类架构的接口差异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229100"/>
        </p:xfrm>
        <a:graphic>
          <a:graphicData uri="http://schemas.openxmlformats.org/drawingml/2006/table">
            <a:tbl>
              <a:tblPr firstRow="1"/>
              <a:tblGrid>
                <a:gridCol w="3095625"/>
                <a:gridCol w="2476500"/>
                <a:gridCol w="52482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方法类别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论文例子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关键接口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程序与可调用原语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技能指引、工具调用与图像点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空间子目标与连续航点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计划、三维目标与航点决策链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统一视频输入与任务标记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物体和探索前沿的统一评分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两类可以共存：OmniNav共享多任务骨干，D3D-VL"/>
          <p:cNvSpPr>
            <a:spLocks noGrp="1"/>
          </p:cNvSpPr>
          <p:nvPr/>
        </p:nvSpPr>
        <p:spPr>
          <a:xfrm>
            <a:off x="685800" y="605790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两类可以共存：OmniNav共享多任务骨干，D3D-VLP与MTU3D仍保留执行模块。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论文作为同类方法的实现例子。主分类不替代二维／三维、任务范围或资源条件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系统组织架构：目标导航结果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5243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37.1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mniNav为慢系统+CoT；MTU3D使用RG"/>
          <p:cNvSpPr>
            <a:spLocks noGrp="1"/>
          </p:cNvSpPr>
          <p:nvPr/>
        </p:nvSpPr>
        <p:spPr>
          <a:xfrm>
            <a:off x="685800" y="60769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OmniNav为慢系统+CoT；MTU3D使用RGB-D与位姿；Uni-NaVid为单RGB。训练与传感器条件未统一。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表2；MTU3D 表5；Uni-NaVid 表IV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系统组织架构：指令与顺序任务结果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57350"/>
          <a:ext cx="10820400" cy="394335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REVERIE-CE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NavRAG-CE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导航任务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 / 13.8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自建人物跟随 / 默认验证配置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61.21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其他评测采用不同指标：CityWalker使用MA"/>
          <p:cNvSpPr>
            <a:spLocks noGrp="1"/>
          </p:cNvSpPr>
          <p:nvPr/>
        </p:nvSpPr>
        <p:spPr>
          <a:xfrm>
            <a:off x="685800" y="58102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其他评测采用不同指标：CityWalker使用MAOE，问答任务使用ACC、Score或LLM-SR／LLM-SPL，均不充当导航SR／SPL。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表1；D3D-VLP 表2–3；Uni-NaVid 表VII。—表示未报告SPL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SuperNav：子集、阈值与自建任务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5619750"/>
                <a:gridCol w="2609850"/>
                <a:gridCol w="1295400"/>
                <a:gridCol w="12954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38.37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41.05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71.67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45.79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79.17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49.74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episodes，0.2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单目标，150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41.27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顺序多目标，150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Demand-Bench / 改编协议，200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18.01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* 模型替换配置。主模型为GPT-5.6 Terr"/>
          <p:cNvSpPr>
            <a:spLocks noGrp="1"/>
          </p:cNvSpPr>
          <p:nvPr/>
        </p:nvSpPr>
        <p:spPr>
          <a:xfrm>
            <a:off x="685800" y="62293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模型替换配置。主模型为GPT-5.6 Terra high。SPL已乘100；视点距离、子集与改编任务不与其他协议混排。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来源：SuperNav 表1–3。Geo表示几何执行器；严格距离定义见原论文附录B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跨视角观测怎样形成可查询、可决策的环境状态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研究问题：跨视角观测怎样形成可查询、可决策的环境状态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显式地图与场景结构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用格子、实体与关系&#10;保存位置、语义和证据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用格子、实体与关系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保存位置、语义和证据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学习式连续空间特征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用空间向量表达实体，&#10;经投影或评分接入决策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用空间向量表达实体，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经投影或评分接入决策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343275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Unseen，0.25 m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SoftNav（SR较高）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MSGNav（SPL较高）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子任务与整任务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16.6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GOAT两篇评测子集规模不同，保留各自结果，不作严格排名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GOAT两篇评测子集规模不同，保留各自结果，不作严格排名。二维／三维与显式／连续属于不同属性。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把空间单元、实体及关系保存成可查询的环境记录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把空间单元、实体及关系保存成可查询的环境记录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建立空间记录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建立空间记录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对齐多帧观测，生成地图格子或物体节点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对齐多帧观测，生成地图格子或物体节点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合并重复观测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合并重复观测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维护位置、类别、对象身份与图像证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维护位置、类别、对象身份与图像证据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按当前目标读取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按当前目标读取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查询相关区域、物体、关系或支持图像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查询相关区域、物体、关系或支持图像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转换为导航子目标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转换为导航子目标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选择探索前沿、目标位置或可见视点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选择探索前沿、目标位置或可见视点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二维语义价值地图、三维物体图与视觉证据索引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类内实现：二维语义价值地图、三维物体图与视觉证据索引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证据与位置易检查。限制：漏检、位姿误差与错误关联会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收益：证据与位置易检查。限制：漏检、位姿误差与错误关联会随记录积累。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8304720A-E521-46A2-A6C8-32786E202769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MSGNav：三维场景图怎样用于导航</a:t>
            </a:r>
          </a:p>
        </p:txBody>
      </p:sp>
      <p:sp>
        <p:nvSpPr>
          <p:cNvPr id="2" name="用物体节点与共同观测图像组织可查询的空间证据">
            <a:extLst>
              <a:ext uri="{FF2B5EF4-FFF2-40B4-BE49-F238E27FC236}">
                <ns2:creationId id="{BFDFE090-7BFD-42E0-B6E7-C7EF70E47565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用物体节点与共同观测图像组织可查询的空间证据</a:t>
            </a:r>
          </a:p>
        </p:txBody>
      </p:sp>
      <p:sp>
        <p:nvSpPr>
          <p:cNvPr id="3" name="物体节点保存空间，图边索引共同观测">
            <a:extLst>
              <a:ext uri="{FF2B5EF4-FFF2-40B4-BE49-F238E27FC236}">
                <ns2:creationId id="{64E88D12-C8FD-4F03-9799-597239E76B99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物体节点保存空间，图边索引共同观测</a:t>
            </a:r>
          </a:p>
        </p:txBody>
      </p:sp>
      <p:pic>
        <p:nvPicPr>
          <p:cNvPr id="4" name="">
            <a:extLst>
              <a:ext uri="{FF2B5EF4-FFF2-40B4-BE49-F238E27FC236}">
                <ns2:creationId id="{F88B1892-D501-4A15-AC5F-6F3C5B32964C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504251"/>
            <a:ext cx="5257800" cy="2287649"/>
          </a:xfrm>
          <a:prstGeom prst="rect">
            <a:avLst/>
          </a:prstGeom>
        </p:spPr>
      </p:pic>
      <p:sp>
        <p:nvSpPr>
          <p:cNvPr id="5" name="图边关联物体对的同框图像。&#10;模型可回看图像，判断目标及空间关">
            <a:extLst>
              <a:ext uri="{FF2B5EF4-FFF2-40B4-BE49-F238E27FC236}">
                <ns2:creationId id="{EC5120A1-0C38-43EE-8A21-29946BB03ED2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图边关联物体对的同框图像。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模型可回看图像，判断目标及空间关系。</a:t>
            </a:r>
          </a:p>
        </p:txBody>
      </p:sp>
      <p:sp>
        <p:nvSpPr>
          <p:cNvPr id="6" name="关系证据保留在原始图像中">
            <a:extLst>
              <a:ext uri="{FF2B5EF4-FFF2-40B4-BE49-F238E27FC236}">
                <ns2:creationId id="{5277BB2C-58D7-4F29-9A46-8392F0960298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关系证据保留在原始图像中</a:t>
            </a:r>
          </a:p>
        </p:txBody>
      </p:sp>
      <p:sp>
        <p:nvSpPr>
          <p:cNvPr id="7" name="01">
            <a:extLst>
              <a:ext uri="{FF2B5EF4-FFF2-40B4-BE49-F238E27FC236}">
                <ns2:creationId id="{4400F083-FDD6-4121-B4E5-8E39E4C1B335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建立空间记录">
            <a:extLst>
              <a:ext uri="{FF2B5EF4-FFF2-40B4-BE49-F238E27FC236}">
                <ns2:creationId id="{44C1E8F4-2B0E-439A-BAD1-A70441E81AC0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建立空间记录</a:t>
            </a:r>
          </a:p>
        </p:txBody>
      </p:sp>
      <p:sp>
        <p:nvSpPr>
          <p:cNvPr id="9" name="RGB-D与位姿生成三维物体节点，&#10;将近邻物体的共同观测图像">
            <a:extLst>
              <a:ext uri="{FF2B5EF4-FFF2-40B4-BE49-F238E27FC236}">
                <ns2:creationId id="{42545F3B-6645-4C7D-A90D-91E5C0C32CEB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RGB-D与位姿生成三维物体节点，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将近邻物体的共同观测图像关联到边。</a:t>
            </a:r>
          </a:p>
        </p:txBody>
      </p:sp>
      <p:sp>
        <p:nvSpPr>
          <p:cNvPr id="10" name="02">
            <a:extLst>
              <a:ext uri="{FF2B5EF4-FFF2-40B4-BE49-F238E27FC236}">
                <ns2:creationId id="{4D0E283E-C230-434E-B3C4-87A2DC7E5F5C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合并重复观测">
            <a:extLst>
              <a:ext uri="{FF2B5EF4-FFF2-40B4-BE49-F238E27FC236}">
                <ns2:creationId id="{76FB68D6-5CB7-4220-BEA1-C29FB3F95689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合并重复观测</a:t>
            </a:r>
          </a:p>
        </p:txBody>
      </p:sp>
      <p:sp>
        <p:nvSpPr>
          <p:cNvPr id="12" name="按空间与视觉匹配维护全局物体ID，&#10;融合点云、类别与图像，A">
            <a:extLst>
              <a:ext uri="{FF2B5EF4-FFF2-40B4-BE49-F238E27FC236}">
                <ns2:creationId id="{10EB816A-09AE-4A97-99D0-AB7B56C27ED6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按空间与视觉匹配维护全局物体ID，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融合点云、类别与图像，AVU补充词表。</a:t>
            </a:r>
          </a:p>
        </p:txBody>
      </p:sp>
      <p:sp>
        <p:nvSpPr>
          <p:cNvPr id="13" name="03">
            <a:extLst>
              <a:ext uri="{FF2B5EF4-FFF2-40B4-BE49-F238E27FC236}">
                <ns2:creationId id="{DA98F5B4-C296-41ED-8A89-BB948E553EF5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按当前目标读取">
            <a:extLst>
              <a:ext uri="{FF2B5EF4-FFF2-40B4-BE49-F238E27FC236}">
                <ns2:creationId id="{E053696D-E143-4E48-BC52-61DB47BB30B0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按当前目标读取</a:t>
            </a:r>
          </a:p>
        </p:txBody>
      </p:sp>
      <p:sp>
        <p:nvSpPr>
          <p:cNvPr id="15" name="KSS筛选相关子图及覆盖关系的图像。&#10;VLM结合前沿与历史决">
            <a:extLst>
              <a:ext uri="{FF2B5EF4-FFF2-40B4-BE49-F238E27FC236}">
                <ns2:creationId id="{E1882C03-F18B-44F8-A884-515CF3391403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KSS筛选相关子图及覆盖关系的图像。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VLM结合前沿与历史决策判断下一步。</a:t>
            </a:r>
          </a:p>
        </p:txBody>
      </p:sp>
      <p:sp>
        <p:nvSpPr>
          <p:cNvPr id="16" name="04">
            <a:extLst>
              <a:ext uri="{FF2B5EF4-FFF2-40B4-BE49-F238E27FC236}">
                <ns2:creationId id="{9253536C-5C7A-41FF-BC75-8C1FA05E86B0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转换为导航子目标">
            <a:extLst>
              <a:ext uri="{FF2B5EF4-FFF2-40B4-BE49-F238E27FC236}">
                <ns2:creationId id="{560CB552-A075-4354-A69B-7BBD37FD0875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转换为导航子目标</a:t>
            </a:r>
          </a:p>
        </p:txBody>
      </p:sp>
      <p:sp>
        <p:nvSpPr>
          <p:cNvPr id="18" name="未找到目标则前往选定探索前沿。&#10;找到后，VVD选择看得清目标">
            <a:extLst>
              <a:ext uri="{FF2B5EF4-FFF2-40B4-BE49-F238E27FC236}">
                <ns2:creationId id="{C5CBAEC1-9FC5-42E5-98E6-5FA3B5C2D1E2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未找到目标则前往选定探索前沿。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找到后，VVD选择看得清目标的视点。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71401EAB-1434-4493-B309-BE12F26060FF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来源：MSGNav，第3.2–3.3节，图3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F9C4764B-070F-4826-82B7-CEFC49EEE76E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ns4:creationId val="1073177583"/>
      </p:ext>
    </p:extLst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用特征向量传递外观与几何信息，学习目标与实体的决策关系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用特征向量传递外观与几何信息，学习目标与实体的决策关系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编码空间实体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编码空间实体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把物体、区域与前沿表示成连续特征向量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把物体、区域与前沿表示成连续特征向量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对齐目标与特征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对齐目标与特征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通过投影、注意力或查询解码接入决策模型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通过投影、注意力或查询解码接入决策模型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联合评分或生成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联合评分或生成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对候选打分，或生成下一目标与移动位置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对候选打分，或生成下一目标与移动位置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更新环境特征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更新环境特征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执行后合并新观测，刷新对象库与前沿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执行后合并新观测，刷新对象库与前沿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SoftNav空间soft tokens，MT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类内实现：SoftNav空间soft tokens，MTU3D查询评分，D3D-VLP三维tokens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保留丰富连续信息。限制：含义较难直接解释，依赖编码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收益：保留丰富连续信息。限制：含义较难直接解释，依赖编码器和训练分布。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D5C3E7F6-CC4B-4B1E-A218-E97720FA0418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SoftNav：三维特征的soft-token接口</a:t>
            </a:r>
          </a:p>
        </p:txBody>
      </p:sp>
      <p:sp>
        <p:nvSpPr>
          <p:cNvPr id="2" name="将物体与探索前沿的连续向量接入视觉语言模型">
            <a:extLst>
              <a:ext uri="{FF2B5EF4-FFF2-40B4-BE49-F238E27FC236}">
                <ns2:creationId id="{FF04DBDB-A4C1-4AF4-8ED1-D827AA62DE97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将物体与探索前沿的连续向量接入视觉语言模型</a:t>
            </a:r>
          </a:p>
        </p:txBody>
      </p:sp>
      <p:sp>
        <p:nvSpPr>
          <p:cNvPr id="3" name="图2上半部分：空间与视觉特征编码">
            <a:extLst>
              <a:ext uri="{FF2B5EF4-FFF2-40B4-BE49-F238E27FC236}">
                <ns2:creationId id="{1F6F797F-AE49-4EEE-A912-D55F640545D8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图2上半部分：空间与视觉特征编码</a:t>
            </a:r>
          </a:p>
        </p:txBody>
      </p:sp>
      <p:pic>
        <p:nvPicPr>
          <p:cNvPr id="4" name="">
            <a:extLst>
              <a:ext uri="{FF2B5EF4-FFF2-40B4-BE49-F238E27FC236}">
                <ns2:creationId id="{C68709E3-1D7A-4DDE-B544-A2A18D4A4CA9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863445"/>
            <a:ext cx="5257800" cy="1569261"/>
          </a:xfrm>
          <a:prstGeom prst="rect">
            <a:avLst/>
          </a:prstGeom>
        </p:spPr>
      </p:pic>
      <p:sp>
        <p:nvSpPr>
          <p:cNvPr id="5" name="三维实体向量直接映射到VLM输入。&#10;视觉分支另保留最近16帧">
            <a:extLst>
              <a:ext uri="{FF2B5EF4-FFF2-40B4-BE49-F238E27FC236}">
                <ns2:creationId id="{943FA321-6F95-4FFC-965B-DB619DFAB3BB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三维实体向量直接映射到VLM输入。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视觉分支另保留最近16帧的压缩历史。</a:t>
            </a:r>
          </a:p>
        </p:txBody>
      </p:sp>
      <p:sp>
        <p:nvSpPr>
          <p:cNvPr id="6" name="每个三维实体对应一个soft token">
            <a:extLst>
              <a:ext uri="{FF2B5EF4-FFF2-40B4-BE49-F238E27FC236}">
                <ns2:creationId id="{E654AE8F-F8BF-43E6-A3DC-5E1760129282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每个三维实体对应一个soft token</a:t>
            </a:r>
          </a:p>
        </p:txBody>
      </p:sp>
      <p:sp>
        <p:nvSpPr>
          <p:cNvPr id="7" name="01">
            <a:extLst>
              <a:ext uri="{FF2B5EF4-FFF2-40B4-BE49-F238E27FC236}">
                <ns2:creationId id="{EAD78228-DFB7-4C12-A763-C512CF32CE63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编码空间实体">
            <a:extLst>
              <a:ext uri="{FF2B5EF4-FFF2-40B4-BE49-F238E27FC236}">
                <ns2:creationId id="{329EB21E-6954-4EC4-BD49-FCAE24E1F4F9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编码空间实体</a:t>
            </a:r>
          </a:p>
        </p:txBody>
      </p:sp>
      <p:sp>
        <p:nvSpPr>
          <p:cNvPr id="9" name="PQ3D为物体和前沿生成768维向量。&#10;视觉分支将近期图像压">
            <a:extLst>
              <a:ext uri="{FF2B5EF4-FFF2-40B4-BE49-F238E27FC236}">
                <ns2:creationId id="{7103F77F-82F9-4205-8DF2-E2F2701E07AC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PQ3D为物体和前沿生成768维向量。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视觉分支将近期图像压为每帧15 tokens。</a:t>
            </a:r>
          </a:p>
        </p:txBody>
      </p:sp>
      <p:sp>
        <p:nvSpPr>
          <p:cNvPr id="10" name="02">
            <a:extLst>
              <a:ext uri="{FF2B5EF4-FFF2-40B4-BE49-F238E27FC236}">
                <ns2:creationId id="{0847EB98-7010-44CE-85C1-B97FE30AEF2A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对齐目标与特征">
            <a:extLst>
              <a:ext uri="{FF2B5EF4-FFF2-40B4-BE49-F238E27FC236}">
                <ns2:creationId id="{C0512564-CA56-4F0C-9ABE-9D013EDBE306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对齐目标与特征</a:t>
            </a:r>
          </a:p>
        </p:txBody>
      </p:sp>
      <p:sp>
        <p:nvSpPr>
          <p:cNvPr id="12" name="MLP将768维空间向量投影到2048维，&#10;形成可与任务文本">
            <a:extLst>
              <a:ext uri="{FF2B5EF4-FFF2-40B4-BE49-F238E27FC236}">
                <ns2:creationId id="{4D7C5B7E-244E-49D2-8495-8358FFB85A5F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MLP将768维空间向量投影到2048维，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形成可与任务文本共同处理的soft tokens。</a:t>
            </a:r>
          </a:p>
        </p:txBody>
      </p:sp>
      <p:sp>
        <p:nvSpPr>
          <p:cNvPr id="13" name="03">
            <a:extLst>
              <a:ext uri="{FF2B5EF4-FFF2-40B4-BE49-F238E27FC236}">
                <ns2:creationId id="{7C9087F7-E8AF-4D92-AA88-F48A858EE4B4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联合评分或生成">
            <a:extLst>
              <a:ext uri="{FF2B5EF4-FFF2-40B4-BE49-F238E27FC236}">
                <ns2:creationId id="{E58AF3CF-028C-4811-B8C9-50E6A8128155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联合评分或生成</a:t>
            </a:r>
          </a:p>
        </p:txBody>
      </p:sp>
      <p:sp>
        <p:nvSpPr>
          <p:cNvPr id="15" name="空间tokens、近期图像与指令共同输入，&#10;VLM生成下一探">
            <a:extLst>
              <a:ext uri="{FF2B5EF4-FFF2-40B4-BE49-F238E27FC236}">
                <ns2:creationId id="{7E110345-0479-42E7-A854-9FDD8FCD0647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空间tokens、近期图像与指令共同输入，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VLM生成下一探索坐标，下页展开决策。</a:t>
            </a:r>
          </a:p>
        </p:txBody>
      </p:sp>
      <p:sp>
        <p:nvSpPr>
          <p:cNvPr id="16" name="04">
            <a:extLst>
              <a:ext uri="{FF2B5EF4-FFF2-40B4-BE49-F238E27FC236}">
                <ns2:creationId id="{2B891CE6-987A-4502-938B-282EBC8FAE80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更新环境特征">
            <a:extLst>
              <a:ext uri="{FF2B5EF4-FFF2-40B4-BE49-F238E27FC236}">
                <ns2:creationId id="{488A7F85-3766-468C-AFBF-9BE48131EE9C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更新环境特征</a:t>
            </a:r>
          </a:p>
        </p:txBody>
      </p:sp>
      <p:sp>
        <p:nvSpPr>
          <p:cNvPr id="18" name="移动后更新物体库、占据地图与前沿，&#10;视觉记忆滚动保留最近16">
            <a:extLst>
              <a:ext uri="{FF2B5EF4-FFF2-40B4-BE49-F238E27FC236}">
                <ns2:creationId id="{899FC32A-FE3F-436A-B908-6B9866199ECE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移动后更新物体库、占据地图与前沿，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视觉记忆滚动保留最近16帧。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89017E14-2776-4A59-8079-00DC6E6EC048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来源：SoftNav，第III节，图2上半部分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EF029D33-E39B-4B73-B326-3F76411BC6DC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ns4:creationId val="57680155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AA1A731F-4A4F-4582-AE00-F1D96A67AD99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SoftNav：空间、视觉历史与语言联合决策</a:t>
            </a:r>
          </a:p>
        </p:txBody>
      </p:sp>
      <p:sp>
        <p:nvSpPr>
          <p:cNvPr id="2" name="延续连续空间特征的四步框架，展开融合与导航执行">
            <a:extLst>
              <a:ext uri="{FF2B5EF4-FFF2-40B4-BE49-F238E27FC236}">
                <ns2:creationId id="{F3387AED-C4A4-4CCF-84B9-6FDBB97C6485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延续连续空间特征的四步框架，展开融合与导航执行</a:t>
            </a:r>
          </a:p>
        </p:txBody>
      </p:sp>
      <p:sp>
        <p:nvSpPr>
          <p:cNvPr id="3" name="图2下半部分：联合注意力与前沿执行">
            <a:extLst>
              <a:ext uri="{FF2B5EF4-FFF2-40B4-BE49-F238E27FC236}">
                <ns2:creationId id="{E21D0C28-46BE-4A87-A3A3-A92463F4811E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图2下半部分：联合注意力与前沿执行</a:t>
            </a:r>
          </a:p>
        </p:txBody>
      </p:sp>
      <p:pic>
        <p:nvPicPr>
          <p:cNvPr id="4" name="">
            <a:extLst>
              <a:ext uri="{FF2B5EF4-FFF2-40B4-BE49-F238E27FC236}">
                <ns2:creationId id="{055D1075-0935-4B03-8A8B-2AF21FEC219B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796635"/>
            <a:ext cx="5257800" cy="1702881"/>
          </a:xfrm>
          <a:prstGeom prst="rect">
            <a:avLst/>
          </a:prstGeom>
        </p:spPr>
      </p:pic>
      <p:sp>
        <p:nvSpPr>
          <p:cNvPr id="5" name="视觉历史、空间tokens与语言共同决策。&#10;输出坐标需转换为">
            <a:extLst>
              <a:ext uri="{FF2B5EF4-FFF2-40B4-BE49-F238E27FC236}">
                <ns2:creationId id="{33B35935-A4EA-4CF6-AF5C-5E0343CBEEC8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视觉历史、空间tokens与语言共同决策。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输出坐标需转换为可到达的探索前沿。</a:t>
            </a:r>
          </a:p>
        </p:txBody>
      </p:sp>
      <p:sp>
        <p:nvSpPr>
          <p:cNvPr id="6" name="二维坐标输出使用三维环境证据">
            <a:extLst>
              <a:ext uri="{FF2B5EF4-FFF2-40B4-BE49-F238E27FC236}">
                <ns2:creationId id="{4347FC38-7D43-4161-801D-E3924A3B1A5A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二维坐标输出使用三维环境证据</a:t>
            </a:r>
          </a:p>
        </p:txBody>
      </p:sp>
      <p:sp>
        <p:nvSpPr>
          <p:cNvPr id="7" name="01">
            <a:extLst>
              <a:ext uri="{FF2B5EF4-FFF2-40B4-BE49-F238E27FC236}">
                <ns2:creationId id="{E6257F7A-A58B-4A4B-8F51-1EFADB0B1A60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编码空间实体">
            <a:extLst>
              <a:ext uri="{FF2B5EF4-FFF2-40B4-BE49-F238E27FC236}">
                <ns2:creationId id="{946FFEB4-2CA1-422B-A66A-A95426FB3CF3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编码空间实体</a:t>
            </a:r>
          </a:p>
        </p:txBody>
      </p:sp>
      <p:sp>
        <p:nvSpPr>
          <p:cNvPr id="9" name="沿用上页的物体、前沿与视觉历史，&#10;保留几何和语义信息供本轮决">
            <a:extLst>
              <a:ext uri="{FF2B5EF4-FFF2-40B4-BE49-F238E27FC236}">
                <ns2:creationId id="{FA902753-A8EA-415A-A3D7-9B7475C53EA7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沿用上页的物体、前沿与视觉历史，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保留几何和语义信息供本轮决策读取。</a:t>
            </a:r>
          </a:p>
        </p:txBody>
      </p:sp>
      <p:sp>
        <p:nvSpPr>
          <p:cNvPr id="10" name="02">
            <a:extLst>
              <a:ext uri="{FF2B5EF4-FFF2-40B4-BE49-F238E27FC236}">
                <ns2:creationId id="{90AF33EB-83AB-46E0-B007-A84B0C1CC492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对齐目标与特征">
            <a:extLst>
              <a:ext uri="{FF2B5EF4-FFF2-40B4-BE49-F238E27FC236}">
                <ns2:creationId id="{9A546FC5-AD8C-4FC3-8E14-BCA8A65EC30A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对齐目标与特征</a:t>
            </a:r>
          </a:p>
        </p:txBody>
      </p:sp>
      <p:sp>
        <p:nvSpPr>
          <p:cNvPr id="12" name="将投影后的空间tokens与图像、指令&#10;放入同一序列，通过注">
            <a:extLst>
              <a:ext uri="{FF2B5EF4-FFF2-40B4-BE49-F238E27FC236}">
                <ns2:creationId id="{4495EBC8-1A2D-4872-B054-EC3BFC6D10BF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将投影后的空间tokens与图像、指令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放入同一序列，通过注意力融合。</a:t>
            </a:r>
          </a:p>
        </p:txBody>
      </p:sp>
      <p:sp>
        <p:nvSpPr>
          <p:cNvPr id="13" name="03">
            <a:extLst>
              <a:ext uri="{FF2B5EF4-FFF2-40B4-BE49-F238E27FC236}">
                <ns2:creationId id="{2D9B099D-786B-4F80-8B84-BA5ABD611C0F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联合评分或生成">
            <a:extLst>
              <a:ext uri="{FF2B5EF4-FFF2-40B4-BE49-F238E27FC236}">
                <ns2:creationId id="{7A84BD25-7AFA-4ED4-8CBF-4C87E3FCDBAD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联合评分或生成</a:t>
            </a:r>
          </a:p>
        </p:txBody>
      </p:sp>
      <p:sp>
        <p:nvSpPr>
          <p:cNvPr id="15" name="生成二维坐标，吸附至合格前沿，&#10;再交由局部导航器执行移动。">
            <a:extLst>
              <a:ext uri="{FF2B5EF4-FFF2-40B4-BE49-F238E27FC236}">
                <ns2:creationId id="{DF848AF0-ABA4-4D69-8395-0BCEDA0AB977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生成二维坐标，吸附至合格前沿，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再交由局部导航器执行移动。</a:t>
            </a:r>
          </a:p>
        </p:txBody>
      </p:sp>
      <p:sp>
        <p:nvSpPr>
          <p:cNvPr id="16" name="04">
            <a:extLst>
              <a:ext uri="{FF2B5EF4-FFF2-40B4-BE49-F238E27FC236}">
                <ns2:creationId id="{09F685EB-CE55-4384-9AD1-E89EB1983CD3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更新环境特征">
            <a:extLst>
              <a:ext uri="{FF2B5EF4-FFF2-40B4-BE49-F238E27FC236}">
                <ns2:creationId id="{C578EE45-CE9D-4DFF-8FC8-D0CB25E236C8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更新环境特征</a:t>
            </a:r>
          </a:p>
        </p:txBody>
      </p:sp>
      <p:sp>
        <p:nvSpPr>
          <p:cNvPr id="18" name="新观测刷新物体库、前沿与近期历史。&#10;当前沿为空时，触发恢复探">
            <a:extLst>
              <a:ext uri="{FF2B5EF4-FFF2-40B4-BE49-F238E27FC236}">
                <ns2:creationId id="{3084BF34-5285-4B5C-BAA4-8D78FF57DFC5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新观测刷新物体库、前沿与近期历史。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当前沿为空时，触发恢复探索流程。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D3F1E24B-465D-46F4-9F4B-B5BDEC34A0FE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来源：SoftNav，第III节，图2下半部分及算法1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87CABCD8-62BF-453F-9DAD-09D34AEE965A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ns4:creationId val="666859892"/>
      </p:ext>
    </p:extLst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环境表征：OVON与ObjectNav结果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2057400"/>
          <a:ext cx="10820400" cy="38100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Val，6类别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：每划分120 episodes、0"/>
          <p:cNvSpPr>
            <a:spLocks noGrp="1"/>
          </p:cNvSpPr>
          <p:nvPr/>
        </p:nvSpPr>
        <p:spPr>
          <a:xfrm>
            <a:off x="685800" y="60007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SoftNav：每划分120 episodes、0.25 m。MSGNav：HM3D-ObjNav为1000 episodes、1 m。两者属于不同任务设置。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表II；MSGNav 表2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环境表征：GOAT与SG3D结果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885950"/>
          <a:ext cx="10820400" cy="40290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338 episodes / 1351子任务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 / 16.6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的GOAT每划分30 episode"/>
          <p:cNvSpPr>
            <a:spLocks noGrp="1"/>
          </p:cNvSpPr>
          <p:nvPr/>
        </p:nvSpPr>
        <p:spPr>
          <a:xfrm>
            <a:off x="685800" y="601980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SoftNav的GOAT每划分30 episodes，MSGNav为360 episodes。SG3D的s/t分别表示子任务／整任务SR。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表III–IV；MSGNav 表1。SPL最高报告值与SR最高报告值分别保留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有限上下文中怎样利用过去见过的环境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研究问题：有限上下文中怎样利用过去见过的环境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观察历史的压缩与重放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保留图像或视觉tokens，&#10;本次决策重新读取历史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保留图像或视觉tokens，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本次决策重新读取历史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递归状态与缓存更新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保留可更新的内部状态，&#10;新观测增量读写历史缓存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保留可更新的内部状态，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新观测增量读写历史缓存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27622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straNav按论文1 m判据；JanusVLN为额外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AstraNav按论文1 m判据；JanusVLN为额外数据版、单RGB。目标搜索与路线指令任务分别展示。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保存可再次读取的视觉经历，在当前决策中提供历史上下文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保存可再次读取的视觉经历，在当前决策中提供历史上下文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保存观察与位置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保存观察与位置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存储图像或已编码视觉tokens，必要时关联位姿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存储图像或已编码视觉tokens，必要时关联位姿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控制历史信息量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控制历史信息量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减少每帧tokens、分级压缩或合并相似观察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减少每帧tokens、分级压缩或合并相似观察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重放选取的历史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重放选取的历史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与当前观测及目标共同输入本次决策模型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与当前观测及目标共同输入本次决策模型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利用过去出现的目标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利用过去出现的目标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后续任务重读经历，减少重复探索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后续任务重读经历，减少重复探索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AstraNav每帧压缩，Uni-NaVid分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类内实现：AstraNav每帧压缩，Uni-NaVid分级历史，SoftNav近期窗口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可复用视觉经历。限制：历史越长成本越高，强压缩会损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收益：可复用视觉经历。限制：历史越长成本越高，强压缩会损失细节。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7976FD91-2F02-4782-807B-D51344BA3D3C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AstraNav：压缩后读取长期历史</a:t>
            </a:r>
          </a:p>
        </p:txBody>
      </p:sp>
      <p:sp>
        <p:nvSpPr>
          <p:cNvPr id="2" name="将图像与位姿保留在上下文中，供后续目标重复读取">
            <a:extLst>
              <a:ext uri="{FF2B5EF4-FFF2-40B4-BE49-F238E27FC236}">
                <ns2:creationId id="{0AE9D562-52CF-475C-8E5C-1BE0A94D9472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将图像与位姿保留在上下文中，供后续目标重复读取</a:t>
            </a:r>
          </a:p>
        </p:txBody>
      </p:sp>
      <p:sp>
        <p:nvSpPr>
          <p:cNvPr id="3" name="压缩视觉经历，再与位姿共同重放">
            <a:extLst>
              <a:ext uri="{FF2B5EF4-FFF2-40B4-BE49-F238E27FC236}">
                <ns2:creationId id="{5DF473BB-F0D5-4463-B28C-67ABB1A38794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压缩视觉经历，再与位姿共同重放</a:t>
            </a:r>
          </a:p>
        </p:txBody>
      </p:sp>
      <p:pic>
        <p:nvPicPr>
          <p:cNvPr id="4" name="">
            <a:extLst>
              <a:ext uri="{FF2B5EF4-FFF2-40B4-BE49-F238E27FC236}">
                <ns2:creationId id="{8BBEDEFF-1F76-4421-BA59-E2CABCF18EF2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527226"/>
            <a:ext cx="5257800" cy="2241698"/>
          </a:xfrm>
          <a:prstGeom prst="rect">
            <a:avLst/>
          </a:prstGeom>
        </p:spPr>
      </p:pic>
      <p:sp>
        <p:nvSpPr>
          <p:cNvPr id="5" name="主配置每帧视觉tokens从598减为30。&#10;图像与对应位姿">
            <a:extLst>
              <a:ext uri="{FF2B5EF4-FFF2-40B4-BE49-F238E27FC236}">
                <ns2:creationId id="{9EF360AE-135A-423C-AB72-3645BA5CDD3D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主配置每帧视觉tokens从598减为30。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图像与对应位姿共同支持位置推断。</a:t>
            </a:r>
          </a:p>
        </p:txBody>
      </p:sp>
      <p:sp>
        <p:nvSpPr>
          <p:cNvPr id="6" name="压缩历史可以跨子任务复用">
            <a:extLst>
              <a:ext uri="{FF2B5EF4-FFF2-40B4-BE49-F238E27FC236}">
                <ns2:creationId id="{0346BE8A-5DA3-4AA5-A38D-CAAE5C294042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压缩历史可以跨子任务复用</a:t>
            </a:r>
          </a:p>
        </p:txBody>
      </p:sp>
      <p:sp>
        <p:nvSpPr>
          <p:cNvPr id="7" name="01">
            <a:extLst>
              <a:ext uri="{FF2B5EF4-FFF2-40B4-BE49-F238E27FC236}">
                <ns2:creationId id="{7C265391-490F-48EB-AA42-D2E3EB889750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保存观察与位置">
            <a:extLst>
              <a:ext uri="{FF2B5EF4-FFF2-40B4-BE49-F238E27FC236}">
                <ns2:creationId id="{160962AC-F8DA-4005-B02B-BAABAB4D55B6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保存观察与位置</a:t>
            </a:r>
          </a:p>
        </p:txBody>
      </p:sp>
      <p:sp>
        <p:nvSpPr>
          <p:cNvPr id="9" name="按时间保留RGB图像及相机位姿，&#10;将每个位姿与对应图像成对组">
            <a:extLst>
              <a:ext uri="{FF2B5EF4-FFF2-40B4-BE49-F238E27FC236}">
                <ns2:creationId id="{902A5690-C8D2-46CC-B438-AE8CCFEB3546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按时间保留RGB图像及相机位姿，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将每个位姿与对应图像成对组织。</a:t>
            </a:r>
          </a:p>
        </p:txBody>
      </p:sp>
      <p:sp>
        <p:nvSpPr>
          <p:cNvPr id="10" name="02">
            <a:extLst>
              <a:ext uri="{FF2B5EF4-FFF2-40B4-BE49-F238E27FC236}">
                <ns2:creationId id="{EAC1609B-6529-415F-882A-E8E86773CDF2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控制历史信息量">
            <a:extLst>
              <a:ext uri="{FF2B5EF4-FFF2-40B4-BE49-F238E27FC236}">
                <ns2:creationId id="{1238B989-99C0-4D63-BBEE-D67768E9E0FB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控制历史信息量</a:t>
            </a:r>
          </a:p>
        </p:txBody>
      </p:sp>
      <p:sp>
        <p:nvSpPr>
          <p:cNvPr id="12" name="DINOv3与可训练压缩器提取视觉信息，&#10;主配置每帧由598">
            <a:extLst>
              <a:ext uri="{FF2B5EF4-FFF2-40B4-BE49-F238E27FC236}">
                <ns2:creationId id="{3333B29A-4A45-4F7C-BEE0-31F3F778E8F4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DINOv3与可训练压缩器提取视觉信息，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主配置每帧由598个tokens压为30个。</a:t>
            </a:r>
          </a:p>
        </p:txBody>
      </p:sp>
      <p:sp>
        <p:nvSpPr>
          <p:cNvPr id="13" name="03">
            <a:extLst>
              <a:ext uri="{FF2B5EF4-FFF2-40B4-BE49-F238E27FC236}">
                <ns2:creationId id="{5A382DB1-95FE-47E3-83C7-1BC0C076B98A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重放选取的历史">
            <a:extLst>
              <a:ext uri="{FF2B5EF4-FFF2-40B4-BE49-F238E27FC236}">
                <ns2:creationId id="{4B49DC5C-535A-4CD1-9E60-FE5051C2067D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重放选取的历史</a:t>
            </a:r>
          </a:p>
        </p:txBody>
      </p:sp>
      <p:sp>
        <p:nvSpPr>
          <p:cNvPr id="15" name="将压缩图像、位姿文本及当前指令&#10;重新送入VLM，生成目标或前">
            <a:extLst>
              <a:ext uri="{FF2B5EF4-FFF2-40B4-BE49-F238E27FC236}">
                <ns2:creationId id="{D074A1F3-6EF9-4DB3-84BA-37A06618533D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将压缩图像、位姿文本及当前指令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重新送入VLM，生成目标或前沿坐标。</a:t>
            </a:r>
          </a:p>
        </p:txBody>
      </p:sp>
      <p:sp>
        <p:nvSpPr>
          <p:cNvPr id="16" name="04">
            <a:extLst>
              <a:ext uri="{FF2B5EF4-FFF2-40B4-BE49-F238E27FC236}">
                <ns2:creationId id="{B1064A46-62B7-43AC-ABEA-0CA4DB6D2300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利用过去出现的目标">
            <a:extLst>
              <a:ext uri="{FF2B5EF4-FFF2-40B4-BE49-F238E27FC236}">
                <ns2:creationId id="{6A0B965B-A674-47B2-B9BE-78725CF9354D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利用过去出现的目标</a:t>
            </a:r>
          </a:p>
        </p:txBody>
      </p:sp>
      <p:sp>
        <p:nvSpPr>
          <p:cNvPr id="18" name="连续子任务保留环境状态与视觉经历。&#10;后续目标已出现时，利用历">
            <a:extLst>
              <a:ext uri="{FF2B5EF4-FFF2-40B4-BE49-F238E27FC236}">
                <ns2:creationId id="{1AB6DAD0-2830-4FCD-B8A5-31F856306E24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连续子任务保留环境状态与视觉经历。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后续目标已出现时，利用历史推断位置。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902DFEB8-EA82-4B44-B7A0-42FCD5D3C21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来源：AstraNav-Memory，第3节，图2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C5BDCC93-8127-448B-AEFA-B25319DCD64C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ns4:creationId val="1603928499"/>
      </p:ext>
    </p:extLst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把历史保留在跨步更新的状态中，每次只增量处理新观察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把历史保留在跨步更新的状态中，每次只增量处理新观察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读取历史状态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读取历史状态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当前帧查询已保存的几何特征或Key／Value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当前帧查询已保存的几何特征或Key／Value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写入当前观察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写入当前观察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新特征进入状态，供后续导航步使用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新特征进入状态，供后续导航步使用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维护有限容量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维护有限容量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保留初始锚点与近期窗口，移除中间历史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保留初始锚点与近期窗口，移除中间历史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融合当前决策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融合当前决策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将历史增强的空间特征与语义、指令结合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将历史增强的空间特征与语义、指令结合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KV缓存是跨步状态的一种实现，视觉特征缓存与语言模型KV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KV缓存是跨步状态的一种实现，视觉特征缓存与语言模型KV需分别说明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减少旧观察的重复编码。限制：窗口会遗忘，旧状态误差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收益：减少旧观察的重复编码。限制：窗口会遗忘，旧状态误差可能继续传播。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F757145C-901A-47C2-859F-34C38721F98A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JanusVLN：语义历史与流式几何缓存</a:t>
            </a:r>
          </a:p>
        </p:txBody>
      </p:sp>
      <p:sp>
        <p:nvSpPr>
          <p:cNvPr id="2" name="以跨步VGGT缓存增量读取几何历史，并融合语义决策">
            <a:extLst>
              <a:ext uri="{FF2B5EF4-FFF2-40B4-BE49-F238E27FC236}">
                <ns2:creationId id="{6E97818D-E0B8-426A-94D7-8FFFB37839C9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以跨步VGGT缓存增量读取几何历史，并融合语义决策</a:t>
            </a:r>
          </a:p>
        </p:txBody>
      </p:sp>
      <p:sp>
        <p:nvSpPr>
          <p:cNvPr id="3" name="公开评测：几何缓存与语义图像重放">
            <a:extLst>
              <a:ext uri="{FF2B5EF4-FFF2-40B4-BE49-F238E27FC236}">
                <ns2:creationId id="{D5F31099-3A4F-4EAA-AD4F-9C5232B7B9BB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公开评测：几何缓存与语义图像重放</a:t>
            </a:r>
          </a:p>
        </p:txBody>
      </p:sp>
      <p:pic>
        <p:nvPicPr>
          <p:cNvPr id="4" name="">
            <a:extLst>
              <a:ext uri="{FF2B5EF4-FFF2-40B4-BE49-F238E27FC236}">
                <ns2:creationId id="{359BED67-27B2-4EA9-B260-034F89DA6830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62390" y="2209800"/>
            <a:ext cx="5152221" cy="2876550"/>
          </a:xfrm>
          <a:prstGeom prst="rect">
            <a:avLst/>
          </a:prstGeom>
        </p:spPr>
      </p:pic>
      <p:sp>
        <p:nvSpPr>
          <p:cNvPr id="5" name="几何分支跨步保留VGGT的KV缓存。&#10;语义分支每步重放采样历">
            <a:extLst>
              <a:ext uri="{FF2B5EF4-FFF2-40B4-BE49-F238E27FC236}">
                <ns2:creationId id="{5856FD54-E7A1-47AE-BB8B-E66525188138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几何分支跨步保留VGGT的KV缓存。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语义分支每步重放采样历史，最多9张。</a:t>
            </a:r>
          </a:p>
        </p:txBody>
      </p:sp>
      <p:sp>
        <p:nvSpPr>
          <p:cNvPr id="6" name="两路历史采用不同的读取方式">
            <a:extLst>
              <a:ext uri="{FF2B5EF4-FFF2-40B4-BE49-F238E27FC236}">
                <ns2:creationId id="{29FE0225-20F4-4516-91A9-A969135DB792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两路历史采用不同的读取方式</a:t>
            </a:r>
          </a:p>
        </p:txBody>
      </p:sp>
      <p:sp>
        <p:nvSpPr>
          <p:cNvPr id="7" name="01">
            <a:extLst>
              <a:ext uri="{FF2B5EF4-FFF2-40B4-BE49-F238E27FC236}">
                <ns2:creationId id="{1158C5DF-F171-44E7-8783-00D7EEB3E0D9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读取历史状态">
            <a:extLst>
              <a:ext uri="{FF2B5EF4-FFF2-40B4-BE49-F238E27FC236}">
                <ns2:creationId id="{E3CDA893-39A1-4C91-B97C-00E834617C53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读取历史状态</a:t>
            </a:r>
          </a:p>
        </p:txBody>
      </p:sp>
      <p:sp>
        <p:nvSpPr>
          <p:cNvPr id="9" name="当前RGB在VGGT中生成Query，&#10;读取历史及当前帧的K">
            <a:extLst>
              <a:ext uri="{FF2B5EF4-FFF2-40B4-BE49-F238E27FC236}">
                <ns2:creationId id="{60CD4957-9EDE-4AAF-ABBD-F86F73EA1C3D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当前RGB在VGGT中生成Query，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读取历史及当前帧的Key与Value。</a:t>
            </a:r>
          </a:p>
        </p:txBody>
      </p:sp>
      <p:sp>
        <p:nvSpPr>
          <p:cNvPr id="10" name="02">
            <a:extLst>
              <a:ext uri="{FF2B5EF4-FFF2-40B4-BE49-F238E27FC236}">
                <ns2:creationId id="{AFAF81FA-BC72-433D-B922-0E48027B42D3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写入当前观察">
            <a:extLst>
              <a:ext uri="{FF2B5EF4-FFF2-40B4-BE49-F238E27FC236}">
                <ns2:creationId id="{2749AE71-CD6B-4D03-B3CA-D55240BB8B67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写入当前观察</a:t>
            </a:r>
          </a:p>
        </p:txBody>
      </p:sp>
      <p:sp>
        <p:nvSpPr>
          <p:cNvPr id="12" name="为新帧计算几何表示并更新缓存，&#10;下一导航步继续读取已有几何信">
            <a:extLst>
              <a:ext uri="{FF2B5EF4-FFF2-40B4-BE49-F238E27FC236}">
                <ns2:creationId id="{9E4B3971-F968-4AD1-AA99-3DE8A0449114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为新帧计算几何表示并更新缓存，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下一导航步继续读取已有几何信息。</a:t>
            </a:r>
          </a:p>
        </p:txBody>
      </p:sp>
      <p:sp>
        <p:nvSpPr>
          <p:cNvPr id="13" name="03">
            <a:extLst>
              <a:ext uri="{FF2B5EF4-FFF2-40B4-BE49-F238E27FC236}">
                <ns2:creationId id="{03DF341A-A01A-4C17-ADF4-D3C557E8F2E3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维护有限容量">
            <a:extLst>
              <a:ext uri="{FF2B5EF4-FFF2-40B4-BE49-F238E27FC236}">
                <ns2:creationId id="{62086A97-6419-4452-A0D8-A3A6DC50C29E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维护有限容量</a:t>
            </a:r>
          </a:p>
        </p:txBody>
      </p:sp>
      <p:sp>
        <p:nvSpPr>
          <p:cNvPr id="15" name="几何KV保留初始8帧与近期48帧，&#10;移除超出窗口的中间历史。">
            <a:extLst>
              <a:ext uri="{FF2B5EF4-FFF2-40B4-BE49-F238E27FC236}">
                <ns2:creationId id="{19978EC3-1466-48FF-88C6-459E97883B14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几何KV保留初始8帧与近期48帧，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移除超出窗口的中间历史。</a:t>
            </a:r>
          </a:p>
        </p:txBody>
      </p:sp>
      <p:sp>
        <p:nvSpPr>
          <p:cNvPr id="16" name="04">
            <a:extLst>
              <a:ext uri="{FF2B5EF4-FFF2-40B4-BE49-F238E27FC236}">
                <ns2:creationId id="{A4801363-4130-4792-993A-B78A716AA872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融合当前决策">
            <a:extLst>
              <a:ext uri="{FF2B5EF4-FFF2-40B4-BE49-F238E27FC236}">
                <ns2:creationId id="{B1C4EED4-4CD4-4A3C-9B08-89696646EF02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融合当前决策</a:t>
            </a:r>
          </a:p>
        </p:txBody>
      </p:sp>
      <p:sp>
        <p:nvSpPr>
          <p:cNvPr id="18" name="几何特征投影后与语义特征加权相加，&#10;连同指令生成前进、转向或">
            <a:extLst>
              <a:ext uri="{FF2B5EF4-FFF2-40B4-BE49-F238E27FC236}">
                <ns2:creationId id="{6EC13A6B-09A0-4C11-9023-0B5453F190AD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几何特征投影后与语义特征加权相加，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连同指令生成前进、转向或停止动作。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4D439A2F-A63F-4DC1-8681-F88B68EA7DC1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来源：JanusVLN，第3.2–3.3节，图2及公开实现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688FDE77-2727-4FD2-AB4C-8440F040C950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ns4:creationId val="223501290"/>
      </p:ext>
    </p:extLst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历史记忆：各benchmark与划分结果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28750"/>
          <a:ext cx="10820400" cy="46482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补充：JanusVLN另报OVON Val-Uns"/>
          <p:cNvSpPr>
            <a:spLocks noGrp="1"/>
          </p:cNvSpPr>
          <p:nvPr/>
        </p:nvSpPr>
        <p:spPr>
          <a:xfrm>
            <a:off x="685800" y="61531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补充：JanusVLN另报OVON Val-Unseen为44.9／31.7，评测细节披露有限，不与AstraNav作严格排名。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来源：AstraNav-Memory 表1–2；JanusVLN 表1–2及附录表6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目标尚未出现时，下一探索位置怎样选择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研究问题：目标尚未出现时，下一探索位置怎样选择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语义引导的前沿搜索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以未知区域边界为候选，&#10;按目标相关性选择下一位置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以未知区域边界为候选，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按目标相关性选择下一位置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同类方法的实现差异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同类方法的实现差异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地图赋值或图像前沿评分，&#10;可再结合信息增益与距离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地图赋值或图像前沿评分，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可再结合信息增益与距离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9243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Gibson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Synonyms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† 本方向仅一篇报告该benchmark或划分。VLFM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† 本方向仅一篇报告该benchmark或划分。VLFM的OVON结果来自基准论文重评，未报告项不补零。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先评价哪些未知区域值得探索，再将候选位置交给导航执行器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先评价哪些未知区域值得探索，再将候选位置交给导航执行器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产生探索候选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产生探索候选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从占据地图或当前图像中识别探索前沿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从占据地图或当前图像中识别探索前沿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评价目标相关性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评价目标相关性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用图文相似度或视觉语言模型评价搜索方向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用图文相似度或视觉语言模型评价搜索方向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权衡收益与代价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权衡收益与代价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结合信息增益、置信度或到达距离选子目标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结合信息增益、置信度或到达距离选子目标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移动后更新与核验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移动后更新与核验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更新观察和候选，发现疑似目标后再次确认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更新观察和候选，发现疑似目标后再次确认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VLFM与OpenFrontier共享“候选产生、语义评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VLFM与OpenFrontier共享“候选产生、语义评价、执行反馈”的方法链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复用预训练语义能力。限制：语义先验会误导，目标误检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收益：复用预训练语义能力。限制：语义先验会误导，目标误检与局部卡住仍会发生。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A4B738A5-2219-4F0D-B797-C5A891AE9D2E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OpenFrontier：在图像中评价探索方向</a:t>
            </a:r>
          </a:p>
        </p:txBody>
      </p:sp>
      <p:sp>
        <p:nvSpPr>
          <p:cNvPr id="2" name="结合语义相关性、未知空间收益与距离选择下一前沿">
            <a:extLst>
              <a:ext uri="{FF2B5EF4-FFF2-40B4-BE49-F238E27FC236}">
                <ns2:creationId id="{D2B14A54-1208-4614-84F1-4CBBCCB4F248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结合语义相关性、未知空间收益与距离选择下一前沿</a:t>
            </a:r>
          </a:p>
        </p:txBody>
      </p:sp>
      <p:sp>
        <p:nvSpPr>
          <p:cNvPr id="3" name="图像中的视觉前沿连接语义与导航">
            <a:extLst>
              <a:ext uri="{FF2B5EF4-FFF2-40B4-BE49-F238E27FC236}">
                <ns2:creationId id="{96DD016E-363E-47FE-AA77-5BDC09AE6E67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图像中的视觉前沿连接语义与导航</a:t>
            </a:r>
          </a:p>
        </p:txBody>
      </p:sp>
      <p:pic>
        <p:nvPicPr>
          <p:cNvPr id="4" name="">
            <a:extLst>
              <a:ext uri="{FF2B5EF4-FFF2-40B4-BE49-F238E27FC236}">
                <ns2:creationId id="{56A761FE-D675-41F5-89DE-417CB1F36513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809064"/>
            <a:ext cx="5257800" cy="1678021"/>
          </a:xfrm>
          <a:prstGeom prst="rect">
            <a:avLst/>
          </a:prstGeom>
        </p:spPr>
      </p:pic>
      <p:sp>
        <p:nvSpPr>
          <p:cNvPr id="5" name="FrontierNet提供探索收益先验。&#10;三维后端合并候选，">
            <a:extLst>
              <a:ext uri="{FF2B5EF4-FFF2-40B4-BE49-F238E27FC236}">
                <ns2:creationId id="{EC449443-E315-4EF3-977A-358758FB7C17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FrontierNet提供探索收益先验。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三维后端合并候选，维护全局前沿位置。</a:t>
            </a:r>
          </a:p>
        </p:txBody>
      </p:sp>
      <p:sp>
        <p:nvSpPr>
          <p:cNvPr id="6" name="VLM评价方向，执行器完成移动">
            <a:extLst>
              <a:ext uri="{FF2B5EF4-FFF2-40B4-BE49-F238E27FC236}">
                <ns2:creationId id="{F8263326-E6C0-4D59-87EF-B6B971413687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VLM评价方向，执行器完成移动</a:t>
            </a:r>
          </a:p>
        </p:txBody>
      </p:sp>
      <p:sp>
        <p:nvSpPr>
          <p:cNvPr id="7" name="01">
            <a:extLst>
              <a:ext uri="{FF2B5EF4-FFF2-40B4-BE49-F238E27FC236}">
                <ns2:creationId id="{7EA15452-677F-4279-A1B1-884730A0C427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产生探索候选">
            <a:extLst>
              <a:ext uri="{FF2B5EF4-FFF2-40B4-BE49-F238E27FC236}">
                <ns2:creationId id="{9EA9C4F2-6487-48CD-A006-6ADF4FF70E3D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产生探索候选</a:t>
            </a:r>
          </a:p>
        </p:txBody>
      </p:sp>
      <p:sp>
        <p:nvSpPr>
          <p:cNvPr id="9" name="FrontierNet在关键帧中检测视觉前沿，&#10;借助深度与位">
            <a:extLst>
              <a:ext uri="{FF2B5EF4-FFF2-40B4-BE49-F238E27FC236}">
                <ns2:creationId id="{FE51B1A8-A47C-4DFE-A32E-BD6E29DF74BA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FrontierNet在关键帧中检测视觉前沿，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借助深度与位姿将候选定位到三维。</a:t>
            </a:r>
          </a:p>
        </p:txBody>
      </p:sp>
      <p:sp>
        <p:nvSpPr>
          <p:cNvPr id="10" name="02">
            <a:extLst>
              <a:ext uri="{FF2B5EF4-FFF2-40B4-BE49-F238E27FC236}">
                <ns2:creationId id="{12B06E55-EECE-46DC-A282-A37C9EEB9105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评价目标相关性">
            <a:extLst>
              <a:ext uri="{FF2B5EF4-FFF2-40B4-BE49-F238E27FC236}">
                <ns2:creationId id="{5121C7FB-DAE0-4CAA-A0DE-B01414EEBA6C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评价目标相关性</a:t>
            </a:r>
          </a:p>
        </p:txBody>
      </p:sp>
      <p:sp>
        <p:nvSpPr>
          <p:cNvPr id="12" name="在RGB图像中标记各个前沿，&#10;VLM结合周围场景给出目标相关">
            <a:extLst>
              <a:ext uri="{FF2B5EF4-FFF2-40B4-BE49-F238E27FC236}">
                <ns2:creationId id="{12700A96-1893-4A14-8BD9-8CEF9A326210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在RGB图像中标记各个前沿，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VLM结合周围场景给出目标相关概率。</a:t>
            </a:r>
          </a:p>
        </p:txBody>
      </p:sp>
      <p:sp>
        <p:nvSpPr>
          <p:cNvPr id="13" name="03">
            <a:extLst>
              <a:ext uri="{FF2B5EF4-FFF2-40B4-BE49-F238E27FC236}">
                <ns2:creationId id="{E86A0299-F7E8-4230-A796-8812F96F9442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权衡收益与代价">
            <a:extLst>
              <a:ext uri="{FF2B5EF4-FFF2-40B4-BE49-F238E27FC236}">
                <ns2:creationId id="{17959F0B-DBA4-4681-8A0B-E624397DDFFD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权衡收益与代价</a:t>
            </a:r>
          </a:p>
        </p:txBody>
      </p:sp>
      <p:sp>
        <p:nvSpPr>
          <p:cNvPr id="15" name="将目标相关概率乘以预计信息增益，&#10;再考虑到达距离，选择效用较">
            <a:extLst>
              <a:ext uri="{FF2B5EF4-FFF2-40B4-BE49-F238E27FC236}">
                <ns2:creationId id="{BD58C4D9-3340-4D52-BF81-083EF6FD887D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将目标相关概率乘以预计信息增益，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再考虑到达距离，选择效用较高的前沿。</a:t>
            </a:r>
          </a:p>
        </p:txBody>
      </p:sp>
      <p:sp>
        <p:nvSpPr>
          <p:cNvPr id="16" name="04">
            <a:extLst>
              <a:ext uri="{FF2B5EF4-FFF2-40B4-BE49-F238E27FC236}">
                <ns2:creationId id="{BE4821B8-8710-4DA1-B7E7-A2419BB0C542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移动后更新与核验">
            <a:extLst>
              <a:ext uri="{FF2B5EF4-FFF2-40B4-BE49-F238E27FC236}">
                <ns2:creationId id="{93232394-F5F3-4CD6-BBEE-775770B97E2E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移动后更新与核验</a:t>
            </a:r>
          </a:p>
        </p:txBody>
      </p:sp>
      <p:sp>
        <p:nvSpPr>
          <p:cNvPr id="18" name="执行后合并、清理全局前沿候选。&#10;发现疑似目标后前往观察位姿，">
            <a:extLst>
              <a:ext uri="{FF2B5EF4-FFF2-40B4-BE49-F238E27FC236}">
                <ns2:creationId id="{0D295C5F-2DC2-4EB5-9FF8-D115CC829D06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执行后合并、清理全局前沿候选。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发现疑似目标后前往观察位姿，再核验。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30DC6AF9-CCE5-4D8C-A44C-BA8A663CDBFF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来源：OpenFrontier，第III节，图2及算法1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E4059D4D-9872-4A7D-967D-1343FBBC4E8A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  <p:extLst>
      <p:ext uri="{BB962C8B-B14F-4D97-AF65-F5344CB8AC3E}">
        <ns4:creationId val="1596307483"/>
      </p:ext>
    </p:extLst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前沿搜索的两种实现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714500"/>
          <a:ext cx="10820400" cy="4076700"/>
        </p:xfrm>
        <a:graphic>
          <a:graphicData uri="http://schemas.openxmlformats.org/drawingml/2006/table">
            <a:tbl>
              <a:tblPr firstRow="1"/>
              <a:tblGrid>
                <a:gridCol w="2190750"/>
                <a:gridCol w="4314825"/>
                <a:gridCol w="431482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候选来源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二维占据地图的前沿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RGB图像中的视觉前沿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语义评价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图文相似度投影到价值地图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VLM直接评价标记的前沿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跨视角组织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地图价值与置信度融合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三维前沿集合合并与清理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子目标选择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读取高价值前沿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相关性、信息增益与距离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发现疑似目标后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检测、分割与深度定位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前往观察位姿后VLM核验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空间属性：VLFM为二维地图；OpenFrontier结"/>
          <p:cNvSpPr>
            <a:spLocks noGrp="1"/>
          </p:cNvSpPr>
          <p:nvPr/>
        </p:nvSpPr>
        <p:spPr>
          <a:xfrm>
            <a:off x="685800" y="6048375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空间属性：VLFM为二维地图；OpenFrontier结合二维图像候选与三维位置管理。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整理自VLFM §IV和OpenFrontier §III。二者属于同一方法范式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示范监督与环境奖励怎样共同改进导航策略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研究问题：示范监督与环境奖励怎样共同改进导航策略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模仿学习与强化学习结合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先从示范建立决策能力，&#10;再或同时用奖励改进策略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先从示范建立决策能力，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再或同时用奖励改进策略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类内训练设计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类内训练设计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C／SFT与PPO／GRPO，&#10;辅助监督、权重与奖励设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BC／SFT与PPO／GRPO，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辅助监督、权重与奖励设计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9243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VON较高SR为OVSegDT，较高SPL为Compa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OVON较高SR为OVSegDT，较高SPL为CompassNav，分别保留整对数值。不同传感器与协议不作统一排名。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示范告诉策略怎样行动，奖励让策略比较行动带来的后果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示范告诉策略怎样行动，奖励让策略比较行动带来的后果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从示范学习决策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从示范学习决策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用专家动作或教师回答训练BC／SFT初始能力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用专家动作或教师回答训练BC／SFT初始能力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构建策略优化信号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构建策略优化信号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按导航进展、成功或候选动作质量给奖励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按导航进展、成功或候选动作质量给奖励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联合或分阶段优化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联合或分阶段优化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同时加权BC与PPO，或先SFT再GRPO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同时加权BC与PPO，或先SFT再GRPO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适应部署时的输入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适应部署时的输入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用预测掩码或可行动作候选缩小训练执行差异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用预测掩码或可行动作候选缩小训练执行差异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共同范式：示范监督与奖励优化结合。配比策略和奖励形状属于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共同范式：示范监督与奖励优化结合。配比策略和奖励形状属于类内设计。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利用示范并改进决策质量。限制：依赖示范覆盖、奖励质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收益：利用示范并改进决策质量。限制：依赖示范覆盖、奖励质量与训练预算。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19BEFB7A-40F0-4E9D-B582-918E35142540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OVSegDT：目标掩码怎样进入策略</a:t>
            </a:r>
          </a:p>
        </p:txBody>
      </p:sp>
      <p:sp>
        <p:nvSpPr>
          <p:cNvPr id="2" name="以目标掩码提供空间线索，结合示范监督与奖励优化">
            <a:extLst>
              <a:ext uri="{FF2B5EF4-FFF2-40B4-BE49-F238E27FC236}">
                <ns2:creationId id="{4C151319-5638-44F0-9A27-9E9BBB8E5DFA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以目标掩码提供空间线索，结合示范监督与奖励优化</a:t>
            </a:r>
          </a:p>
        </p:txBody>
      </p:sp>
      <p:sp>
        <p:nvSpPr>
          <p:cNvPr id="3" name="掩码条件策略与辅助分割监督">
            <a:extLst>
              <a:ext uri="{FF2B5EF4-FFF2-40B4-BE49-F238E27FC236}">
                <ns2:creationId id="{D078FCC9-EC23-4C86-A484-4898BB349CA4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掩码条件策略与辅助分割监督</a:t>
            </a:r>
          </a:p>
        </p:txBody>
      </p:sp>
      <p:pic>
        <p:nvPicPr>
          <p:cNvPr id="4" name="">
            <a:extLst>
              <a:ext uri="{FF2B5EF4-FFF2-40B4-BE49-F238E27FC236}">
                <ns2:creationId id="{9A4DE8F5-81C4-4CD6-9C7D-F699589B6222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1254896" y="2133600"/>
            <a:ext cx="3967209" cy="3143250"/>
          </a:xfrm>
          <a:prstGeom prst="rect">
            <a:avLst/>
          </a:prstGeom>
        </p:spPr>
      </p:pic>
      <p:sp>
        <p:nvSpPr>
          <p:cNvPr id="5" name="Transformer读取最近100步的输入。&#10;动作头输出策">
            <a:extLst>
              <a:ext uri="{FF2B5EF4-FFF2-40B4-BE49-F238E27FC236}">
                <ns2:creationId id="{FCACEC6F-A21A-4AEB-B3B2-78D1515D6E03}"/>
              </a:ext>
            </a:extLst>
          </p:cNvPr>
          <p:cNvSpPr>
            <a:spLocks noGrp="1"/>
          </p:cNvSpPr>
          <p:nvPr/>
        </p:nvSpPr>
        <p:spPr>
          <a:xfrm>
            <a:off x="609600" y="5400675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Transformer读取最近100步的输入。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动作头输出策略，价值头支持奖励优化。</a:t>
            </a:r>
          </a:p>
        </p:txBody>
      </p:sp>
      <p:sp>
        <p:nvSpPr>
          <p:cNvPr id="6" name="分割头重建掩码，提供训练辅助监督">
            <a:extLst>
              <a:ext uri="{FF2B5EF4-FFF2-40B4-BE49-F238E27FC236}">
                <ns2:creationId id="{92A2F210-4C56-4888-8DFC-E9F5074FEACC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分割头重建掩码，提供训练辅助监督</a:t>
            </a:r>
          </a:p>
        </p:txBody>
      </p:sp>
      <p:sp>
        <p:nvSpPr>
          <p:cNvPr id="7" name="01">
            <a:extLst>
              <a:ext uri="{FF2B5EF4-FFF2-40B4-BE49-F238E27FC236}">
                <ns2:creationId id="{72A97F1B-F530-4D4D-B630-A1D63B6E2462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从示范学习决策">
            <a:extLst>
              <a:ext uri="{FF2B5EF4-FFF2-40B4-BE49-F238E27FC236}">
                <ns2:creationId id="{6E8F8489-4595-4205-9E4A-E4B7A2936B05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从示范学习决策</a:t>
            </a:r>
          </a:p>
        </p:txBody>
      </p:sp>
      <p:sp>
        <p:nvSpPr>
          <p:cNvPr id="9" name="输入RGB、目标文本、上一动作及掩码，&#10;通过BC学习专家动作">
            <a:extLst>
              <a:ext uri="{FF2B5EF4-FFF2-40B4-BE49-F238E27FC236}">
                <ns2:creationId id="{0D362FC7-C8F1-4B7B-B37B-251D5BC3EA34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输入RGB、目标文本、上一动作及掩码，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通过BC学习专家动作与初始导航能力。</a:t>
            </a:r>
          </a:p>
        </p:txBody>
      </p:sp>
      <p:sp>
        <p:nvSpPr>
          <p:cNvPr id="10" name="02">
            <a:extLst>
              <a:ext uri="{FF2B5EF4-FFF2-40B4-BE49-F238E27FC236}">
                <ns2:creationId id="{ABD24648-0679-48C6-966F-F7C4712A0A65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构建策略优化信号">
            <a:extLst>
              <a:ext uri="{FF2B5EF4-FFF2-40B4-BE49-F238E27FC236}">
                <ns2:creationId id="{6AD36BE4-9745-4868-8DE8-A46F057C8A3E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构建策略优化信号</a:t>
            </a:r>
          </a:p>
        </p:txBody>
      </p:sp>
      <p:sp>
        <p:nvSpPr>
          <p:cNvPr id="12" name="导航奖励与语义奖励评价行动结果。&#10;价值头估计回报，辅助分割头">
            <a:extLst>
              <a:ext uri="{FF2B5EF4-FFF2-40B4-BE49-F238E27FC236}">
                <ns2:creationId id="{553158CA-97DF-4D86-9B6A-29773DD23B51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导航奖励与语义奖励评价行动结果。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价值头估计回报，辅助分割头重建掩码。</a:t>
            </a:r>
          </a:p>
        </p:txBody>
      </p:sp>
      <p:sp>
        <p:nvSpPr>
          <p:cNvPr id="13" name="03">
            <a:extLst>
              <a:ext uri="{FF2B5EF4-FFF2-40B4-BE49-F238E27FC236}">
                <ns2:creationId id="{FEEC2DCF-3CDF-4B59-A00F-CA21E4811B66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联合或分阶段优化">
            <a:extLst>
              <a:ext uri="{FF2B5EF4-FFF2-40B4-BE49-F238E27FC236}">
                <ns2:creationId id="{21724F4F-B801-441D-920F-40142F3C0074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联合或分阶段优化</a:t>
            </a:r>
          </a:p>
        </p:txBody>
      </p:sp>
      <p:sp>
        <p:nvSpPr>
          <p:cNvPr id="15" name="EALM根据策略熵动态调整BC与PPO权重，&#10;同时加入辅助分">
            <a:extLst>
              <a:ext uri="{FF2B5EF4-FFF2-40B4-BE49-F238E27FC236}">
                <ns2:creationId id="{FB6B8407-5739-4F2D-9809-68D3705B4049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EALM根据策略熵动态调整BC与PPO权重，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同时加入辅助分割损失。</a:t>
            </a:r>
          </a:p>
        </p:txBody>
      </p:sp>
      <p:sp>
        <p:nvSpPr>
          <p:cNvPr id="16" name="04">
            <a:extLst>
              <a:ext uri="{FF2B5EF4-FFF2-40B4-BE49-F238E27FC236}">
                <ns2:creationId id="{9BE38292-80FB-4D44-A946-9747F48D9E92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适应部署时的输入">
            <a:extLst>
              <a:ext uri="{FF2B5EF4-FFF2-40B4-BE49-F238E27FC236}">
                <ns2:creationId id="{3BA078A2-2D6E-43C7-8612-E5A1C9ED9A7F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适应部署时的输入</a:t>
            </a:r>
          </a:p>
        </p:txBody>
      </p:sp>
      <p:sp>
        <p:nvSpPr>
          <p:cNvPr id="18" name="真值掩码主训练后，改用YOLOE预测掩码&#10;微调策略，适应实际">
            <a:extLst>
              <a:ext uri="{FF2B5EF4-FFF2-40B4-BE49-F238E27FC236}">
                <ns2:creationId id="{2B832926-4D70-4871-8BC0-7FFD459D0DCC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真值掩码主训练后，改用YOLOE预测掩码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微调策略，适应实际感知中的错误。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CA7DE70F-165B-4AB7-8715-BDF3BDF0D47D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来源：OVSegDT，图2，第4.2–4.3节及训练设置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2C343086-D838-48CD-8598-899848002CA4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ns4:creationId val="413392533"/>
      </p:ext>
    </p:extLst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CompassNav：SFT之后用GRPO比较动作质量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14475"/>
          <a:ext cx="10820400" cy="2171700"/>
        </p:xfrm>
        <a:graphic>
          <a:graphicData uri="http://schemas.openxmlformats.org/drawingml/2006/table">
            <a:tbl>
              <a:tblPr firstRow="1"/>
              <a:tblGrid>
                <a:gridCol w="1905000"/>
                <a:gridCol w="4667250"/>
                <a:gridCol w="424815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训练阶段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学习信号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SFT初始化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教师分析与动作编号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建立基本决策能力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GRPO优化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候选动作的连续质量奖励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改进动作间的比较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差距感知奖励的作用"/>
          <p:cNvSpPr>
            <a:spLocks noGrp="1"/>
          </p:cNvSpPr>
          <p:nvPr/>
        </p:nvSpPr>
        <p:spPr>
          <a:xfrm>
            <a:off x="685800" y="4133850"/>
            <a:ext cx="10820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差距感知奖励的作用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85800" y="4591050"/>
          <a:ext cx="10820400" cy="1485900"/>
        </p:xfrm>
        <a:graphic>
          <a:graphicData uri="http://schemas.openxmlformats.org/drawingml/2006/table">
            <a:tbl>
              <a:tblPr firstRow="1"/>
              <a:tblGrid>
                <a:gridCol w="3476625"/>
                <a:gridCol w="7343775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候选动作关系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奖励倾向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最佳与次佳距离接近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给接近的连续评分，最优额外奖励较弱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最佳候选明显更好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加大最优候选的额外奖励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真实目标坐标仅用于训练标签；分析文字的正确性未被逐句监督"/>
          <p:cNvSpPr>
            <a:spLocks noGrp="1"/>
          </p:cNvSpPr>
          <p:nvPr/>
        </p:nvSpPr>
        <p:spPr>
          <a:xfrm>
            <a:off x="685800" y="6181725"/>
            <a:ext cx="10820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真实目标坐标仅用于训练标签；分析文字的正确性未被逐句监督验证。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来源：CompassNav §3–4、Fig.4及奖励公式。训练与推理可见信息分别说明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策略训练与优化：完整结果与统计口径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4171950"/>
                <a:gridCol w="2857500"/>
                <a:gridCol w="1895475"/>
                <a:gridCol w="18954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43.6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40.1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17.9 ± 0.1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表1设置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HM3D保留原表1／表2设置，不自行对应v1／v2"/>
          <p:cNvSpPr>
            <a:spLocks noGrp="1"/>
          </p:cNvSpPr>
          <p:nvPr/>
        </p:nvSpPr>
        <p:spPr>
          <a:xfrm>
            <a:off x="685800" y="6229350"/>
            <a:ext cx="10820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HM3D保留原表1／表2设置，不自行对应v1／v2；±为三随机种子的标准差。仅比较主配置，不混入真值掩码消融。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来源：OVSegDT 表1；CompassNav 表1–2、附录表6–7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方法类别怎样组合成一个导航系统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19250"/>
          <a:ext cx="10820400" cy="4171950"/>
        </p:xfrm>
        <a:graphic>
          <a:graphicData uri="http://schemas.openxmlformats.org/drawingml/2006/table">
            <a:tbl>
              <a:tblPr firstRow="1"/>
              <a:tblGrid>
                <a:gridCol w="2238375"/>
                <a:gridCol w="4724400"/>
                <a:gridCol w="385762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方法选择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需要单独报告的条件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职责与接口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分层模块协作／统一联合建模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模块依赖与执行器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环境状态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显式地图结构／连续空间特征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二维或三维、深度与位姿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历史利用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压缩重放／递归缓存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历史长度、信息损失与更新方式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探索决策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语义引导的前沿搜索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候选覆盖、可达性与目标核验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策略学习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示范监督与奖励优化结合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数据规模、训练配置与奖励定义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比较新方法时，先对齐任务、传感器与评测协议，再讨论具体机"/>
          <p:cNvSpPr>
            <a:spLocks noGrp="1"/>
          </p:cNvSpPr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比较新方法时，先对齐任务、传感器与评测协议，再讨论具体机制的贡献。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方法可组合。文献主归属、表征维度和训练算力分别记录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评测基准：各自检验什么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务定义决定应验证哪一种能力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任务定义决定应验证哪一种能力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971675"/>
          <a:ext cx="10820400" cy="3848100"/>
        </p:xfrm>
        <a:graphic>
          <a:graphicData uri="http://schemas.openxmlformats.org/drawingml/2006/table">
            <a:tbl>
              <a:tblPr firstRow="1"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任务或资源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主要检验内容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室内三维场景语义标注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提供物体与空间语义基础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开放词汇类别目标导航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已见、同义词及未见类别泛化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多模态目标连续导航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历史积累与跨目标复用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顺序目标定位与导航，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以及相应模型基线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任务上下文与跨步骤对象引用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整理自四篇基准论文。跨论文比较需对齐目标类型、传感器、划分及成功条件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GOAT-Bench：连续多模态目标任务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同一环境内依次完成5至10个子任务，环境与智能体状态持续保留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同一环境内依次完成5至10个子任务，环境与智能体状态持续保留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919"/>
            <a:ext cx="7905750" cy="4447936"/>
          </a:xfrm>
          <a:prstGeom prst="rect">
            <a:avLst/>
          </a:prstGeom>
        </p:spPr>
      </p:pic>
      <p:sp>
        <p:nvSpPr>
          <p:cNvPr id="5" name="目标形式"/>
          <p:cNvSpPr>
            <a:spLocks noGrp="1"/>
          </p:cNvSpPr>
          <p:nvPr/>
        </p:nvSpPr>
        <p:spPr>
          <a:xfrm>
            <a:off x="9029700" y="19907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目标形式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类别名称&#10;参考图像&#10;语言描述"/>
          <p:cNvSpPr>
            <a:spLocks noGrp="1"/>
          </p:cNvSpPr>
          <p:nvPr/>
        </p:nvSpPr>
        <p:spPr>
          <a:xfrm>
            <a:off x="9029700" y="244792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类别名称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参考图像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语言描述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历史价值"/>
          <p:cNvSpPr>
            <a:spLocks noGrp="1"/>
          </p:cNvSpPr>
          <p:nvPr/>
        </p:nvSpPr>
        <p:spPr>
          <a:xfrm>
            <a:off x="9029700" y="383857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历史价值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复用已见物体及位置，&#10;减少后续重复探索。"/>
          <p:cNvSpPr>
            <a:spLocks noGrp="1"/>
          </p:cNvSpPr>
          <p:nvPr/>
        </p:nvSpPr>
        <p:spPr>
          <a:xfrm>
            <a:off x="9029700" y="429577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复用已见物体及位置，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减少后续重复探索。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评测成功率与路径效率，检验跨目标经验复用。"/>
          <p:cNvSpPr>
            <a:spLocks noGrp="1"/>
          </p:cNvSpPr>
          <p:nvPr/>
        </p:nvSpPr>
        <p:spPr>
          <a:xfrm>
            <a:off x="9029700" y="54673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评测成功率与路径效率，检验跨目标经验复用。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来源：GOAT-Bench，图1与第3节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分层与模块化协作：TANGO、SuperNav、OmniNav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多能力统一联合建模：D3D-VLP、Uni-NaVid、MTU3D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095500"/>
          <a:ext cx="10820400" cy="3981450"/>
        </p:xfrm>
        <a:graphic>
          <a:graphicData uri="http://schemas.openxmlformats.org/drawingml/2006/table">
            <a:tbl>
              <a:tblPr firstRow="1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复用预训练模型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主模型与几何执行器无需专项训练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学习式执行器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 配置未报告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阶段1：96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阶段2：64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RTX 6000 Ada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约14天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 × H800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约35小时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A100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约164 GPU·小时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31507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训练配置沿用源文档口径，基础模型与复用组件的预训练开销另计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推理资源另计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× RTX 4090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约31小时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笔记转引作者答复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配置据阅读笔记转引作者答复，本次未能加载评论正文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VLFM与OpenFrontier采用不同的语义评价接口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运行与推理仍需计算资源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源文档未将运行显卡配置计作训练算力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联合加权BC／PPO，或先SFT再GRPO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训练规模与时长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× A100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约2.15亿环境步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SFT：8 × A800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RFT：8 × H200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SFT：约12小时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RFT：约56.7小时（估算）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 的 RFT 时长按约170步、每步约20分钟换算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数据集与评测基准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场景语义标注、开放词汇与多模态目标构建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连续或顺序任务设计，以及评测协议和基线设计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266950"/>
          <a:ext cx="10820400" cy="3695700"/>
        </p:xfrm>
        <a:graphic>
          <a:graphicData uri="http://schemas.openxmlformats.org/drawingml/2006/table">
            <a:tbl>
              <a:tblPr firstRow="1"/>
              <a:tblGrid>
                <a:gridCol w="4095750"/>
                <a:gridCol w="672465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训练算力统计口径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数据集本身不适用，导航基线另计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SG-LLM 等基线分别统计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324350"/>
        </p:xfrm>
        <a:graphic>
          <a:graphicData uri="http://schemas.openxmlformats.org/drawingml/2006/table">
            <a:tbl>
              <a:tblPr firstRow="1"/>
              <a:tblGrid>
                <a:gridCol w="2476500"/>
                <a:gridCol w="83439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配置来源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各篇阅读笔记记录的论文或作者报告配置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成本范围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基础模型与复用组件的预训练开销另计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免训练方法仍需推理资源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时间与卡时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GPU·小时 = GPU 数量 × 训练小时数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不同型号 GPU 的卡时分别保留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缺失与估算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未报告的数据保留“未报告”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 RFT 的约56.7小时属于换算估计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/>
          <p:cNvSpPr>
            <a:spLocks noGrp="1"/>
          </p:cNvSpPr>
          <p:nvPr/>
        </p:nvSpPr>
        <p:spPr>
          <a:xfrm>
            <a:off x="685800" y="61150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的训练配置保留“阅读笔记转引作者答复”来源说明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10993</Words>
  <Application>WPS 演示</Application>
  <PresentationFormat>Converted Presentation</PresentationFormat>
  <Paragraphs>1787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WPS_1674288765</cp:lastModifiedBy>
  <cp:revision>1</cp:revision>
  <dcterms:created xsi:type="dcterms:W3CDTF">2026-10-17T14:04:14Z</dcterms:created>
  <dcterms:modified xsi:type="dcterms:W3CDTF">2026-10-17T14:04:14Z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409202CDD2574359AFE74D973CF142D3_12</vt:lpwstr>
  </property>
</Properties>
</file>