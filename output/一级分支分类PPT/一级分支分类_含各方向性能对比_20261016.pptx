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HM3D-OVON-Papers</a:t>
            </a:r>
          </a:p>
          <a:p>
            <a:r>
              <a:t>├── 方法论文</a:t>
            </a:r>
          </a:p>
          <a:p>
            <a:r>
              <a:t>│   ├── 系统组织架构</a:t>
            </a:r>
          </a:p>
          <a:p>
            <a:r>
              <a:t>│   │   ├── TANGO【训练：无需新增导航专项训练】</a:t>
            </a:r>
          </a:p>
          <a:p>
            <a:r>
              <a:t>│   │   ├── SuperNav【训练：主模型与几何执行器无需；可选学习式执行器的 GPU 配置未报告】</a:t>
            </a:r>
          </a:p>
          <a:p>
            <a:r>
              <a:t>│   │   ├── OmniNav【训练：阶段1 96×H20，120小时；阶段2 64×H20，48小时】</a:t>
            </a:r>
          </a:p>
          <a:p>
            <a:r>
              <a:t>│   │   ├── D3D-VLP【训练：4×RTX 6000 Ada，约14天】</a:t>
            </a:r>
          </a:p>
          <a:p>
            <a:r>
              <a:t>│   │   ├── Uni-NaVid【训练：40×H800，约35小时】</a:t>
            </a:r>
          </a:p>
          <a:p>
            <a:r>
              <a:t>│   │   └── MTU3D【训练：4×A100；约164 GPU·小时】</a:t>
            </a:r>
          </a:p>
          <a:p>
            <a:r>
              <a:t>│   ├── 环境表征</a:t>
            </a:r>
          </a:p>
          <a:p>
            <a:r>
              <a:t>│   │   ├── MSGNav【训练：无需新增导航专项训练】</a:t>
            </a:r>
          </a:p>
          <a:p>
            <a:r>
              <a:t>│   │   └── SoftNav【训练：1×RTX 4090；时长未报告】</a:t>
            </a:r>
          </a:p>
          <a:p>
            <a:r>
              <a:t>│   ├── 历史记忆</a:t>
            </a:r>
          </a:p>
          <a:p>
            <a:r>
              <a:t>│   │   ├── AstraNav-Memory【训练：32×H20；时长未报告】</a:t>
            </a:r>
          </a:p>
          <a:p>
            <a:r>
              <a:t>│   │   └── JanusVLN【训练：64×H20，约31小时；阅读笔记转引作者答复】</a:t>
            </a:r>
          </a:p>
          <a:p>
            <a:r>
              <a:t>│   ├── 探索与目标搜索</a:t>
            </a:r>
          </a:p>
          <a:p>
            <a:r>
              <a:t>│   │   ├── VLFM【训练：无需新增导航专项训练】</a:t>
            </a:r>
          </a:p>
          <a:p>
            <a:r>
              <a:t>│   │   └── OpenFrontier【训练：无需新增导航专项训练】</a:t>
            </a:r>
          </a:p>
          <a:p>
            <a:r>
              <a:t>│   └── 导航策略训练与优化</a:t>
            </a:r>
          </a:p>
          <a:p>
            <a:r>
              <a:t>│       ├── OVSegDT【训练：2×A100；约2.15亿环境步，时长未报告】</a:t>
            </a:r>
          </a:p>
          <a:p>
            <a:r>
              <a:t>│       └── CompassNav【训练：SFT 8×A800，约12小时；RFT 8×H200，约56.7小时（估算）】</a:t>
            </a:r>
          </a:p>
          <a:p>
            <a:r>
              <a:t>└── 数据集与评测基准</a:t>
            </a:r>
          </a:p>
          <a:p>
            <a:r>
              <a:t>    ├── HM3D Semantics【训练：数据集本身不适用；导航基线另计】</a:t>
            </a:r>
          </a:p>
          <a:p>
            <a:r>
              <a:t>    ├── HM3D-OVON【训练：按各基线分别统计】</a:t>
            </a:r>
          </a:p>
          <a:p>
            <a:r>
              <a:t>    ├── GOAT-Bench【训练：按各基线分别统计】</a:t>
            </a:r>
          </a:p>
          <a:p>
            <a:r>
              <a:t>    └── SG3D / SG-LLM【训练：按 SG-LLM 等基线分别统计】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方向关注模块的职责划分、任务接口及执行反馈。程序编排、快慢系统和统一决策是当前文献集合中的不同组织方式。OmniNav只代表其中的快慢协作路线，不能用它概括整个分支。统一建模内部也有区别：D3D-VLP联合规划、三维定位与导航，Uni-NaVid统一多任务视频输入和动作输出，MTU3D将目标对象和探索前沿统一为候选查询打分。分类按主要贡献归纳，各分支允许共享组件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E:\科研_机器人\HM3D-OVON\HM3D_OVON_Papers\03_大模型规划与工具调用\read-Tango.md</a:t>
            </a:r>
          </a:p>
          <a:p>
            <a:r>
              <a:t>E:\科研_机器人\HM3D-OVON\HM3D_OVON_Papers\03_大模型规划与工具调用\read-SuperNav.md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E:\科研_机器人\HM3D-OVON\HM3D_OVON_Papers\04_三维空间表征与目标推理\read-MTU.md</a:t>
            </a:r>
          </a:p>
          <a:p>
            <a:r>
              <a:t>E:\科研_机器人\HM3D-OVON\HM3D_OVON_Papers\05_视觉语言动作决策与视频记忆\2026_ICLR_OmniNav.pdf，第3节</a:t>
            </a:r>
          </a:p>
          <a:p/>
          <a:p>
            <a:r>
              <a:t>新增性能数据说明：常规主表的OVON、GOAT和VLN分别显示该方向较高的报告值。SuperNav子集与距离定义不同，不能和常规OVON行作严格排名。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/>
          <a:p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图先看左侧输入接口，再看右上角快系统，最后看底部的慢系统。快慢系统共享Qwen2.5-VL-3B参数，区别主要是输入和职责。慢系统使用占据地图得到的前沿、历史图像及位姿：未见目标时选择探索子目标，已在当前或历史观测中见到目标时预测目标位置。快系统利用视觉上下文和子目标，通过Flow Matching策略头一次生成未来5个连续航点，并随着新图像到来滚动更新。航点包含位置、朝向及到达标记。完整慢系统需要深度和里程计构图。原图中“Diffusion Policy Head”是概览标记，正文详细实现采用Flow Matching。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E:\科研_机器人\HM3D-OVON\HM3D_OVON_Papers\05_视觉语言动作决策与视频记忆\2026_ICLR_OmniNav.pdf，PDF第4页，图1；第3节，PDF第3–5页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环境表征回答的是模型可以访问什么状态，以及状态用什么形式表示。MSGNav将对象、位置、房间属性以及共同观察对象的图像组织成多模态三维场景图，供视觉语言推理查询。SoftNav则将三维物体和前沿的连续特征，经MLP映射到VLM的嵌入空间形成soft tokens，和压缩视觉历史、文字目标联合处理。soft token是实体特征向量，不是把三维坐标改写成文字。两者都使用RGB-D与位姿，也包含历史或探索后端，但这里依据主要的信息组织与输入接口贡献归类。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E:\科研_机器人\HM3D-OVON\HM3D_OVON_Papers\04_三维空间表征与目标推理\2026_CVPR_MSGNav.pdf，第3.2–3.3节</a:t>
            </a:r>
          </a:p>
          <a:p>
            <a:r>
              <a:t>E:\科研_机器人\HM3D-OVON\HM3D_OVON_Papers\04_三维空间表征与目标推理\read-SoftNav.md</a:t>
            </a:r>
          </a:p>
          <a:p/>
          <a:p>
            <a:r>
              <a:t>新增性能数据说明：SoftNav GOAT每划分30 episodes，MSGNav GOAT为360 episodes / 2669子任务。两套子集不能当成统一排行榜。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/>
          <a:p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左说明表示构建：通过检测、分割和视觉编码得到对象，结合深度与位姿跨帧匹配对象并融合属性。图的边保存邻近对象对共同出现的RGB-D图像，不应把它简单理解成语言模型生成的关系文本。右侧四个模块依次用于降低查询成本、扩充词汇、利用决策反馈以及选择最终观察位置。KSS先压缩为邻接信息，再选择相关对象并用贪心图像覆盖保留关键证据。AVU由图像证据发现预设词表外的对象名称。CLR记录历史决策与反馈。VVD在目标附近选择可见率更高的可通行位置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E:\科研_机器人\HM3D-OVON\HM3D_OVON_Papers\04_三维空间表征与目标推理\2026_CVPR_MSGNav.pdf，PDF第4页，图3；第3.2–3.3节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展示目标是镜子时的最后一段导航。仅选择离物体最近的可通行点可能视野不好，或者物体遮挡严重。VVD围绕物体采样可通行位置，根据场景点云判断各位置到目标点云的可见率，再选择得分更高的观察位置。这说明表征必须保留足以支持后续动作选择的空间与视觉证据。图中数值是该示意中的可见率，不是导航成功率。KSS在论文中平均每次查询约4张图，并报告较完整输入减少超过95%的token成本，这不是所有场景的固定上限。该系统无需新增导航专项训练，但依赖感知模型、稳定的深度与位姿，以及VLM推理服务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E:\科研_机器人\HM3D-OVON\HM3D_OVON_Papers\04_三维空间表征与目标推理\2026_CVPR_MSGNav.pdf，PDF第5页，第3.3.1节；PDF第6页，图4和第3.3.4节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历史记忆关注信息如何跨时间保留，以及新观测到来后怎样更新和读取。AstraNav-Memory主要降低每帧的视觉token数量，使同样预算下可以纳入更长的图像与位姿序列。JanusVLN将语义和几何拆成两路隐式特征，几何分支借助VGGT历史KV逐步更新，缓存保留最初8帧与最近48帧。需要区分论文架构和公开评测实现：后者每步重新输入采样的历史图像给Qwen语义侧，并没有显式将上一步语言模型KV传入下一次generate。因此不能将两条分支一概说成跨步永久缓存。更长记忆也可能带来检索困难及细节损失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E:\科研_机器人\HM3D-OVON\HM3D_OVON_Papers\05_视觉语言动作决策与视频记忆\2026_CVPR_AstraNav-Memory.pdf，第3节</a:t>
            </a:r>
          </a:p>
          <a:p>
            <a:r>
              <a:t>E:\科研_机器人\HM3D-OVON\HM3D_OVON_Papers\05_视觉语言动作决策与视频记忆\read-JANUSVLN.md</a:t>
            </a:r>
          </a:p>
          <a:p/>
          <a:p>
            <a:r>
              <a:t>新增性能数据说明：AstraNav GOAT的1 m判据与SoftNav/MSGNav的0.25 m不同，不应跨分支直接比较成功率。Janus采用主表R2R SPL=56.8，附录同配置写56.6，不自行统一。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/>
          <a:p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Qwen2.5-VL在该输入设置下每帧为598个视觉tokens，主配置压缩后每帧30个。冻结的DINOv3提取空间语义特征，压缩模块经空间重排和通道映射减少特征序列，再接入Qwen2.5-VL的视觉编码接口。相机位姿作为文字tokens放在对应图像之前，帮助模型将图像内容与位置关联。模型生成文字及目标或探索前沿的二维坐标，并交由下层导航。记忆本体是图像与位姿序列，不能等同于显式对象级地图。原图压缩模块标注PixelShuffle，而正文第3.2节写PixelUnshuffle，本页按照正文解释空间重排压缩。训练冻结DINOv3，微调压缩器及Qwen，采用32张H20，论文未报告训练总时长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E:\科研_机器人\HM3D-OVON\HM3D_OVON_Papers\05_视觉语言动作决策与视频记忆\2026_CVPR_AstraNav-Memory.pdf，PDF第4页，图2及第3.1–3.2节；PDF第5页，训练设置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表完整摘录论文表3的四个配置，SR、推理时长及显存均沿用该表口径。相同50帧输入下，压缩降低了推理时长与显存，但SR也下降，不能只报告效率改善。100帧压缩配置的SR高于200帧配置，说明历史容量不是唯一因素。论文表4在均匀抽样子集上也显示极强压缩可能明显损害准确率。“16×”是压缩模块的空间token标记，而598到30是原始Qwen路径与压缩路径的最终token数量比较，分母不同，不应混为一个比值。表3的显存值没有明确单卡最低部署口径，本页原样保留，不将其解释成单卡显存门槛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E:\科研_机器人\HM3D-OVON\HM3D_OVON_Papers\05_视觉语言动作决策与视频记忆\2026_CVPR_AstraNav-Memory.pdf，PDF第7页，表3、表4与第4.3节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探索前沿通常位于已知区域与未知区域的交界，是继续探索的候选位置。VLFM利用RGB与目标文字的图文相似度生成语义价值，将多视角观测按置信度融合到俯视价值地图中，再评价前沿位置。OpenFrontier将候选前沿直接标在RGB图像中，让VLM利用原始场景上下文判断目标相关性，结合FrontierNet预测的信息增益及距离选择全局前沿。前者侧重累积空间价值，后者侧重将可行动位置作为VLM的推理接口。两者均复用预训练组件，无需新增导航专项训练，但需要感知和控制后端。</a:t>
            </a:r>
          </a:p>
          <a:p/>
          <a:p>
            <a:r>
              <a:t>资料来源：</a:t>
            </a:r>
          </a:p>
          <a:p>
            <a:r>
              <a:t>E:\科研_机器人\HM3D-OVON\HM3D_OVON_Papers\02_语义地图与前沿探索\VLFM_Vision-Language_Frontier_Maps_for_Zero-Shot_Semantic_Navigation.pdf，第IV节</a:t>
            </a:r>
          </a:p>
          <a:p>
            <a:r>
              <a:t>E:\科研_机器人\HM3D-OVON\HM3D_OVON_Papers\02_语义地图与前沿探索\2026_RSS_OpenFrontier.pdf，第III节</a:t>
            </a:r>
          </a:p>
          <a:p/>
          <a:p>
            <a:r>
              <a:t>新增性能数据说明：OpenFrontier在同一张表中列出VLFM并在HM3D、MP3D与OVON Val-Unseen的SR/SPL均更高。Gibson及OVON Seen/Synonyms只有VLFM报告，不能将OpenFrontier未报告项记为零。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exp_vlfm_gibson: VLFM，Gibson / Val，SR=84%，SPL=52.2%。来源：E:\科研_机器人\HM3D-OVON\HM3D_OVON_Papers\02_语义地图与前沿探索\VLFM_Vision-Language_Frontier_Maps_for_Zero-Shot_Semantic_Navigation.pdf，PDF第5页，Table I。协议：VLFM原论文验证设置。</a:t>
            </a:r>
          </a:p>
          <a:p>
            <a:r>
              <a:t>exp_open_hm3d: OpenFrontier，HM3D ObjectNav / Val，SR=77.3%，SPL=35.6%。来源：E:\科研_机器人\HM3D-OVON\HM3D_OVON_Papers\02_语义地图与前沿探索\2026_RSS_OpenFrontier.pdf，PDF第5页，Table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exp_open_mp3d: OpenFrontier，MP3D ObjectNav / Val，SR=40.7%，SPL=17.8%。来源：E:\科研_机器人\HM3D-OVON\HM3D_OVON_Papers\02_语义地图与前沿探索\2026_RSS_OpenFrontier.pdf，PDF第5页，Table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exp_vlfm_ovon_S: VLFM，HM3D-OVON / Val-Seen，SR=35.2%，SPL=18.6%。来源：E:\科研_机器人\HM3D-OVON\HM3D_OVON_Papers\00_数据集与任务基准\2024_IROS_HM3D_OVON.pdf，PDF第6页，HM3D-OVON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exp_vlfm_ovon_Y: VLFM，HM3D-OVON / Val-Seen-Synonyms，SR=32.4%，SPL=17.3%。来源：E:\科研_机器人\HM3D-OVON\HM3D_OVON_Papers\00_数据集与任务基准\2024_IROS_HM3D_OVON.pdf，PDF第6页，HM3D-OVON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exp_open_ovon: OpenFrontier，HM3D-OVON / Val-Unseen，SR=39%，SPL=20.1%。来源：E:\科研_机器人\HM3D-OVON\HM3D_OVON_Papers\02_语义地图与前沿探索\2026_RSS_OpenFrontier.pdf，PDF第5页，Table I。协议：Gemini-2.5-Flash；同一套系统参数。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以“去客厅”为例。FrontierNet从关键帧识别视觉前沿簇，并给出探索信息增益估计。系统在RGB图像上为前沿加标记，让VLM一次评价各候选与目标的相关概率。语义概率重新加权信息增益后，将前沿投影到三维空间并加入稀疏的全局候选集合。系统反复合并重复前沿、删除已到达或失败候选，并选择适合的下层导航执行。该架构不要求构建稠密三维语义地图，但前沿三维定位和目标接近仍需要几何信息。视觉语义决策与实际运动执行通过前沿位姿连接，VLM不直接控制每个电机动作。</a:t>
            </a:r>
          </a:p>
          <a:p/>
          <a:p>
            <a:r>
              <a:t>资料来源：</a:t>
            </a:r>
          </a:p>
          <a:p>
            <a:r>
              <a:t>E:\科研_机器人\HM3D-OVON\HM3D_OVON_Papers\02_语义地图与前沿探索\2026_RSS_OpenFrontier.pdf，PDF第2页，图2；PDF第3–4页，第III节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文公式将目标相关概率p与FrontierNet信息增益估计g相乘，再除以机器人到前沿的欧氏距离，得到用于全局选择的效用。这是启发式选择分数，不是保证最优的概率模型。目标确认属于另一个闭环：开放词汇分割先给出疑似物体掩码，利用深度和位姿估计三维中心，在物体前方插入优先级极高的观察位姿前沿。到达该处后由VLM再次确认。确认则靠近目标，未确认则移除假设并继续搜索。系统可以接PointGoal策略，或使用可选几何地图规划器。该方法无需导航专项训练不等于不使用预训练感知模型，也不意味着无需深度或位姿。</a:t>
            </a:r>
          </a:p>
          <a:p/>
          <a:p>
            <a:r>
              <a:t>资料来源：</a:t>
            </a:r>
          </a:p>
          <a:p>
            <a:r>
              <a:t>E:\科研_机器人\HM3D-OVON\HM3D_OVON_Papers\02_语义地图与前沿探索\2026_RSS_OpenFrontier.pdf，PDF第4页，公式1–3、算法1与目标确认说明</a:t>
            </a:r>
          </a:p>
          <a:p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分支重点是训练信号和优化方式。OVSegDT通过目标二值分割掩码提供类别无关的视觉定位线索，使用辅助掩码重建、语义奖励，以及基于动作熵的行为克隆与PPO配比。CompassNav将可通行区域构造成带编号的候选动作，先用成功示范进行SFT，再用GRPO比较同一观察下多次回答的动作质量。其奖励包含候选动作到目标的距离分数与差距感知最优动作奖励。推理时不把真实目标坐标或训练距离标签交给VLM。BC指行为克隆，PPO指近端策略优化，SFT指监督微调，GRPO指组相对策略优化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E:\科研_机器人\HM3D-OVON\HM3D_OVON_Papers\01_模仿学习与强化学习导航\2026_CVPR_OVSegDT.pdf，第4节</a:t>
            </a:r>
          </a:p>
          <a:p>
            <a:r>
              <a:t>E:\科研_机器人\HM3D-OVON\HM3D_OVON_Papers\05_视觉语言动作决策与视频记忆\read-CompassNav.md</a:t>
            </a:r>
          </a:p>
          <a:p/>
          <a:p>
            <a:r>
              <a:t>新增性能数据说明：不将OVSegDT的较高SR与CompassNav的较高SPL合成一行。CompassNav表1和表2中的HM3D版本未完整对应v1/v2，按原表标签分别保留，不把61.6当作56.6的同条件更新值。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从图底部向上阅读。RGB和目标文字由冻结SigLIP编码，上一步动作使用查表嵌入，目标二值掩码由ResNet9编码。将这些特征拼接为每一步的观测向量，最近100步观测送入4层、8头、隐藏维度512的decoder-only Transformer。动作头预测6个高层离散动作的分布，价值头服务于强化学习，分割头重建当前目标掩码，辅助学习目标相关特征。分割头是训练时的辅助头，不应与提供输入掩码的外部YOLOE混淆。策略推理采用RGB，不需深度或里程计作为策略传感器输入；但训练时专家、奖励和真值掩码使用模拟器特权信息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E:\科研_机器人\HM3D-OVON\HM3D_OVON_Papers\01_模仿学习与强化学习导航\2026_CVPR_OVSegDT.pdf，PDF第4页，图2与第4.1节；PDF第5页，辅助分割监督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LM追踪动作分布的Shannon熵，并取指数移动平均。正文将其在线性区间映射为PPO权重lambda，BC权重为1-lambda。较高熵说明策略动作分布较分散，增加BC；较低熵说明动作分布集中，提高PPO比重。权重连续变化，不要求人为指定切换时刻。这里的熵是模型不确定性代理，不保证低熵动作一定正确。整体损失还包括价值回归、熵奖励和辅助分割损失。使用真值掩码训练200M步，再对YOLOE预测掩码用PPO适配15M步。表1最终预测掩码配置在HM3D-OVON Val-Unseen的SR为44.7±0.4，SPL为20.6±0.2，三随机种子均值±标准差。依赖掩码质量及校准，不能由2张A100推出总训练成本很低。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E:\科研_机器人\HM3D-OVON\HM3D_OVON_Papers\01_模仿学习与强化学习导航\2026_CVPR_OVSegDT.pdf，PDF第5页，公式5–9；PDF第6页，训练与预测分割适配；PDF第7页，表1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E:\科研_机器人\HM3D-OVON\HM3D_OVON_Papers\00_数据集与任务基准\README.md</a:t>
            </a:r>
          </a:p>
          <a:p>
            <a:r>
              <a:t>E:\科研_机器人\HM3D-OVON\HM3D_OVON_Papers\00_数据集与任务基准\2024_SG3D_Sequential_Grounding_and_Navigation.pdf，第1–3节</a:t>
            </a:r>
          </a:p>
          <a:p>
            <a:r>
              <a:t>E:\科研_机器人\HM3D-OVON\HM3D_OVON_Papers\00_数据集与任务基准\2024_CVPR_GOAT_Bench.pdf，第3–4节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E:\科研_机器人\HM3D-OVON\HM3D_OVON_Papers\00_数据集与任务基准\2024_CVPR_GOAT_Bench.pdf，PDF第1页，图1；PDF第3页，第3节任务定义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表是针对当前14篇方法文献的工作性归纳，按主要技术贡献安排一级分支，不宣称是整个领域唯一或互斥的分类。实际系统可能同时包含统一架构、三维表征、长期记忆、前沿搜索与训练优化。分析一篇文章时可以先问主要改变哪个环节，再给其他环节交叉标签。训练算力和传感器应作为独立比较属性，不能由其大小决定一级归类。五篇代表分别用于阐释一个具体路线，不能代替该分支的全部论文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E:\科研_机器人\HM3D-OVON\HM3D_OVON_Papers\05_视觉语言动作决策与视频记忆\2026_ICLR_OmniNav.pdf，方法章节</a:t>
            </a:r>
          </a:p>
          <a:p>
            <a:r>
              <a:t>E:\科研_机器人\HM3D-OVON\HM3D_OVON_Papers\04_三维空间表征与目标推理\2026_CVPR_MSGNav.pdf，方法章节</a:t>
            </a:r>
          </a:p>
          <a:p>
            <a:r>
              <a:t>E:\科研_机器人\HM3D-OVON\HM3D_OVON_Papers\05_视觉语言动作决策与视频记忆\2026_CVPR_AstraNav-Memory.pdf，方法章节</a:t>
            </a:r>
          </a:p>
          <a:p>
            <a:r>
              <a:t>E:\科研_机器人\HM3D-OVON\HM3D_OVON_Papers\02_语义地图与前沿探索\2026_RSS_OpenFrontier.pdf，方法章节</a:t>
            </a:r>
          </a:p>
          <a:p>
            <a:r>
              <a:t>E:\科研_机器人\HM3D-OVON\HM3D_OVON_Papers\01_模仿学习与强化学习导航\2026_CVPR_OVSegDT.pdf，方法章节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程序与工具／技能编排、快慢系统分层协作，以及多任务或规划、定位、探索与导航能力的统一建模。</a:t>
            </a:r>
          </a:p>
          <a:p/>
          <a:p>
            <a:r>
              <a:t>TANGO：无需新增导航专项训练</a:t>
            </a:r>
          </a:p>
          <a:p>
            <a:r>
              <a:t>SuperNav：主模型与几何执行器无需；可选学习式执行器的 GPU 配置未报告</a:t>
            </a:r>
          </a:p>
          <a:p>
            <a:r>
              <a:t>OmniNav：阶段1 96×H20，120小时；阶段2 64×H20，48小时</a:t>
            </a:r>
          </a:p>
          <a:p>
            <a:r>
              <a:t>D3D-VLP：4×RTX 6000 Ada，约14天</a:t>
            </a:r>
          </a:p>
          <a:p>
            <a:r>
              <a:t>Uni-NaVid：40×H800，约35小时</a:t>
            </a:r>
          </a:p>
          <a:p>
            <a:r>
              <a:t>MTU3D：4×A100；约164 GPU·小时</a:t>
            </a:r>
          </a:p>
          <a:p>
            <a:r>
              <a:t>SuperNav执行器训练：https://arxiv.org/html/2610.12126v1，附录C.2。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用三维场景图组织物体、空间信息与视觉证据；将三维物体和前沿特征转换为视觉语言模型可使用的 soft tokens。</a:t>
            </a:r>
          </a:p>
          <a:p/>
          <a:p>
            <a:r>
              <a:t>MSGNav：无需新增导航专项训练</a:t>
            </a:r>
          </a:p>
          <a:p>
            <a:r>
              <a:t>SoftNav：1×RTX 4090；时长未报告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压缩长期视觉历史，维护语义与空间双分支记忆，并通过历史缓存和滑动窗口更新跨帧信息。</a:t>
            </a:r>
          </a:p>
          <a:p/>
          <a:p>
            <a:r>
              <a:t>AstraNav-Memory：32×H20；时长未报告</a:t>
            </a:r>
          </a:p>
          <a:p>
            <a:r>
              <a:t>JanusVLN：64×H20，约31小时；阅读笔记转引作者答复</a:t>
            </a:r>
          </a:p>
          <a:p>
            <a:r>
              <a:t>JanusVLN配置由源文档转引阅读笔记中的作者答复。本次未能加载评论正文，未独立复核。</a:t>
            </a:r>
          </a:p>
          <a:p>
            <a:r>
              <a:t>阅读笔记：E:\科研_机器人\HM3D-OVON\HM3D_OVON_Papers\05_视觉语言动作决策与视频记忆\read-JANUSVLN.md</a:t>
            </a:r>
          </a:p>
          <a:p>
            <a:r>
              <a:t>作者答复：https://github.com/MIV-XJTU/JanusVLN/issues/3#issuecomment-3375195701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构建语义价值地图或生成视觉前沿，利用目标相关性、信息增益和距离等评价探索位置，并进行目标确认。</a:t>
            </a:r>
          </a:p>
          <a:p/>
          <a:p>
            <a:r>
              <a:t>VLFM：无需新增导航专项训练</a:t>
            </a:r>
          </a:p>
          <a:p>
            <a:r>
              <a:t>OpenFrontier：无需新增导航专项训练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目标分割辅助监督、自适应 BC／PPO 联合优化，以及基于候选动作质量的 SFT／GRPO 与差距感知奖励设计。</a:t>
            </a:r>
          </a:p>
          <a:p/>
          <a:p>
            <a:r>
              <a:t>OVSegDT：2×A100；约2.15亿环境步，时长未报告</a:t>
            </a:r>
          </a:p>
          <a:p>
            <a:r>
              <a:t>CompassNav：SFT 8×A800，约12小时；RFT 8×H200，约56.7小时（估算）</a:t>
            </a:r>
          </a:p>
          <a:p>
            <a:r>
              <a:t>CompassNav RFT时长为源文档估算：170步×20分钟/步≈56.7小时。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场景语义标注、开放词汇与多模态目标构建、连续或顺序任务设计，以及评测协议和基线设计。</a:t>
            </a:r>
          </a:p>
          <a:p/>
          <a:p>
            <a:r>
              <a:t>HM3D Semantics：数据集本身不适用；导航基线另计</a:t>
            </a:r>
          </a:p>
          <a:p>
            <a:r>
              <a:t>HM3D-OVON：按各基线分别统计</a:t>
            </a:r>
          </a:p>
          <a:p>
            <a:r>
              <a:t>GOAT-Bench：按各基线分别统计</a:t>
            </a:r>
          </a:p>
          <a:p>
            <a:r>
              <a:t>SG3D / SG-LLM：按 SG-LLM 等基线分别统计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资料口径沿用源文档。GPU·小时表示GPU数量乘以训练小时数，不能把不同GPU型号的卡时直接视为等价算力。</a:t>
            </a:r>
          </a:p>
          <a:p>
            <a:r>
              <a:t>SuperNav学习式执行器训练见：https://arxiv.org/html/2610.12126v1，附录C.2。</a:t>
            </a:r>
          </a:p>
          <a:p>
            <a:r>
              <a:t>JanusVLN作者答复由源文档及阅读笔记转引，本次网页未加载评论正文。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一级分支总览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方法论文"/>
          <p:cNvSpPr>
            <a:spLocks noGrp="1"/>
          </p:cNvSpPr>
          <p:nvPr/>
        </p:nvSpPr>
        <p:spPr>
          <a:xfrm>
            <a:off x="4667250" y="128587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25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方法论文</a:t>
            </a:r>
            <a:endParaRPr sz="25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diagram-connector"/>
          <p:cNvSpPr>
            <a:spLocks noGrp="1"/>
          </p:cNvSpPr>
          <p:nvPr/>
        </p:nvSpPr>
        <p:spPr>
          <a:xfrm>
            <a:off x="6096000" y="1762125"/>
            <a:ext cx="0" cy="285750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5" name="diagram-connector"/>
          <p:cNvSpPr>
            <a:spLocks noGrp="1"/>
          </p:cNvSpPr>
          <p:nvPr/>
        </p:nvSpPr>
        <p:spPr>
          <a:xfrm>
            <a:off x="1714500" y="2047875"/>
            <a:ext cx="8763000" cy="0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6" name="diagram-connector"/>
          <p:cNvSpPr>
            <a:spLocks noGrp="1"/>
          </p:cNvSpPr>
          <p:nvPr/>
        </p:nvSpPr>
        <p:spPr>
          <a:xfrm>
            <a:off x="1714500" y="2047875"/>
            <a:ext cx="0" cy="238125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7" name="系统组织架构"/>
          <p:cNvSpPr>
            <a:spLocks noGrp="1"/>
          </p:cNvSpPr>
          <p:nvPr/>
        </p:nvSpPr>
        <p:spPr>
          <a:xfrm>
            <a:off x="685800" y="2390775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6 篇"/>
          <p:cNvSpPr>
            <a:spLocks noGrp="1"/>
          </p:cNvSpPr>
          <p:nvPr/>
        </p:nvSpPr>
        <p:spPr>
          <a:xfrm>
            <a:off x="685800" y="314325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篇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ANGO"/>
          <p:cNvSpPr>
            <a:spLocks noGrp="1"/>
          </p:cNvSpPr>
          <p:nvPr/>
        </p:nvSpPr>
        <p:spPr>
          <a:xfrm>
            <a:off x="685800" y="3638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TANGO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uperNav"/>
          <p:cNvSpPr>
            <a:spLocks noGrp="1"/>
          </p:cNvSpPr>
          <p:nvPr/>
        </p:nvSpPr>
        <p:spPr>
          <a:xfrm>
            <a:off x="685800" y="4019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mniNav"/>
          <p:cNvSpPr>
            <a:spLocks noGrp="1"/>
          </p:cNvSpPr>
          <p:nvPr/>
        </p:nvSpPr>
        <p:spPr>
          <a:xfrm>
            <a:off x="685800" y="4400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3D-VLP"/>
          <p:cNvSpPr>
            <a:spLocks noGrp="1"/>
          </p:cNvSpPr>
          <p:nvPr/>
        </p:nvSpPr>
        <p:spPr>
          <a:xfrm>
            <a:off x="685800" y="4781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D3D-VLP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Uni-NaVid"/>
          <p:cNvSpPr>
            <a:spLocks noGrp="1"/>
          </p:cNvSpPr>
          <p:nvPr/>
        </p:nvSpPr>
        <p:spPr>
          <a:xfrm>
            <a:off x="685800" y="5162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Uni-NaVid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TU3D"/>
          <p:cNvSpPr>
            <a:spLocks noGrp="1"/>
          </p:cNvSpPr>
          <p:nvPr/>
        </p:nvSpPr>
        <p:spPr>
          <a:xfrm>
            <a:off x="685800" y="5543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MTU3D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iagram-connector"/>
          <p:cNvSpPr>
            <a:spLocks noGrp="1"/>
          </p:cNvSpPr>
          <p:nvPr/>
        </p:nvSpPr>
        <p:spPr>
          <a:xfrm>
            <a:off x="3905250" y="2047875"/>
            <a:ext cx="0" cy="238125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16" name="环境表征"/>
          <p:cNvSpPr>
            <a:spLocks noGrp="1"/>
          </p:cNvSpPr>
          <p:nvPr/>
        </p:nvSpPr>
        <p:spPr>
          <a:xfrm>
            <a:off x="2876550" y="2390775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 篇"/>
          <p:cNvSpPr>
            <a:spLocks noGrp="1"/>
          </p:cNvSpPr>
          <p:nvPr/>
        </p:nvSpPr>
        <p:spPr>
          <a:xfrm>
            <a:off x="2876550" y="314325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篇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SGNav"/>
          <p:cNvSpPr>
            <a:spLocks noGrp="1"/>
          </p:cNvSpPr>
          <p:nvPr/>
        </p:nvSpPr>
        <p:spPr>
          <a:xfrm>
            <a:off x="2876550" y="3638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oftNav"/>
          <p:cNvSpPr>
            <a:spLocks noGrp="1"/>
          </p:cNvSpPr>
          <p:nvPr/>
        </p:nvSpPr>
        <p:spPr>
          <a:xfrm>
            <a:off x="2876550" y="4019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iagram-connector"/>
          <p:cNvSpPr>
            <a:spLocks noGrp="1"/>
          </p:cNvSpPr>
          <p:nvPr/>
        </p:nvSpPr>
        <p:spPr>
          <a:xfrm>
            <a:off x="6096000" y="2047875"/>
            <a:ext cx="0" cy="238125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21" name="历史记忆"/>
          <p:cNvSpPr>
            <a:spLocks noGrp="1"/>
          </p:cNvSpPr>
          <p:nvPr/>
        </p:nvSpPr>
        <p:spPr>
          <a:xfrm>
            <a:off x="5067300" y="2390775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 篇"/>
          <p:cNvSpPr>
            <a:spLocks noGrp="1"/>
          </p:cNvSpPr>
          <p:nvPr/>
        </p:nvSpPr>
        <p:spPr>
          <a:xfrm>
            <a:off x="5067300" y="314325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篇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straNav-Memory"/>
          <p:cNvSpPr>
            <a:spLocks noGrp="1"/>
          </p:cNvSpPr>
          <p:nvPr/>
        </p:nvSpPr>
        <p:spPr>
          <a:xfrm>
            <a:off x="5067300" y="3638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AstraNav-Memory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JanusVLN"/>
          <p:cNvSpPr>
            <a:spLocks noGrp="1"/>
          </p:cNvSpPr>
          <p:nvPr/>
        </p:nvSpPr>
        <p:spPr>
          <a:xfrm>
            <a:off x="5067300" y="4019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diagram-connector"/>
          <p:cNvSpPr>
            <a:spLocks noGrp="1"/>
          </p:cNvSpPr>
          <p:nvPr/>
        </p:nvSpPr>
        <p:spPr>
          <a:xfrm>
            <a:off x="8286750" y="2047875"/>
            <a:ext cx="0" cy="238125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26" name="探索与目标搜索"/>
          <p:cNvSpPr>
            <a:spLocks noGrp="1"/>
          </p:cNvSpPr>
          <p:nvPr/>
        </p:nvSpPr>
        <p:spPr>
          <a:xfrm>
            <a:off x="7258050" y="2390775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2 篇"/>
          <p:cNvSpPr>
            <a:spLocks noGrp="1"/>
          </p:cNvSpPr>
          <p:nvPr/>
        </p:nvSpPr>
        <p:spPr>
          <a:xfrm>
            <a:off x="7258050" y="314325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篇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VLFM"/>
          <p:cNvSpPr>
            <a:spLocks noGrp="1"/>
          </p:cNvSpPr>
          <p:nvPr/>
        </p:nvSpPr>
        <p:spPr>
          <a:xfrm>
            <a:off x="7258050" y="3638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penFrontier"/>
          <p:cNvSpPr>
            <a:spLocks noGrp="1"/>
          </p:cNvSpPr>
          <p:nvPr/>
        </p:nvSpPr>
        <p:spPr>
          <a:xfrm>
            <a:off x="7258050" y="4019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diagram-connector"/>
          <p:cNvSpPr>
            <a:spLocks noGrp="1"/>
          </p:cNvSpPr>
          <p:nvPr/>
        </p:nvSpPr>
        <p:spPr>
          <a:xfrm>
            <a:off x="10477500" y="2047875"/>
            <a:ext cx="0" cy="238125"/>
          </a:xfrm>
          <a:prstGeom prst="line">
            <a:avLst/>
          </a:prstGeom>
          <a:noFill/>
          <a:ln w="14288">
            <a:solidFill>
              <a:srgbClr val="12776C"/>
            </a:solidFill>
            <a:prstDash val="solid"/>
          </a:ln>
        </p:spPr>
      </p:sp>
      <p:sp>
        <p:nvSpPr>
          <p:cNvPr id="31" name="导航策略&#10;训练与优化"/>
          <p:cNvSpPr>
            <a:spLocks noGrp="1"/>
          </p:cNvSpPr>
          <p:nvPr/>
        </p:nvSpPr>
        <p:spPr>
          <a:xfrm>
            <a:off x="9448800" y="2390775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训练与优化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2 篇"/>
          <p:cNvSpPr>
            <a:spLocks noGrp="1"/>
          </p:cNvSpPr>
          <p:nvPr/>
        </p:nvSpPr>
        <p:spPr>
          <a:xfrm>
            <a:off x="9448800" y="314325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篇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SegDT"/>
          <p:cNvSpPr>
            <a:spLocks noGrp="1"/>
          </p:cNvSpPr>
          <p:nvPr/>
        </p:nvSpPr>
        <p:spPr>
          <a:xfrm>
            <a:off x="9448800" y="3638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CompassNav"/>
          <p:cNvSpPr>
            <a:spLocks noGrp="1"/>
          </p:cNvSpPr>
          <p:nvPr/>
        </p:nvSpPr>
        <p:spPr>
          <a:xfrm>
            <a:off x="9448800" y="40195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ource-note"/>
          <p:cNvSpPr>
            <a:spLocks noGrp="1"/>
          </p:cNvSpPr>
          <p:nvPr/>
        </p:nvSpPr>
        <p:spPr>
          <a:xfrm>
            <a:off x="685800" y="6153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另列数据集与评测基准：HM3D Semantics、HM3D-OVON、GOAT-Bench、SG3D / SG-LLM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685800" y="47625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系统组织架构：方法与领先结果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核心问题：高层任务意图怎样转成可执行动作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核心问题：高层任务意图怎样转成可执行动作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主要方法"/>
          <p:cNvSpPr>
            <a:spLocks noGrp="1"/>
          </p:cNvSpPr>
          <p:nvPr/>
        </p:nvSpPr>
        <p:spPr>
          <a:xfrm>
            <a:off x="685800" y="1638300"/>
            <a:ext cx="3095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主要方法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主结果概览（%）"/>
          <p:cNvSpPr>
            <a:spLocks noGrp="1"/>
          </p:cNvSpPr>
          <p:nvPr/>
        </p:nvSpPr>
        <p:spPr>
          <a:xfrm>
            <a:off x="4114800" y="1638300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已收录主结果概览（%）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程序与工具编排"/>
          <p:cNvSpPr>
            <a:spLocks noGrp="1"/>
          </p:cNvSpPr>
          <p:nvPr/>
        </p:nvSpPr>
        <p:spPr>
          <a:xfrm>
            <a:off x="685800" y="21907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程序与工具编排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ANGO、SuperNav&#10;工具调用与执行反馈"/>
          <p:cNvSpPr>
            <a:spLocks noGrp="1"/>
          </p:cNvSpPr>
          <p:nvPr/>
        </p:nvSpPr>
        <p:spPr>
          <a:xfrm>
            <a:off x="685800" y="26003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TANGO、SuperNav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工具调用与执行反馈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快慢系统协作"/>
          <p:cNvSpPr>
            <a:spLocks noGrp="1"/>
          </p:cNvSpPr>
          <p:nvPr/>
        </p:nvSpPr>
        <p:spPr>
          <a:xfrm>
            <a:off x="685800" y="34290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快慢系统协作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mniNav&#10;子目标规划与连续航点"/>
          <p:cNvSpPr>
            <a:spLocks noGrp="1"/>
          </p:cNvSpPr>
          <p:nvPr/>
        </p:nvSpPr>
        <p:spPr>
          <a:xfrm>
            <a:off x="685800" y="383857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子目标规划与连续航点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统一任务与决策"/>
          <p:cNvSpPr>
            <a:spLocks noGrp="1"/>
          </p:cNvSpPr>
          <p:nvPr/>
        </p:nvSpPr>
        <p:spPr>
          <a:xfrm>
            <a:off x="685800" y="4667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统一任务与决策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D3D-VLP、MTU3D等&#10;统一规划、定位或任务"/>
          <p:cNvSpPr>
            <a:spLocks noGrp="1"/>
          </p:cNvSpPr>
          <p:nvPr/>
        </p:nvSpPr>
        <p:spPr>
          <a:xfrm>
            <a:off x="685800" y="50768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D3D-VLP、MTU3D等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统一规划、定位或任务接口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114800" y="1981200"/>
          <a:ext cx="7391400" cy="37338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子任务与整任务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* SuperNav为GPT-6 Astra模型替"/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SuperNav为GPT-6 Astra模型替换配置，子集协议单列。s/t分别为子任务／整任务SR。其余benchmark见后续3页。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SR：成功率。SPL：按路径长度加权的成功率。范围仅限已收录论文，完整协议与来源见备注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5243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/>
          <p:cNvSpPr>
            <a:spLocks noGrp="1"/>
          </p:cNvSpPr>
          <p:nvPr/>
        </p:nvSpPr>
        <p:spPr>
          <a:xfrm>
            <a:off x="685800" y="60769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57350"/>
          <a:ext cx="10820400" cy="394335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/>
          <p:cNvSpPr>
            <a:spLocks noGrp="1"/>
          </p:cNvSpPr>
          <p:nvPr/>
        </p:nvSpPr>
        <p:spPr>
          <a:xfrm>
            <a:off x="685800" y="62293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OmniNav：快慢系统的接口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478" y="1238250"/>
            <a:ext cx="9199044" cy="4819650"/>
          </a:xfrm>
          <a:prstGeom prst="rect">
            <a:avLst/>
          </a:prstGeom>
        </p:spPr>
      </p:pic>
      <p:sp>
        <p:nvSpPr>
          <p:cNvPr id="4" name="慢系统给出子目标，快系统生成连续航点，并根据新观测更新局部移"/>
          <p:cNvSpPr>
            <a:spLocks noGrp="1"/>
          </p:cNvSpPr>
          <p:nvPr/>
        </p:nvSpPr>
        <p:spPr>
          <a:xfrm>
            <a:off x="685800" y="61341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慢系统给出子目标，快系统生成连续航点，并根据新观测更新局部移动。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来源：OmniNav，图1（PDF第4页）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环境表征：方法与领先结果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核心问题：把跨视角观测转成可查询、可决策的环境状态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核心问题：把跨视角观测转成可查询、可决策的环境状态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主要方法"/>
          <p:cNvSpPr>
            <a:spLocks noGrp="1"/>
          </p:cNvSpPr>
          <p:nvPr/>
        </p:nvSpPr>
        <p:spPr>
          <a:xfrm>
            <a:off x="685800" y="1638300"/>
            <a:ext cx="3095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主要方法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主结果概览（%）"/>
          <p:cNvSpPr>
            <a:spLocks noGrp="1"/>
          </p:cNvSpPr>
          <p:nvPr/>
        </p:nvSpPr>
        <p:spPr>
          <a:xfrm>
            <a:off x="4114800" y="1638300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已收录主结果概览（%）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SGNav：显式场景图"/>
          <p:cNvSpPr>
            <a:spLocks noGrp="1"/>
          </p:cNvSpPr>
          <p:nvPr/>
        </p:nvSpPr>
        <p:spPr>
          <a:xfrm>
            <a:off x="685800" y="21907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MSGNav：显式场景图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物体节点保留空间属性&#10;图边保留共同观测图像"/>
          <p:cNvSpPr>
            <a:spLocks noGrp="1"/>
          </p:cNvSpPr>
          <p:nvPr/>
        </p:nvSpPr>
        <p:spPr>
          <a:xfrm>
            <a:off x="685800" y="26003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物体节点保留空间属性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图边保留共同观测图像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oftNav：连续特征接口"/>
          <p:cNvSpPr>
            <a:spLocks noGrp="1"/>
          </p:cNvSpPr>
          <p:nvPr/>
        </p:nvSpPr>
        <p:spPr>
          <a:xfrm>
            <a:off x="685800" y="34290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SoftNav：连续特征接口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三维物体与前沿的特征&#10;映射为VLM的soft to"/>
          <p:cNvSpPr>
            <a:spLocks noGrp="1"/>
          </p:cNvSpPr>
          <p:nvPr/>
        </p:nvSpPr>
        <p:spPr>
          <a:xfrm>
            <a:off x="685800" y="383857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三维物体与前沿的特征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映射为VLM的soft tokens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R与SPL需要同时看"/>
          <p:cNvSpPr>
            <a:spLocks noGrp="1"/>
          </p:cNvSpPr>
          <p:nvPr/>
        </p:nvSpPr>
        <p:spPr>
          <a:xfrm>
            <a:off x="685800" y="4667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SR与SPL需要同时看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GOAT较高SR来自SoftNav&#10;较高SPL来自"/>
          <p:cNvSpPr>
            <a:spLocks noGrp="1"/>
          </p:cNvSpPr>
          <p:nvPr/>
        </p:nvSpPr>
        <p:spPr>
          <a:xfrm>
            <a:off x="685800" y="50768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GOAT较高SR来自SoftNav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较高SPL来自MSGNav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114800" y="1981200"/>
          <a:ext cx="7391400" cy="31813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Val-Unseen，0.25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SoftNav（SR较高）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MSGNav（SPL较高）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子任务与整任务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GOAT两篇使用不同评测规模，报告值并列展示，不作"/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GOAT两篇使用不同评测规模，报告值并列展示，不作严格排名。各划分与SG3D完整结果见后续2页。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SR：成功率。SPL：按路径长度加权的成功率。范围仅限已收录论文，完整协议与来源见备注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2057400"/>
          <a:ext cx="10820400" cy="38100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/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885950"/>
          <a:ext cx="10820400" cy="40290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/>
          <p:cNvSpPr>
            <a:spLocks noGrp="1"/>
          </p:cNvSpPr>
          <p:nvPr/>
        </p:nvSpPr>
        <p:spPr>
          <a:xfrm>
            <a:off x="685800" y="60198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MSGNav：三维场景图怎样用于导航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物体节点保留空间属性，图边保留共同观测的图像证据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物体节点保留空间属性，图边保留共同观测的图像证据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798" y="1638300"/>
            <a:ext cx="10026404" cy="4362450"/>
          </a:xfrm>
          <a:prstGeom prst="rect">
            <a:avLst/>
          </a:prstGeom>
        </p:spPr>
      </p:pic>
      <p:sp>
        <p:nvSpPr>
          <p:cNvPr id="5" name="KSS筛选子图，AVU更新词汇，CLR读取决策反馈，VVD选"/>
          <p:cNvSpPr>
            <a:spLocks noGrp="1"/>
          </p:cNvSpPr>
          <p:nvPr/>
        </p:nvSpPr>
        <p:spPr>
          <a:xfrm>
            <a:off x="685800" y="6105525"/>
            <a:ext cx="10820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KSS筛选子图，AVU更新词汇，CLR读取决策反馈，VVD选择终点观察位置。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来源：MSGNav，图3（PDF第4页）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MSGNav：目标定位后的视角选择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定位物体之后，还要选择能清楚看见目标的可通行位置。"/>
          <p:cNvSpPr>
            <a:spLocks noGrp="1"/>
          </p:cNvSpPr>
          <p:nvPr/>
        </p:nvSpPr>
        <p:spPr>
          <a:xfrm>
            <a:off x="685800" y="1257300"/>
            <a:ext cx="581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定位物体之后，还要选择能清楚看见目标的可通行位置。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388" y="2143125"/>
            <a:ext cx="5711825" cy="3400425"/>
          </a:xfrm>
          <a:prstGeom prst="rect">
            <a:avLst/>
          </a:prstGeom>
        </p:spPr>
      </p:pic>
      <p:sp>
        <p:nvSpPr>
          <p:cNvPr id="5" name="左：只靠距离可能停在较差视角&#10;右：采样候选位置并计算目标可见"/>
          <p:cNvSpPr>
            <a:spLocks noGrp="1"/>
          </p:cNvSpPr>
          <p:nvPr/>
        </p:nvSpPr>
        <p:spPr>
          <a:xfrm>
            <a:off x="685800" y="5676900"/>
            <a:ext cx="590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左：只靠距离可能停在较差视角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右：采样候选位置并计算目标可见率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KSS：选择相关证据"/>
          <p:cNvSpPr>
            <a:spLocks noGrp="1"/>
          </p:cNvSpPr>
          <p:nvPr/>
        </p:nvSpPr>
        <p:spPr>
          <a:xfrm>
            <a:off x="7010400" y="1257300"/>
            <a:ext cx="449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KSS：选择相关证据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相关物体筛选后，以较少图像覆盖关键关系，平均约4张图像／查询"/>
          <p:cNvSpPr>
            <a:spLocks noGrp="1"/>
          </p:cNvSpPr>
          <p:nvPr/>
        </p:nvSpPr>
        <p:spPr>
          <a:xfrm>
            <a:off x="7010400" y="1714500"/>
            <a:ext cx="4495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相关物体筛选后，以较少图像覆盖关键关系，平均约4张图像／查询。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VU 与 CLR：修正决策"/>
          <p:cNvSpPr>
            <a:spLocks noGrp="1"/>
          </p:cNvSpPr>
          <p:nvPr/>
        </p:nvSpPr>
        <p:spPr>
          <a:xfrm>
            <a:off x="7010400" y="2857500"/>
            <a:ext cx="449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AVU 与 CLR：修正决策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利用原始视觉证据更新对象词汇，结合过去的决策与反馈再次推理。"/>
          <p:cNvSpPr>
            <a:spLocks noGrp="1"/>
          </p:cNvSpPr>
          <p:nvPr/>
        </p:nvSpPr>
        <p:spPr>
          <a:xfrm>
            <a:off x="7010400" y="3314700"/>
            <a:ext cx="4495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利用原始视觉证据更新对象词汇，结合过去的决策与反馈再次推理。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VD：选择观察位置"/>
          <p:cNvSpPr>
            <a:spLocks noGrp="1"/>
          </p:cNvSpPr>
          <p:nvPr/>
        </p:nvSpPr>
        <p:spPr>
          <a:xfrm>
            <a:off x="7010400" y="4457700"/>
            <a:ext cx="449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VVD：选择观察位置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对目标周围的可通行位置计算可见率，选取遮挡较少的位置。"/>
          <p:cNvSpPr>
            <a:spLocks noGrp="1"/>
          </p:cNvSpPr>
          <p:nvPr/>
        </p:nvSpPr>
        <p:spPr>
          <a:xfrm>
            <a:off x="7010400" y="4914900"/>
            <a:ext cx="4495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对目标周围的可通行位置计算可见率，选取遮挡较少的位置。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来源：MSGNav 图4、第3.3节。依赖RGB-D与位姿，感知和VLM推理成本另计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历史记忆：方法与领先结果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核心问题：有限上下文中，怎样利用过去看见的环境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核心问题：有限上下文中，怎样利用过去看见的环境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主要方法"/>
          <p:cNvSpPr>
            <a:spLocks noGrp="1"/>
          </p:cNvSpPr>
          <p:nvPr/>
        </p:nvSpPr>
        <p:spPr>
          <a:xfrm>
            <a:off x="685800" y="1638300"/>
            <a:ext cx="3095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主要方法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主结果概览（%）"/>
          <p:cNvSpPr>
            <a:spLocks noGrp="1"/>
          </p:cNvSpPr>
          <p:nvPr/>
        </p:nvSpPr>
        <p:spPr>
          <a:xfrm>
            <a:off x="4114800" y="1638300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已收录主结果概览（%）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straNav-Memory"/>
          <p:cNvSpPr>
            <a:spLocks noGrp="1"/>
          </p:cNvSpPr>
          <p:nvPr/>
        </p:nvSpPr>
        <p:spPr>
          <a:xfrm>
            <a:off x="685800" y="21907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AstraNav-Memory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减少每帧视觉tokens&#10;读取长期图像与位姿"/>
          <p:cNvSpPr>
            <a:spLocks noGrp="1"/>
          </p:cNvSpPr>
          <p:nvPr/>
        </p:nvSpPr>
        <p:spPr>
          <a:xfrm>
            <a:off x="685800" y="26003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减少每帧视觉tokens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读取长期图像与位姿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JanusVLN"/>
          <p:cNvSpPr>
            <a:spLocks noGrp="1"/>
          </p:cNvSpPr>
          <p:nvPr/>
        </p:nvSpPr>
        <p:spPr>
          <a:xfrm>
            <a:off x="685800" y="34290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分离语义与空间特征&#10;使用历史窗口与缓存"/>
          <p:cNvSpPr>
            <a:spLocks noGrp="1"/>
          </p:cNvSpPr>
          <p:nvPr/>
        </p:nvSpPr>
        <p:spPr>
          <a:xfrm>
            <a:off x="685800" y="383857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分离语义与空间特征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使用历史窗口与缓存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两个任务组分别比较"/>
          <p:cNvSpPr>
            <a:spLocks noGrp="1"/>
          </p:cNvSpPr>
          <p:nvPr/>
        </p:nvSpPr>
        <p:spPr>
          <a:xfrm>
            <a:off x="685800" y="4667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两个任务组分别比较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目标搜索：OVON、GOAT&#10;指令跟随：R2R、R"/>
          <p:cNvSpPr>
            <a:spLocks noGrp="1"/>
          </p:cNvSpPr>
          <p:nvPr/>
        </p:nvSpPr>
        <p:spPr>
          <a:xfrm>
            <a:off x="685800" y="50768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目标搜索：OVON、GOAT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指令跟随：R2R、RxR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114800" y="1981200"/>
          <a:ext cx="7391400" cy="26289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straNav采用论文1 m判据；Janus为额"/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AstraNav采用论文1 m判据；Janus为额外数据版、单RGB。三个Seen／Synonyms／Unseen划分见下一页。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SR：成功率。SPL：按路径长度加权的成功率。范围仅限已收录论文，完整协议与来源见备注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28750"/>
          <a:ext cx="10820400" cy="46482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/>
          <p:cNvSpPr>
            <a:spLocks noGrp="1"/>
          </p:cNvSpPr>
          <p:nvPr/>
        </p:nvSpPr>
        <p:spPr>
          <a:xfrm>
            <a:off x="685800" y="61531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AstraNav-Memory：压缩后读取长期历史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主配置每帧视觉token：原始598个，压缩后30个"/>
          <p:cNvSpPr>
            <a:spLocks noGrp="1"/>
          </p:cNvSpPr>
          <p:nvPr/>
        </p:nvSpPr>
        <p:spPr>
          <a:xfrm>
            <a:off x="685800" y="120015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主配置每帧视觉token：原始598个，压缩后30个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1790700"/>
            <a:ext cx="9829800" cy="4191000"/>
          </a:xfrm>
          <a:prstGeom prst="rect">
            <a:avLst/>
          </a:prstGeom>
        </p:spPr>
      </p:pic>
      <p:sp>
        <p:nvSpPr>
          <p:cNvPr id="5" name="图像与位姿成对输入模型，用于预测目标位置或下一探索前沿坐标。"/>
          <p:cNvSpPr>
            <a:spLocks noGrp="1"/>
          </p:cNvSpPr>
          <p:nvPr/>
        </p:nvSpPr>
        <p:spPr>
          <a:xfrm>
            <a:off x="685800" y="6105525"/>
            <a:ext cx="10820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图像与位姿成对输入模型，用于预测目标位置或下一探索前沿坐标。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来源：AstraNav-Memory，图2（PDF第4页）；压缩算子按正文第3.2节解释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AstraNav-Memory：历史长度与信息损失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论文效率实验"/>
          <p:cNvSpPr>
            <a:spLocks noGrp="1"/>
          </p:cNvSpPr>
          <p:nvPr/>
        </p:nvSpPr>
        <p:spPr>
          <a:xfrm>
            <a:off x="685800" y="135255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论文效率实验</a:t>
            </a:r>
            <a:endParaRPr sz="22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24050"/>
          <a:ext cx="6858000" cy="3790950"/>
        </p:xfrm>
        <a:graphic>
          <a:graphicData uri="http://schemas.openxmlformats.org/drawingml/2006/table">
            <a:tbl>
              <a:tblPr firstRow="1"/>
              <a:tblGrid>
                <a:gridCol w="2857500"/>
                <a:gridCol w="952500"/>
                <a:gridCol w="1524000"/>
                <a:gridCol w="15240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历史设置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 秒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显存 GB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50帧，原始输入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60.2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10.3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90.6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50帧，压缩输入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46.8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100帧，压缩输入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4.2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68.5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200帧，压缩输入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55.2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86.8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更长历史仍有代价"/>
          <p:cNvSpPr>
            <a:spLocks noGrp="1"/>
          </p:cNvSpPr>
          <p:nvPr/>
        </p:nvSpPr>
        <p:spPr>
          <a:xfrm>
            <a:off x="8286750" y="1352550"/>
            <a:ext cx="3219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更长历史仍有代价</a:t>
            </a:r>
            <a:endParaRPr sz="22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同为50帧，推理由10.3秒降到2.2秒，SR也由60.2%"/>
          <p:cNvSpPr>
            <a:spLocks noGrp="1"/>
          </p:cNvSpPr>
          <p:nvPr/>
        </p:nvSpPr>
        <p:spPr>
          <a:xfrm>
            <a:off x="8286750" y="2038350"/>
            <a:ext cx="32194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同为50帧，推理由10.3秒降到2.2秒，SR也由60.2%降到56.6%。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压缩后100帧优于200帧。历史长度、细节损失与模型读取能力"/>
          <p:cNvSpPr>
            <a:spLocks noGrp="1"/>
          </p:cNvSpPr>
          <p:nvPr/>
        </p:nvSpPr>
        <p:spPr>
          <a:xfrm>
            <a:off x="8286750" y="3838575"/>
            <a:ext cx="32194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压缩后100帧优于200帧。历史长度、细节损失与模型读取能力共同影响结果。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压缩行采用原表16×空间压缩标记，与598到30的最终tok"/>
          <p:cNvSpPr>
            <a:spLocks noGrp="1"/>
          </p:cNvSpPr>
          <p:nvPr/>
        </p:nvSpPr>
        <p:spPr>
          <a:xfrm>
            <a:off x="685800" y="591502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压缩行采用原表16×空间压缩标记，与598到30的最终token统计口径不同。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 AstraNav-Memory 表3。推理单位：秒／指令；显存按原表口径保留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探索与目标搜索：方法与领先结果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核心问题：目标尚未出现时，下一步去哪里更有价值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核心问题：目标尚未出现时，下一步去哪里更有价值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主要方法"/>
          <p:cNvSpPr>
            <a:spLocks noGrp="1"/>
          </p:cNvSpPr>
          <p:nvPr/>
        </p:nvSpPr>
        <p:spPr>
          <a:xfrm>
            <a:off x="685800" y="1638300"/>
            <a:ext cx="3095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主要方法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主结果概览（%）"/>
          <p:cNvSpPr>
            <a:spLocks noGrp="1"/>
          </p:cNvSpPr>
          <p:nvPr/>
        </p:nvSpPr>
        <p:spPr>
          <a:xfrm>
            <a:off x="4114800" y="1638300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已收录主结果概览（%）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VLFM：语义价值地图"/>
          <p:cNvSpPr>
            <a:spLocks noGrp="1"/>
          </p:cNvSpPr>
          <p:nvPr/>
        </p:nvSpPr>
        <p:spPr>
          <a:xfrm>
            <a:off x="685800" y="21907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VLFM：语义价值地图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累积图文相似度&#10;评价地图前沿的价值"/>
          <p:cNvSpPr>
            <a:spLocks noGrp="1"/>
          </p:cNvSpPr>
          <p:nvPr/>
        </p:nvSpPr>
        <p:spPr>
          <a:xfrm>
            <a:off x="685800" y="26003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累积图文相似度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评价地图前沿的价值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penFrontier：视觉前沿"/>
          <p:cNvSpPr>
            <a:spLocks noGrp="1"/>
          </p:cNvSpPr>
          <p:nvPr/>
        </p:nvSpPr>
        <p:spPr>
          <a:xfrm>
            <a:off x="685800" y="34290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OpenFrontier：视觉前沿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价图像中候选方向&#10;结合信息增益与距离"/>
          <p:cNvSpPr>
            <a:spLocks noGrp="1"/>
          </p:cNvSpPr>
          <p:nvPr/>
        </p:nvSpPr>
        <p:spPr>
          <a:xfrm>
            <a:off x="685800" y="383857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评价图像中候选方向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结合信息增益与距离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目标确认闭环"/>
          <p:cNvSpPr>
            <a:spLocks noGrp="1"/>
          </p:cNvSpPr>
          <p:nvPr/>
        </p:nvSpPr>
        <p:spPr>
          <a:xfrm>
            <a:off x="685800" y="4667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目标确认闭环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执行移动后更新观测&#10;核查目标是否满足描述"/>
          <p:cNvSpPr>
            <a:spLocks noGrp="1"/>
          </p:cNvSpPr>
          <p:nvPr/>
        </p:nvSpPr>
        <p:spPr>
          <a:xfrm>
            <a:off x="685800" y="50768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执行移动后更新观测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核查目标是否满足描述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114800" y="1981200"/>
          <a:ext cx="7391400" cy="37338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Gibson / Val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Synonyms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† 本分支仅一篇报告该benchmark或划分，列"/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† 本分支仅一篇报告该benchmark或划分，列原值而不推断领先性。VLFM的OVON数据来自基准论文重评。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SR：成功率。SPL：按路径长度加权的成功率。范围仅限已收录论文，完整协议与来源见备注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OpenFrontier：在图像中评价探索方向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标记候选前沿后，VLM根据周围场景判断哪个方向更可能通向目标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标记候选前沿后，VLM根据周围场景判断哪个方向更可能通向目标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8578"/>
            <a:ext cx="10820400" cy="3453319"/>
          </a:xfrm>
          <a:prstGeom prst="rect">
            <a:avLst/>
          </a:prstGeom>
        </p:spPr>
      </p:pic>
      <p:sp>
        <p:nvSpPr>
          <p:cNvPr id="5" name="FrontierNet提供探索先验，VLM提供目标相关概率，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FrontierNet提供探索先验，VLM提供目标相关概率，三维后端维护全局候选位置。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来源：OpenFrontier，图2（PDF第2页）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OpenFrontier：候选效用与目标确认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前沿效用的组成"/>
          <p:cNvSpPr>
            <a:spLocks noGrp="1"/>
          </p:cNvSpPr>
          <p:nvPr/>
        </p:nvSpPr>
        <p:spPr>
          <a:xfrm>
            <a:off x="685800" y="13525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前沿效用的组成</a:t>
            </a:r>
            <a:endParaRPr sz="22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目标相关概率 × 信息增益 ÷ 到达距离"/>
          <p:cNvSpPr>
            <a:spLocks noGrp="1"/>
          </p:cNvSpPr>
          <p:nvPr/>
        </p:nvSpPr>
        <p:spPr>
          <a:xfrm>
            <a:off x="685800" y="1924050"/>
            <a:ext cx="59055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3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目标相关概率 × 信息增益 ÷ 到达距离</a:t>
            </a:r>
            <a:endParaRPr sz="23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2857500"/>
          <a:ext cx="5905500" cy="2705100"/>
        </p:xfrm>
        <a:graphic>
          <a:graphicData uri="http://schemas.openxmlformats.org/drawingml/2006/table">
            <a:tbl>
              <a:tblPr firstRow="1"/>
              <a:tblGrid>
                <a:gridCol w="2000250"/>
                <a:gridCol w="3905250"/>
              </a:tblGrid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来源与含义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目标相关概率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VLM根据图像与目标评估方向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信息增益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FrontierNet预测可揭示的未知空间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到达距离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当前位置到候选前沿的空间距离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停止前的目标确认"/>
          <p:cNvSpPr>
            <a:spLocks noGrp="1"/>
          </p:cNvSpPr>
          <p:nvPr/>
        </p:nvSpPr>
        <p:spPr>
          <a:xfrm>
            <a:off x="7181850" y="1352550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停止前的目标确认</a:t>
            </a:r>
            <a:endParaRPr sz="22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1  提出观察位置"/>
          <p:cNvSpPr>
            <a:spLocks noGrp="1"/>
          </p:cNvSpPr>
          <p:nvPr/>
        </p:nvSpPr>
        <p:spPr>
          <a:xfrm>
            <a:off x="7181850" y="2047875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提出观察位置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分割检测到疑似目标，结合深度与位姿，生成面向物体的观察位置。"/>
          <p:cNvSpPr>
            <a:spLocks noGrp="1"/>
          </p:cNvSpPr>
          <p:nvPr/>
        </p:nvSpPr>
        <p:spPr>
          <a:xfrm>
            <a:off x="7181850" y="2505075"/>
            <a:ext cx="4324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分割检测到疑似目标，结合深度与位姿，生成面向物体的观察位置。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  到达后再次核查"/>
          <p:cNvSpPr>
            <a:spLocks noGrp="1"/>
          </p:cNvSpPr>
          <p:nvPr/>
        </p:nvSpPr>
        <p:spPr>
          <a:xfrm>
            <a:off x="7181850" y="3514725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到达后再次核查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由VLM检查当前图像，判断该物体是否满足目标描述。"/>
          <p:cNvSpPr>
            <a:spLocks noGrp="1"/>
          </p:cNvSpPr>
          <p:nvPr/>
        </p:nvSpPr>
        <p:spPr>
          <a:xfrm>
            <a:off x="7181850" y="3971925"/>
            <a:ext cx="4324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由VLM检查当前图像，判断该物体是否满足目标描述。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确认后靠近目标。未确认则丢弃假设，恢复前沿搜索。"/>
          <p:cNvSpPr>
            <a:spLocks noGrp="1"/>
          </p:cNvSpPr>
          <p:nvPr/>
        </p:nvSpPr>
        <p:spPr>
          <a:xfrm>
            <a:off x="7181850" y="5114925"/>
            <a:ext cx="43243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确认后靠近目标。未确认则丢弃假设，恢复前沿搜索。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 OpenFrontier 第III节。仍依赖相机几何、位姿和下层导航，推理开销另计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策略训练与优化：方法与领先结果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核心问题：怎样训练目标搜索策略，并适应未见类别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核心问题：怎样训练目标搜索策略，并适应未见类别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主要方法"/>
          <p:cNvSpPr>
            <a:spLocks noGrp="1"/>
          </p:cNvSpPr>
          <p:nvPr/>
        </p:nvSpPr>
        <p:spPr>
          <a:xfrm>
            <a:off x="685800" y="1638300"/>
            <a:ext cx="3095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主要方法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主结果概览（%）"/>
          <p:cNvSpPr>
            <a:spLocks noGrp="1"/>
          </p:cNvSpPr>
          <p:nvPr/>
        </p:nvSpPr>
        <p:spPr>
          <a:xfrm>
            <a:off x="4114800" y="1638300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已收录主结果概览（%）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SegDT"/>
          <p:cNvSpPr>
            <a:spLocks noGrp="1"/>
          </p:cNvSpPr>
          <p:nvPr/>
        </p:nvSpPr>
        <p:spPr>
          <a:xfrm>
            <a:off x="685800" y="21907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目标掩码与辅助重建&#10;动作熵调节BC／PPO配比"/>
          <p:cNvSpPr>
            <a:spLocks noGrp="1"/>
          </p:cNvSpPr>
          <p:nvPr/>
        </p:nvSpPr>
        <p:spPr>
          <a:xfrm>
            <a:off x="685800" y="26003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目标掩码与辅助重建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动作熵调节BC／PPO配比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mpassNav"/>
          <p:cNvSpPr>
            <a:spLocks noGrp="1"/>
          </p:cNvSpPr>
          <p:nvPr/>
        </p:nvSpPr>
        <p:spPr>
          <a:xfrm>
            <a:off x="685800" y="34290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FT建立决策基础&#10;GRPO比较候选动作质量"/>
          <p:cNvSpPr>
            <a:spLocks noGrp="1"/>
          </p:cNvSpPr>
          <p:nvPr/>
        </p:nvSpPr>
        <p:spPr>
          <a:xfrm>
            <a:off x="685800" y="383857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SFT建立决策基础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GRPO比较候选动作质量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ON指标各有领先"/>
          <p:cNvSpPr>
            <a:spLocks noGrp="1"/>
          </p:cNvSpPr>
          <p:nvPr/>
        </p:nvSpPr>
        <p:spPr>
          <a:xfrm>
            <a:off x="685800" y="4667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OVON指标各有领先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R较高：OVSegDT&#10;SPL较高：Compas"/>
          <p:cNvSpPr>
            <a:spLocks noGrp="1"/>
          </p:cNvSpPr>
          <p:nvPr/>
        </p:nvSpPr>
        <p:spPr>
          <a:xfrm>
            <a:off x="685800" y="5076825"/>
            <a:ext cx="3048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SR较高：OVSegDT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SPL较高：CompassNav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114800" y="1981200"/>
          <a:ext cx="7391400" cy="37338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两篇传感器与评测设置不同，最高报告值分别保留。OV"/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两篇传感器与评测设置不同，最高报告值分别保留。OVSegDT为三次实验均值；全部划分与标准差见下一页。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SR：成功率。SPL：按路径长度加权的成功率。范围仅限已收录论文，完整协议与来源见备注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/>
          <p:cNvSpPr>
            <a:spLocks noGrp="1"/>
          </p:cNvSpPr>
          <p:nvPr/>
        </p:nvSpPr>
        <p:spPr>
          <a:xfrm>
            <a:off x="685800" y="62293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OVSegDT：目标掩码怎样进入策略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25" y="1457325"/>
            <a:ext cx="5998900" cy="4752975"/>
          </a:xfrm>
          <a:prstGeom prst="rect">
            <a:avLst/>
          </a:prstGeom>
        </p:spPr>
      </p:pic>
      <p:sp>
        <p:nvSpPr>
          <p:cNvPr id="4" name="输入"/>
          <p:cNvSpPr>
            <a:spLocks noGrp="1"/>
          </p:cNvSpPr>
          <p:nvPr/>
        </p:nvSpPr>
        <p:spPr>
          <a:xfrm>
            <a:off x="7381875" y="1466850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当前RGB、目标文字、&#10;上一步动作、目标二值掩码。"/>
          <p:cNvSpPr>
            <a:spLocks noGrp="1"/>
          </p:cNvSpPr>
          <p:nvPr/>
        </p:nvSpPr>
        <p:spPr>
          <a:xfrm>
            <a:off x="7381875" y="1924050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当前RGB、目标文字、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上一步动作、目标二值掩码。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时间建模"/>
          <p:cNvSpPr>
            <a:spLocks noGrp="1"/>
          </p:cNvSpPr>
          <p:nvPr/>
        </p:nvSpPr>
        <p:spPr>
          <a:xfrm>
            <a:off x="7381875" y="3057525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时间建模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ransformer读取最近100步，&#10;预测动作分布与状态"/>
          <p:cNvSpPr>
            <a:spLocks noGrp="1"/>
          </p:cNvSpPr>
          <p:nvPr/>
        </p:nvSpPr>
        <p:spPr>
          <a:xfrm>
            <a:off x="7381875" y="3514725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Transformer读取最近100步，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预测动作分布与状态价值。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辅助监督"/>
          <p:cNvSpPr>
            <a:spLocks noGrp="1"/>
          </p:cNvSpPr>
          <p:nvPr/>
        </p:nvSpPr>
        <p:spPr>
          <a:xfrm>
            <a:off x="7381875" y="4648200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重建目标掩码，促使序列特征&#10;保留目标位置线索。"/>
          <p:cNvSpPr>
            <a:spLocks noGrp="1"/>
          </p:cNvSpPr>
          <p:nvPr/>
        </p:nvSpPr>
        <p:spPr>
          <a:xfrm>
            <a:off x="7381875" y="5105400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重建目标掩码，促使序列特征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保留目标位置线索。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来源：OVSegDT，图2（PDF第4页）。图中分割头为训练辅助头，输入掩码由外部感知提供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OVSegDT：BC 与 PPO 的自适应配比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使用动作熵的滑动平均，连续调节两种学习信号的权重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使用动作熵的滑动平均，连续调节两种学习信号的权重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85975"/>
          <a:ext cx="10820400" cy="2171700"/>
        </p:xfrm>
        <a:graphic>
          <a:graphicData uri="http://schemas.openxmlformats.org/drawingml/2006/table">
            <a:tbl>
              <a:tblPr firstRow="1"/>
              <a:tblGrid>
                <a:gridCol w="4286250"/>
                <a:gridCol w="3267075"/>
                <a:gridCol w="3267075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策略状态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BC 比重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PPO 比重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高熵：动作选择较分散</a:t>
                      </a:r>
                      <a:endParaRPr sz="19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增大，更多学习专家</a:t>
                      </a:r>
                      <a:endParaRPr sz="19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减小</a:t>
                      </a:r>
                      <a:endParaRPr sz="19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低熵：动作选择更集中</a:t>
                      </a:r>
                      <a:endParaRPr sz="19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减小</a:t>
                      </a:r>
                      <a:endParaRPr sz="19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增大，更多依赖交互奖励</a:t>
                      </a:r>
                      <a:endParaRPr sz="19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适应预测掩码"/>
          <p:cNvSpPr>
            <a:spLocks noGrp="1"/>
          </p:cNvSpPr>
          <p:nvPr/>
        </p:nvSpPr>
        <p:spPr>
          <a:xfrm>
            <a:off x="685800" y="46672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适应预测掩码</a:t>
            </a:r>
            <a:endParaRPr sz="22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真值掩码训练2亿步，&#10;再使用YOLOE预测掩码适配1500万"/>
          <p:cNvSpPr>
            <a:spLocks noGrp="1"/>
          </p:cNvSpPr>
          <p:nvPr/>
        </p:nvSpPr>
        <p:spPr>
          <a:xfrm>
            <a:off x="685800" y="5248275"/>
            <a:ext cx="51054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真值掩码训练2亿步，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再使用YOLOE预测掩码适配1500万步。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HM3D-OVON Val-Unseen"/>
          <p:cNvSpPr>
            <a:spLocks noGrp="1"/>
          </p:cNvSpPr>
          <p:nvPr/>
        </p:nvSpPr>
        <p:spPr>
          <a:xfrm>
            <a:off x="6572250" y="4667250"/>
            <a:ext cx="493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HM3D-OVON Val-Unseen</a:t>
            </a:r>
            <a:endParaRPr sz="22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R 44.7 ± 0.4%，SPL 20.6 ± 0.2%"/>
          <p:cNvSpPr>
            <a:spLocks noGrp="1"/>
          </p:cNvSpPr>
          <p:nvPr/>
        </p:nvSpPr>
        <p:spPr>
          <a:xfrm>
            <a:off x="6572250" y="5248275"/>
            <a:ext cx="49339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 44.7 ± 0.4%，SPL 20.6 ± 0.2%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目标掩码的质量仍然影响泛化。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 OVSegDT 第4.2–4.3节及表1。指标为三随机种子均值±标准差；训练2 × A100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务定义决定应验证哪一种能力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71675"/>
          <a:ext cx="10820400" cy="3848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同一环境内依次完成5至10个子任务，环境与智能体状态持续保留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919"/>
            <a:ext cx="7905750" cy="4447936"/>
          </a:xfrm>
          <a:prstGeom prst="rect">
            <a:avLst/>
          </a:prstGeom>
        </p:spPr>
      </p:pic>
      <p:sp>
        <p:nvSpPr>
          <p:cNvPr id="5" name="目标形式"/>
          <p:cNvSpPr>
            <a:spLocks noGrp="1"/>
          </p:cNvSpPr>
          <p:nvPr/>
        </p:nvSpPr>
        <p:spPr>
          <a:xfrm>
            <a:off x="9029700" y="1990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目标形式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类别名称&#10;参考图像&#10;语言描述"/>
          <p:cNvSpPr>
            <a:spLocks noGrp="1"/>
          </p:cNvSpPr>
          <p:nvPr/>
        </p:nvSpPr>
        <p:spPr>
          <a:xfrm>
            <a:off x="9029700" y="244792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类别名称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参考图像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历史价值"/>
          <p:cNvSpPr>
            <a:spLocks noGrp="1"/>
          </p:cNvSpPr>
          <p:nvPr/>
        </p:nvSpPr>
        <p:spPr>
          <a:xfrm>
            <a:off x="9029700" y="38385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历史价值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复用已见物体及位置，&#10;减少后续重复探索。"/>
          <p:cNvSpPr>
            <a:spLocks noGrp="1"/>
          </p:cNvSpPr>
          <p:nvPr/>
        </p:nvSpPr>
        <p:spPr>
          <a:xfrm>
            <a:off x="9029700" y="429577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测成功率与路径效率，检验跨目标经验复用。"/>
          <p:cNvSpPr>
            <a:spLocks noGrp="1"/>
          </p:cNvSpPr>
          <p:nvPr/>
        </p:nvSpPr>
        <p:spPr>
          <a:xfrm>
            <a:off x="9029700" y="54673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五个方向的贡献位置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按主要方法贡献归类，同一系统可以同时采用多个方向的组件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按主要方法贡献归类，同一系统可以同时采用多个方向的组件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57400"/>
          <a:ext cx="10820400" cy="4162425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3067050"/>
                <a:gridCol w="2838450"/>
                <a:gridCol w="2533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方向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重点改变的环节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典型输出或载体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代表论文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334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系统组织架构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模块职责与任务接口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子目标、航点或统一决策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环境表征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观测信息的组织与表达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场景图或连续特征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历史记忆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跨时间信息的保留与读取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压缩历史或隐式缓存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探索与目标搜索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候选位置的价值与目标确认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下一探索位置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策略训练与优化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监督、奖励与优化配比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学到的导航策略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依据当前文献集归纳。</a:t>
            </a: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训练算力与传感器作为独立属性见后续页面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程序与工具／技能编排、快慢系统分层协作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多任务及规划、定位、探索与导航能力的统一建模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95500"/>
          <a:ext cx="10820400" cy="3981450"/>
        </p:xfrm>
        <a:graphic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31507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三维场景图组织物体、空间信息与视觉证据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三维物体和前沿特征的 soft-token 表示接口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长期视觉历史压缩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语义与空间双分支记忆、历史缓存与滑动窗口更新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语义价值地图与视觉前沿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结合目标相关性、信息增益和距离选择探索位置，并确认目标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目标分割辅助监督与自适应 BC／PPO 联合优化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基于候选动作质量的 SFT／GRPO 与差距感知奖励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266950"/>
          <a:ext cx="10820400" cy="3695700"/>
        </p:xfrm>
        <a:graphic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324350"/>
        </p:xfrm>
        <a:graphic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/>
          <p:cNvSpPr>
            <a:spLocks noGrp="1"/>
          </p:cNvSpPr>
          <p:nvPr/>
        </p:nvSpPr>
        <p:spPr>
          <a:xfrm>
            <a:off x="685800" y="6115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8995</Words>
  <Application>WPS 演示</Application>
  <PresentationFormat>Converted Presentation</PresentationFormat>
  <Paragraphs>1505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WPS_1674288765</cp:lastModifiedBy>
  <cp:revision>1</cp:revision>
  <dcterms:created xsi:type="dcterms:W3CDTF">2026-10-16T17:56:35Z</dcterms:created>
  <dcterms:modified xsi:type="dcterms:W3CDTF">2026-10-16T17:56:35Z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9B856E916D6E4DEABC3732413ABB5E5F_12</vt:lpwstr>
  </property>
</Properties>
</file>