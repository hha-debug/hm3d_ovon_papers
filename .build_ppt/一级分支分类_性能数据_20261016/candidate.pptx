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7241a1cf954bb4" /><Relationship Type="http://schemas.openxmlformats.org/officeDocument/2006/relationships/extended-properties" Target="/docProps/app.xml" Id="R2aecea1102b542f8" /><Relationship Type="http://schemas.openxmlformats.org/officeDocument/2006/relationships/officeDocument" Target="/ppt/presentation.xml" Id="R7b53980e5d4948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5525a58d8c41b5"/>
  </p:sldMasterIdLst>
  <p:notesMasterIdLst>
    <p:notesMasterId xmlns:r="http://schemas.openxmlformats.org/officeDocument/2006/relationships" r:id="Rab5f51f31a6f48e1"/>
  </p:notesMasterIdLst>
  <p:sldIdLst>
    <p:sldId xmlns:r="http://schemas.openxmlformats.org/officeDocument/2006/relationships" id="256" r:id="Red861a2e7eee4be0"/>
    <p:sldId xmlns:r="http://schemas.openxmlformats.org/officeDocument/2006/relationships" id="257" r:id="R41033843fcdb4ea2"/>
    <p:sldId xmlns:r="http://schemas.openxmlformats.org/officeDocument/2006/relationships" id="258" r:id="R50e8b43c94c1424a"/>
    <p:sldId xmlns:r="http://schemas.openxmlformats.org/officeDocument/2006/relationships" id="259" r:id="R03aa3c06db784994"/>
    <p:sldId xmlns:r="http://schemas.openxmlformats.org/officeDocument/2006/relationships" id="260" r:id="R5c8d8d7eca2a49dc"/>
    <p:sldId xmlns:r="http://schemas.openxmlformats.org/officeDocument/2006/relationships" id="261" r:id="R9a4859a2399646f7"/>
    <p:sldId xmlns:r="http://schemas.openxmlformats.org/officeDocument/2006/relationships" id="262" r:id="Rc7b1c4e0024041a3"/>
    <p:sldId xmlns:r="http://schemas.openxmlformats.org/officeDocument/2006/relationships" id="263" r:id="R2c5e22ae32c34f14"/>
    <p:sldId xmlns:r="http://schemas.openxmlformats.org/officeDocument/2006/relationships" id="264" r:id="Rec364defc97042a2"/>
    <p:sldId xmlns:r="http://schemas.openxmlformats.org/officeDocument/2006/relationships" id="265" r:id="R38bea6d73b1f426d"/>
    <p:sldId xmlns:r="http://schemas.openxmlformats.org/officeDocument/2006/relationships" id="266" r:id="R4cacadd0f9c842e4"/>
    <p:sldId xmlns:r="http://schemas.openxmlformats.org/officeDocument/2006/relationships" id="267" r:id="Rdcbb25dc410c4500"/>
    <p:sldId xmlns:r="http://schemas.openxmlformats.org/officeDocument/2006/relationships" id="268" r:id="Recc37e2c332c4aba"/>
    <p:sldId xmlns:r="http://schemas.openxmlformats.org/officeDocument/2006/relationships" id="269" r:id="R477324762ae64dec"/>
    <p:sldId xmlns:r="http://schemas.openxmlformats.org/officeDocument/2006/relationships" id="270" r:id="Rda8fdfa2cd974ee2"/>
    <p:sldId xmlns:r="http://schemas.openxmlformats.org/officeDocument/2006/relationships" id="271" r:id="Rf5681a100d74410d"/>
    <p:sldId xmlns:r="http://schemas.openxmlformats.org/officeDocument/2006/relationships" id="272" r:id="R8bcda51907214070"/>
    <p:sldId xmlns:r="http://schemas.openxmlformats.org/officeDocument/2006/relationships" id="273" r:id="R996e70e7126747a4"/>
    <p:sldId xmlns:r="http://schemas.openxmlformats.org/officeDocument/2006/relationships" id="274" r:id="Re5ded2bde4f347dc"/>
    <p:sldId xmlns:r="http://schemas.openxmlformats.org/officeDocument/2006/relationships" id="275" r:id="R02e46ad033264213"/>
    <p:sldId xmlns:r="http://schemas.openxmlformats.org/officeDocument/2006/relationships" id="276" r:id="R9cad9fd1881b4637"/>
    <p:sldId xmlns:r="http://schemas.openxmlformats.org/officeDocument/2006/relationships" id="277" r:id="Rc10f73081df44e7c"/>
    <p:sldId xmlns:r="http://schemas.openxmlformats.org/officeDocument/2006/relationships" id="278" r:id="R081836bf3ed343cc"/>
    <p:sldId xmlns:r="http://schemas.openxmlformats.org/officeDocument/2006/relationships" id="279" r:id="Rcf22dd9ebcae4cf4"/>
    <p:sldId xmlns:r="http://schemas.openxmlformats.org/officeDocument/2006/relationships" id="280" r:id="R3df1cdfc103f4fa5"/>
    <p:sldId xmlns:r="http://schemas.openxmlformats.org/officeDocument/2006/relationships" id="281" r:id="R269c6d1add3f4039"/>
    <p:sldId xmlns:r="http://schemas.openxmlformats.org/officeDocument/2006/relationships" id="282" r:id="R2e89418a9a0a4628"/>
    <p:sldId xmlns:r="http://schemas.openxmlformats.org/officeDocument/2006/relationships" id="283" r:id="R9058b2c589ad4fb0"/>
    <p:sldId xmlns:r="http://schemas.openxmlformats.org/officeDocument/2006/relationships" id="284" r:id="R445d7cc8468a4a63"/>
    <p:sldId xmlns:r="http://schemas.openxmlformats.org/officeDocument/2006/relationships" id="285" r:id="Re8b056be700440d8"/>
    <p:sldId xmlns:r="http://schemas.openxmlformats.org/officeDocument/2006/relationships" id="286" r:id="R043e19e6bc534f5b"/>
    <p:sldId xmlns:r="http://schemas.openxmlformats.org/officeDocument/2006/relationships" id="287" r:id="R1035de7cf8dc474f"/>
    <p:sldId xmlns:r="http://schemas.openxmlformats.org/officeDocument/2006/relationships" id="288" r:id="Rf2f150780f914229"/>
    <p:sldId xmlns:r="http://schemas.openxmlformats.org/officeDocument/2006/relationships" id="289" r:id="Rc2877f7f1ccb4a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6926ce25a747ce" /><Relationship Type="http://schemas.openxmlformats.org/officeDocument/2006/relationships/slideMaster" Target="/ppt/slideMasters/slideMaster1.xml" Id="Re75525a58d8c41b5" /><Relationship Type="http://schemas.openxmlformats.org/officeDocument/2006/relationships/notesMaster" Target="/ppt/notesMasters/notesMaster1.xml" Id="Rab5f51f31a6f48e1" /><Relationship Type="http://schemas.openxmlformats.org/officeDocument/2006/relationships/presProps" Target="/ppt/presProps.xml" Id="R7dd1f2f8365244b1" /><Relationship Type="http://schemas.openxmlformats.org/officeDocument/2006/relationships/tableStyles" Target="/ppt/tableStyles.xml" Id="R56470d1df2f84c16" /><Relationship Type="http://schemas.openxmlformats.org/officeDocument/2006/relationships/slide" Target="/ppt/slides/slide1.xml" Id="Red861a2e7eee4be0" /><Relationship Type="http://schemas.openxmlformats.org/officeDocument/2006/relationships/slide" Target="/ppt/slides/slide2.xml" Id="R41033843fcdb4ea2" /><Relationship Type="http://schemas.openxmlformats.org/officeDocument/2006/relationships/slide" Target="/ppt/slides/slide3.xml" Id="R50e8b43c94c1424a" /><Relationship Type="http://schemas.openxmlformats.org/officeDocument/2006/relationships/slide" Target="/ppt/slides/slide4.xml" Id="R03aa3c06db784994" /><Relationship Type="http://schemas.openxmlformats.org/officeDocument/2006/relationships/slide" Target="/ppt/slides/slide5.xml" Id="R5c8d8d7eca2a49dc" /><Relationship Type="http://schemas.openxmlformats.org/officeDocument/2006/relationships/slide" Target="/ppt/slides/slide6.xml" Id="R9a4859a2399646f7" /><Relationship Type="http://schemas.openxmlformats.org/officeDocument/2006/relationships/slide" Target="/ppt/slides/slide7.xml" Id="Rc7b1c4e0024041a3" /><Relationship Type="http://schemas.openxmlformats.org/officeDocument/2006/relationships/slide" Target="/ppt/slides/slide8.xml" Id="R2c5e22ae32c34f14" /><Relationship Type="http://schemas.openxmlformats.org/officeDocument/2006/relationships/slide" Target="/ppt/slides/slide9.xml" Id="Rec364defc97042a2" /><Relationship Type="http://schemas.openxmlformats.org/officeDocument/2006/relationships/slide" Target="/ppt/slides/slide10.xml" Id="R38bea6d73b1f426d" /><Relationship Type="http://schemas.openxmlformats.org/officeDocument/2006/relationships/slide" Target="/ppt/slides/slide11.xml" Id="R4cacadd0f9c842e4" /><Relationship Type="http://schemas.openxmlformats.org/officeDocument/2006/relationships/slide" Target="/ppt/slides/slide12.xml" Id="Rdcbb25dc410c4500" /><Relationship Type="http://schemas.openxmlformats.org/officeDocument/2006/relationships/slide" Target="/ppt/slides/slide13.xml" Id="Recc37e2c332c4aba" /><Relationship Type="http://schemas.openxmlformats.org/officeDocument/2006/relationships/slide" Target="/ppt/slides/slide14.xml" Id="R477324762ae64dec" /><Relationship Type="http://schemas.openxmlformats.org/officeDocument/2006/relationships/slide" Target="/ppt/slides/slide15.xml" Id="Rda8fdfa2cd974ee2" /><Relationship Type="http://schemas.openxmlformats.org/officeDocument/2006/relationships/slide" Target="/ppt/slides/slide16.xml" Id="Rf5681a100d74410d" /><Relationship Type="http://schemas.openxmlformats.org/officeDocument/2006/relationships/slide" Target="/ppt/slides/slide17.xml" Id="R8bcda51907214070" /><Relationship Type="http://schemas.openxmlformats.org/officeDocument/2006/relationships/slide" Target="/ppt/slides/slide18.xml" Id="R996e70e7126747a4" /><Relationship Type="http://schemas.openxmlformats.org/officeDocument/2006/relationships/slide" Target="/ppt/slides/slide19.xml" Id="Re5ded2bde4f347dc" /><Relationship Type="http://schemas.openxmlformats.org/officeDocument/2006/relationships/slide" Target="/ppt/slides/slide20.xml" Id="R02e46ad033264213" /><Relationship Type="http://schemas.openxmlformats.org/officeDocument/2006/relationships/slide" Target="/ppt/slides/slide21.xml" Id="R9cad9fd1881b4637" /><Relationship Type="http://schemas.openxmlformats.org/officeDocument/2006/relationships/slide" Target="/ppt/slides/slide22.xml" Id="Rc10f73081df44e7c" /><Relationship Type="http://schemas.openxmlformats.org/officeDocument/2006/relationships/slide" Target="/ppt/slides/slide23.xml" Id="R081836bf3ed343cc" /><Relationship Type="http://schemas.openxmlformats.org/officeDocument/2006/relationships/slide" Target="/ppt/slides/slide24.xml" Id="Rcf22dd9ebcae4cf4" /><Relationship Type="http://schemas.openxmlformats.org/officeDocument/2006/relationships/slide" Target="/ppt/slides/slide25.xml" Id="R3df1cdfc103f4fa5" /><Relationship Type="http://schemas.openxmlformats.org/officeDocument/2006/relationships/slide" Target="/ppt/slides/slide26.xml" Id="R269c6d1add3f4039" /><Relationship Type="http://schemas.openxmlformats.org/officeDocument/2006/relationships/slide" Target="/ppt/slides/slide27.xml" Id="R2e89418a9a0a4628" /><Relationship Type="http://schemas.openxmlformats.org/officeDocument/2006/relationships/slide" Target="/ppt/slides/slide28.xml" Id="R9058b2c589ad4fb0" /><Relationship Type="http://schemas.openxmlformats.org/officeDocument/2006/relationships/slide" Target="/ppt/slides/slide29.xml" Id="R445d7cc8468a4a63" /><Relationship Type="http://schemas.openxmlformats.org/officeDocument/2006/relationships/slide" Target="/ppt/slides/slide30.xml" Id="Re8b056be700440d8" /><Relationship Type="http://schemas.openxmlformats.org/officeDocument/2006/relationships/slide" Target="/ppt/slides/slide31.xml" Id="R043e19e6bc534f5b" /><Relationship Type="http://schemas.openxmlformats.org/officeDocument/2006/relationships/slide" Target="/ppt/slides/slide32.xml" Id="R1035de7cf8dc474f" /><Relationship Type="http://schemas.openxmlformats.org/officeDocument/2006/relationships/slide" Target="/ppt/slides/slide33.xml" Id="Rf2f150780f914229" /><Relationship Type="http://schemas.openxmlformats.org/officeDocument/2006/relationships/slide" Target="/ppt/slides/slide34.xml" Id="Rc2877f7f1ccb4a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679474c2c64a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d9630827a74a60" /><Relationship Type="http://schemas.openxmlformats.org/officeDocument/2006/relationships/notesMaster" Target="/ppt/notesMasters/notesMaster1.xml" Id="Rbf0e4cf6bb0d49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6a51291f094d08" /><Relationship Type="http://schemas.openxmlformats.org/officeDocument/2006/relationships/notesMaster" Target="/ppt/notesMasters/notesMaster1.xml" Id="R91b83380fe8448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9f4c048e5f4f89" /><Relationship Type="http://schemas.openxmlformats.org/officeDocument/2006/relationships/notesMaster" Target="/ppt/notesMasters/notesMaster1.xml" Id="Rf2751264a5c74b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8fe12989040f1" /><Relationship Type="http://schemas.openxmlformats.org/officeDocument/2006/relationships/notesMaster" Target="/ppt/notesMasters/notesMaster1.xml" Id="R79fbc58e8dff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9e06b2d1654430" /><Relationship Type="http://schemas.openxmlformats.org/officeDocument/2006/relationships/notesMaster" Target="/ppt/notesMasters/notesMaster1.xml" Id="R5c397cbe979946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4f722e67a24c8f" /><Relationship Type="http://schemas.openxmlformats.org/officeDocument/2006/relationships/notesMaster" Target="/ppt/notesMasters/notesMaster1.xml" Id="Ra66936818e7440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40b8619b774733" /><Relationship Type="http://schemas.openxmlformats.org/officeDocument/2006/relationships/notesMaster" Target="/ppt/notesMasters/notesMaster1.xml" Id="R70eefabdbaba47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079ee7720488a" /><Relationship Type="http://schemas.openxmlformats.org/officeDocument/2006/relationships/notesMaster" Target="/ppt/notesMasters/notesMaster1.xml" Id="R1fe2fe858c464a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1ac216ce694cc7" /><Relationship Type="http://schemas.openxmlformats.org/officeDocument/2006/relationships/notesMaster" Target="/ppt/notesMasters/notesMaster1.xml" Id="R32caa218000a4a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f528ce388c4c48" /><Relationship Type="http://schemas.openxmlformats.org/officeDocument/2006/relationships/notesMaster" Target="/ppt/notesMasters/notesMaster1.xml" Id="Rf9a55f9db42044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89ead176654639" /><Relationship Type="http://schemas.openxmlformats.org/officeDocument/2006/relationships/notesMaster" Target="/ppt/notesMasters/notesMaster1.xml" Id="Rd76845b4341f46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40512cd03346db" /><Relationship Type="http://schemas.openxmlformats.org/officeDocument/2006/relationships/notesMaster" Target="/ppt/notesMasters/notesMaster1.xml" Id="R00565f687a0048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509556df6345e6" /><Relationship Type="http://schemas.openxmlformats.org/officeDocument/2006/relationships/notesMaster" Target="/ppt/notesMasters/notesMaster1.xml" Id="R66bdfe8f1acf4b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11d53a8bc148eb" /><Relationship Type="http://schemas.openxmlformats.org/officeDocument/2006/relationships/notesMaster" Target="/ppt/notesMasters/notesMaster1.xml" Id="Rf12a0ea5ba684c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01716e1bd84ddc" /><Relationship Type="http://schemas.openxmlformats.org/officeDocument/2006/relationships/notesMaster" Target="/ppt/notesMasters/notesMaster1.xml" Id="R441bda8281ca43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79abf0c88046bb" /><Relationship Type="http://schemas.openxmlformats.org/officeDocument/2006/relationships/notesMaster" Target="/ppt/notesMasters/notesMaster1.xml" Id="R32bb30f60d5347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873873c6c74d4f" /><Relationship Type="http://schemas.openxmlformats.org/officeDocument/2006/relationships/notesMaster" Target="/ppt/notesMasters/notesMaster1.xml" Id="Rc86bc942902149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71f8614d564f53" /><Relationship Type="http://schemas.openxmlformats.org/officeDocument/2006/relationships/notesMaster" Target="/ppt/notesMasters/notesMaster1.xml" Id="Rfd340598c30e44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ad65bc48de48c7" /><Relationship Type="http://schemas.openxmlformats.org/officeDocument/2006/relationships/notesMaster" Target="/ppt/notesMasters/notesMaster1.xml" Id="R980eff6ad4c043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8b9f22f5794f94" /><Relationship Type="http://schemas.openxmlformats.org/officeDocument/2006/relationships/notesMaster" Target="/ppt/notesMasters/notesMaster1.xml" Id="R593117bf57494e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b2a4a46d2a4b60" /><Relationship Type="http://schemas.openxmlformats.org/officeDocument/2006/relationships/notesMaster" Target="/ppt/notesMasters/notesMaster1.xml" Id="R69c93d3971e549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75062c768a4c74" /><Relationship Type="http://schemas.openxmlformats.org/officeDocument/2006/relationships/notesMaster" Target="/ppt/notesMasters/notesMaster1.xml" Id="Rb0d3740e5adf4a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3a2fec4fed42d0" /><Relationship Type="http://schemas.openxmlformats.org/officeDocument/2006/relationships/notesMaster" Target="/ppt/notesMasters/notesMaster1.xml" Id="Rf29852e1ac5d4b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60fe676efc49a0" /><Relationship Type="http://schemas.openxmlformats.org/officeDocument/2006/relationships/notesMaster" Target="/ppt/notesMasters/notesMaster1.xml" Id="Rfb7bc2559f8541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6832ebd3de40bd" /><Relationship Type="http://schemas.openxmlformats.org/officeDocument/2006/relationships/notesMaster" Target="/ppt/notesMasters/notesMaster1.xml" Id="Ra169aa73d86d48d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0541082e00b45a8" /><Relationship Type="http://schemas.openxmlformats.org/officeDocument/2006/relationships/notesMaster" Target="/ppt/notesMasters/notesMaster1.xml" Id="R419a5fe08438473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1be5807da2446a" /><Relationship Type="http://schemas.openxmlformats.org/officeDocument/2006/relationships/notesMaster" Target="/ppt/notesMasters/notesMaster1.xml" Id="R78fdd11bc60847e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18dacfe6634162" /><Relationship Type="http://schemas.openxmlformats.org/officeDocument/2006/relationships/notesMaster" Target="/ppt/notesMasters/notesMaster1.xml" Id="Ra40fe976c5ef41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af9c70ce8ed42fc" /><Relationship Type="http://schemas.openxmlformats.org/officeDocument/2006/relationships/notesMaster" Target="/ppt/notesMasters/notesMaster1.xml" Id="Ra19599366ff54e4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630f69855814f5e" /><Relationship Type="http://schemas.openxmlformats.org/officeDocument/2006/relationships/notesMaster" Target="/ppt/notesMasters/notesMaster1.xml" Id="R582db196cd87460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8fb47e18159464c" /><Relationship Type="http://schemas.openxmlformats.org/officeDocument/2006/relationships/notesMaster" Target="/ppt/notesMasters/notesMaster1.xml" Id="R118c89a6ff5940a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83417113acd405d" /><Relationship Type="http://schemas.openxmlformats.org/officeDocument/2006/relationships/notesMaster" Target="/ppt/notesMasters/notesMaster1.xml" Id="R3a14c1fa41af4cb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e76703da4a54295" /><Relationship Type="http://schemas.openxmlformats.org/officeDocument/2006/relationships/notesMaster" Target="/ppt/notesMasters/notesMaster1.xml" Id="R01be88c1de834bb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5081cb9824e4754" /><Relationship Type="http://schemas.openxmlformats.org/officeDocument/2006/relationships/notesMaster" Target="/ppt/notesMasters/notesMaster1.xml" Id="Rda80283cc8f845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文献范围：14篇方法论文，4篇数据集与评测基准。分类及训练配置均采用源文档口径。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HM3D-OVON-Papers</a:t>
            </a:r>
          </a:p>
          <a:p xmlns:a="http://schemas.openxmlformats.org/drawingml/2006/main">
            <a:r>
              <a:t>├── 方法论文</a:t>
            </a:r>
          </a:p>
          <a:p xmlns:a="http://schemas.openxmlformats.org/drawingml/2006/main">
            <a:r>
              <a:t>│   ├── 系统组织架构</a:t>
            </a:r>
          </a:p>
          <a:p xmlns:a="http://schemas.openxmlformats.org/drawingml/2006/main">
            <a:r>
              <a:t>│   │   ├── TANGO【训练：无需新增导航专项训练】</a:t>
            </a:r>
          </a:p>
          <a:p xmlns:a="http://schemas.openxmlformats.org/drawingml/2006/main">
            <a:r>
              <a:t>│   │   ├── SuperNav【训练：主模型与几何执行器无需；可选学习式执行器的 GPU 配置未报告】</a:t>
            </a:r>
          </a:p>
          <a:p xmlns:a="http://schemas.openxmlformats.org/drawingml/2006/main">
            <a:r>
              <a:t>│   │   ├── OmniNav【训练：阶段1 96×H20，120小时；阶段2 64×H20，48小时】</a:t>
            </a:r>
          </a:p>
          <a:p xmlns:a="http://schemas.openxmlformats.org/drawingml/2006/main">
            <a:r>
              <a:t>│   │   ├── D3D-VLP【训练：4×RTX 6000 Ada，约14天】</a:t>
            </a:r>
          </a:p>
          <a:p xmlns:a="http://schemas.openxmlformats.org/drawingml/2006/main">
            <a:r>
              <a:t>│   │   ├── Uni-NaVid【训练：40×H800，约35小时】</a:t>
            </a:r>
          </a:p>
          <a:p xmlns:a="http://schemas.openxmlformats.org/drawingml/2006/main">
            <a:r>
              <a:t>│   │   └── MTU3D【训练：4×A100；约164 GPU·小时】</a:t>
            </a:r>
          </a:p>
          <a:p xmlns:a="http://schemas.openxmlformats.org/drawingml/2006/main">
            <a:r>
              <a:t>│   ├── 环境表征</a:t>
            </a:r>
          </a:p>
          <a:p xmlns:a="http://schemas.openxmlformats.org/drawingml/2006/main">
            <a:r>
              <a:t>│   │   ├── MSGNav【训练：无需新增导航专项训练】</a:t>
            </a:r>
          </a:p>
          <a:p xmlns:a="http://schemas.openxmlformats.org/drawingml/2006/main">
            <a:r>
              <a:t>│   │   └── SoftNav【训练：1×RTX 4090；时长未报告】</a:t>
            </a:r>
          </a:p>
          <a:p xmlns:a="http://schemas.openxmlformats.org/drawingml/2006/main">
            <a:r>
              <a:t>│   ├── 历史记忆</a:t>
            </a:r>
          </a:p>
          <a:p xmlns:a="http://schemas.openxmlformats.org/drawingml/2006/main">
            <a:r>
              <a:t>│   │   ├── AstraNav-Memory【训练：32×H20；时长未报告】</a:t>
            </a:r>
          </a:p>
          <a:p xmlns:a="http://schemas.openxmlformats.org/drawingml/2006/main">
            <a:r>
              <a:t>│   │   └── JanusVLN【训练：64×H20，约31小时；阅读笔记转引作者答复】</a:t>
            </a:r>
          </a:p>
          <a:p xmlns:a="http://schemas.openxmlformats.org/drawingml/2006/main">
            <a:r>
              <a:t>│   ├── 探索与目标搜索</a:t>
            </a:r>
          </a:p>
          <a:p xmlns:a="http://schemas.openxmlformats.org/drawingml/2006/main">
            <a:r>
              <a:t>│   │   ├── VLFM【训练：无需新增导航专项训练】</a:t>
            </a:r>
          </a:p>
          <a:p xmlns:a="http://schemas.openxmlformats.org/drawingml/2006/main">
            <a:r>
              <a:t>│   │   └── OpenFrontier【训练：无需新增导航专项训练】</a:t>
            </a:r>
          </a:p>
          <a:p xmlns:a="http://schemas.openxmlformats.org/drawingml/2006/main">
            <a:r>
              <a:t>│   └── 导航策略训练与优化</a:t>
            </a:r>
          </a:p>
          <a:p xmlns:a="http://schemas.openxmlformats.org/drawingml/2006/main">
            <a:r>
              <a:t>│       ├── OVSegDT【训练：2×A100；约2.15亿环境步，时长未报告】</a:t>
            </a:r>
          </a:p>
          <a:p xmlns:a="http://schemas.openxmlformats.org/drawingml/2006/main">
            <a:r>
              <a:t>│       └── CompassNav【训练：SFT 8×A800，约12小时；RFT 8×H200，约56.7小时（估算）】</a:t>
            </a:r>
          </a:p>
          <a:p xmlns:a="http://schemas.openxmlformats.org/drawingml/2006/main">
            <a:r>
              <a:t>└── 数据集与评测基准</a:t>
            </a:r>
          </a:p>
          <a:p xmlns:a="http://schemas.openxmlformats.org/drawingml/2006/main">
            <a:r>
              <a:t>    ├── HM3D Semantics【训练：数据集本身不适用；导航基线另计】</a:t>
            </a:r>
          </a:p>
          <a:p xmlns:a="http://schemas.openxmlformats.org/drawingml/2006/main">
            <a:r>
              <a:t>    ├── HM3D-OVON【训练：按各基线分别统计】</a:t>
            </a:r>
          </a:p>
          <a:p xmlns:a="http://schemas.openxmlformats.org/drawingml/2006/main">
            <a:r>
              <a:t>    ├── GOAT-Bench【训练：按各基线分别统计】</a:t>
            </a:r>
          </a:p>
          <a:p xmlns:a="http://schemas.openxmlformats.org/drawingml/2006/main">
            <a:r>
              <a:t>    └── SG3D / SG-LLM【训练：按 SG-LLM 等基线分别统计】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方向关注模块的职责划分、任务接口及执行反馈。程序编排、快慢系统和统一决策是当前文献集合中的不同组织方式。OmniNav只代表其中的快慢协作路线，不能用它概括整个分支。统一建模内部也有区别：D3D-VLP联合规划、三维定位与导航，Uni-NaVid统一多任务视频输入和动作输出，MTU3D将目标对象和探索前沿统一为候选查询打分。分类按主要贡献归纳，各分支允许共享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  <a:p xmlns:a="http://schemas.openxmlformats.org/drawingml/2006/main">
            <a:r>
              <a:t>E:\科研_机器人\HM3D-OVON\HM3D_OVON_Papers\03_大模型规划与工具调用\read-Tango.md</a:t>
            </a:r>
          </a:p>
          <a:p xmlns:a="http://schemas.openxmlformats.org/drawingml/2006/main">
            <a:r>
              <a:t>E:\科研_机器人\HM3D-OVON\HM3D_OVON_Papers\03_大模型规划与工具调用\read-SuperNav.md</a:t>
            </a:r>
          </a:p>
          <a:p xmlns:a="http://schemas.openxmlformats.org/drawingml/2006/main">
            <a:r>
              <a:t>E:\科研_机器人\HM3D-OVON\HM3D_OVON_Papers\04_三维空间表征与目标推理\read-D3D.md</a:t>
            </a:r>
          </a:p>
          <a:p xmlns:a="http://schemas.openxmlformats.org/drawingml/2006/main">
            <a:r>
              <a:t>E:\科研_机器人\HM3D-OVON\HM3D_OVON_Papers\05_视觉语言动作决策与视频记忆\read-UniNavid.md</a:t>
            </a:r>
          </a:p>
          <a:p xmlns:a="http://schemas.openxmlformats.org/drawingml/2006/main">
            <a:r>
              <a:t>E:\科研_机器人\HM3D-OVON\HM3D_OVON_Papers\04_三维空间表征与目标推理\read-MTU.md</a:t>
            </a:r>
          </a:p>
          <a:p xmlns:a="http://schemas.openxmlformats.org/drawingml/2006/main">
            <a:r>
              <a:t>E:\科研_机器人\HM3D-OVON\HM3D_OVON_Papers\05_视觉语言动作决策与视频记忆\2026_ICLR_OmniNav.pdf，第3节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新增性能数据说明：常规主表的OVON、GOAT和VLN分别显示该方向较高的报告值。SuperNav子集与距离定义不同，不能和常规OVON行作严格排名。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 xmlns:a="http://schemas.openxmlformats.org/drawingml/2006/main"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 xmlns:a="http://schemas.openxmlformats.org/drawingml/2006/main"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 xmlns:a="http://schemas.openxmlformats.org/drawingml/2006/main"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 xmlns:a="http://schemas.openxmlformats.org/drawingml/2006/main"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 xmlns:a="http://schemas.openxmlformats.org/drawingml/2006/main"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arch_omni_S: OmniNav，HM3D-OVON / Val-Seen，SR=56.1%，SPL=30%。来源：E:\科研_机器人\HM3D-OVON\HM3D_OVON_Papers\05_视觉语言动作决策与视频记忆\2026_ICLR_OmniNav.pdf，PDF第8页，Table 2。协议：慢系统+CoT；RGB-D与里程计；1 m口径。</a:t>
            </a:r>
          </a:p>
          <a:p xmlns:a="http://schemas.openxmlformats.org/drawingml/2006/main">
            <a:r>
              <a:t>arch_omni_Y: OmniNav，HM3D-OVON / Val-Seen-Synonyms，SR=68.6%，SPL=38.8%。来源：E:\科研_机器人\HM3D-OVON\HM3D_OVON_Papers\05_视觉语言动作决策与视频记忆\2026_ICLR_OmniNav.pdf，PDF第8页，Table 2。协议：慢系统+CoT；RGB-D与里程计；1 m口径。</a:t>
            </a:r>
          </a:p>
          <a:p xmlns:a="http://schemas.openxmlformats.org/drawingml/2006/main"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 xmlns:a="http://schemas.openxmlformats.org/drawingml/2006/main">
            <a:r>
              <a:t>arch_mtu_goat_S: MTU3D，GOAT-Bench / Val-Seen，SR=52.2%，SPL=30.5%。来源：E:\科研_机器人\HM3D-OVON\HM3D_OVON_Papers\04_三维空间表征与目标推理\2025_ICCV_MTU3D_Move_to_Understand_a_3D_Scene.pdf，PDF第7页，Table 5。协议：跨子任务记忆。</a:t>
            </a:r>
          </a:p>
          <a:p xmlns:a="http://schemas.openxmlformats.org/drawingml/2006/main">
            <a:r>
              <a:t>arch_mtu_goat_Y: MTU3D，GOAT-Bench / Val-Seen-Synonyms，SR=48.4%，SPL=30.3%。来源：E:\科研_机器人\HM3D-OVON\HM3D_OVON_Papers\04_三维空间表征与目标推理\2025_ICCV_MTU3D_Move_to_Understand_a_3D_Scene.pdf，PDF第7页，Table 5。协议：跨子任务记忆。</a:t>
            </a:r>
          </a:p>
          <a:p xmlns:a="http://schemas.openxmlformats.org/drawingml/2006/main"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 xmlns:a="http://schemas.openxmlformats.org/drawingml/2006/main">
            <a:r>
              <a:t>arch_uni_obj: Uni-NaVid，HM3D ObjectNav / Val，SR=73.7%，SPL=37.1%。来源：E:\科研_机器人\HM3D-OVON\HM3D_OVON_Papers\05_视觉语言动作决策与视频记忆\2025_RSS_Uni-NaVid.pdf，PDF第8页，Table IV。协议：原论文验证集；单RGB；与SuperNav重评协议分列。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 xmlns:a="http://schemas.openxmlformats.org/drawingml/2006/main"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 xmlns:a="http://schemas.openxmlformats.org/drawingml/2006/main">
            <a:r>
              <a:t>arch_d3d_reverie: D3D-VLP，REVERIE-CE / 论文验证设置，SR=47.5%，SPL=34.7%。来源：E:\科研_机器人\HM3D-OVON\HM3D_OVON_Papers\04_三维空间表征与目标推理\2026_CVPR_D3D-VLP.pdf，PDF第7页，Table 2。协议：单摄像头RGB-D流与位姿。</a:t>
            </a:r>
          </a:p>
          <a:p xmlns:a="http://schemas.openxmlformats.org/drawingml/2006/main">
            <a:r>
              <a:t>arch_d3d_navrag: D3D-VLP，NavRAG-CE / 论文验证设置，SR=31.1%，SPL=23.9%。来源：E:\科研_机器人\HM3D-OVON\HM3D_OVON_Papers\04_三维空间表征与目标推理\2026_CVPR_D3D-VLP.pdf，PDF第7页，Table 2。协议：单摄像头RGB-D流与位姿。</a:t>
            </a:r>
          </a:p>
          <a:p xmlns:a="http://schemas.openxmlformats.org/drawingml/2006/main"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 xmlns:a="http://schemas.openxmlformats.org/drawingml/2006/main">
            <a:r>
              <a:t>arch_uni_follow: Uni-NaVid，自建人物跟随 / 默认验证配置，SR=61.21%，SPL=未报告%。来源：E:\科研_机器人\HM3D-OVON\HM3D_OVON_Papers\05_视觉语言动作决策与视频记忆\2025_RSS_Uni-NaVid.pdf，PDF第9页，Table VII。协议：无SPL；FR=71.93%，CR=2.07%。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super_ovon025: SuperNav，HM3D-OVON / Val-Unseen 120子集，0.25 m，SR=68.33%，SPL=38.37%。来源：E:\科研_机器人\HM3D-OVON\HM3D_OVON_Papers\03_大模型规划与工具调用\SuperNav.pdf，PDF第8页，Table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 xmlns:a="http://schemas.openxmlformats.org/drawingml/2006/main">
            <a:r>
              <a:t>super_ovon1: SuperNav，HM3D-OVON / Val-Unseen 120子集，1 m，SR=73.33%，SPL=41.05%。来源：E:\科研_机器人\HM3D-OVON\HM3D_OVON_Papers\03_大模型规划与工具调用\SuperNav.pdf，PDF第8页，Table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 xmlns:a="http://schemas.openxmlformats.org/drawingml/2006/main"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 xmlns:a="http://schemas.openxmlformats.org/drawingml/2006/main">
            <a:r>
              <a:t>super_astra1: SuperNav，HM3D-OVON / 120子集，1 m；模型替换，SR=79.17%，SPL=49.74%。来源：E:\科研_机器人\HM3D-OVON\HM3D_OVON_Papers\03_大模型规划与工具调用\SuperNav.pdf，PDF第8页，Table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 xmlns:a="http://schemas.openxmlformats.org/drawingml/2006/main">
            <a:r>
              <a:t>super_hm302: SuperNav，HM3Dv2 ObjectNav / 1000 episodes，0.2 m，SR=80.3%，SPL=33.38%。来源：E:\科研_机器人\HM3D-OVON\HM3D_OVON_Papers\03_大模型规划与工具调用\SuperNav.pdf，PDF第8页，Table 2。协议：Geo执行器；到目标视点测地距离。原SPL乘100转换为百分制</a:t>
            </a:r>
          </a:p>
          <a:p xmlns:a="http://schemas.openxmlformats.org/drawingml/2006/main">
            <a:r>
              <a:t>super_hm31: SuperNav，HM3Dv2 ObjectNav / 1000 episodes，1 m，SR=86.5%，SPL=36.38%。来源：E:\科研_机器人\HM3D-OVON\HM3D_OVON_Papers\03_大模型规划与工具调用\SuperNav.pdf，PDF第8页，Table 2。协议：Geo执行器；到目标视点测地距离。原SPL乘100转换为百分制</a:t>
            </a:r>
          </a:p>
          <a:p xmlns:a="http://schemas.openxmlformats.org/drawingml/2006/main">
            <a:r>
              <a:t>super_single: SuperNav，Habitat-GS / InteriorGS / 单目标，150 tasks，SR=78%，SPL=41.27%。来源：E:\科研_机器人\HM3D-OVON\HM3D_OVON_Papers\03_大模型规划与工具调用\SuperNav.pdf，PDF第6页，Table 1。协议：Geo执行器；距合格目标视点&lt;1 m，需STOP。原SPL乘100转换为百分制</a:t>
            </a:r>
          </a:p>
          <a:p xmlns:a="http://schemas.openxmlformats.org/drawingml/2006/main">
            <a:r>
              <a:t>super_multi: SuperNav，Habitat-GS / InteriorGS / 顺序多目标，150 tasks，SR=34%，SPL=13.88%。来源：E:\科研_机器人\HM3D-OVON\HM3D_OVON_Papers\03_大模型规划与工具调用\SuperNav.pdf，PDF第6页，Table 1。协议：Geo执行器；2–5目标全部成功，需STOP。原SPL乘100转换为百分制</a:t>
            </a:r>
          </a:p>
          <a:p xmlns:a="http://schemas.openxmlformats.org/drawingml/2006/main">
            <a:r>
              <a:t>super_demand: SuperNav，Demand-Bench / AI2-THOR / 需求驱动，200 tasks，SR=59.5%，SPL=18.01%。来源：E:\科研_机器人\HM3D-OVON\HM3D_OVON_Papers\03_大模型规划与工具调用\SuperNav.pdf，PDF第6页，Table 1。协议：改编协议；进入顺序2 m包围盒区域，需STOP。原SPL乘100转换为百分制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图先看左侧输入接口，再看右上角快系统，最后看底部的慢系统。快慢系统共享Qwen2.5-VL-3B参数，区别主要是输入和职责。慢系统使用占据地图得到的前沿、历史图像及位姿：未见目标时选择探索子目标，已在当前或历史观测中见到目标时预测目标位置。快系统利用视觉上下文和子目标，通过Flow Matching策略头一次生成未来5个连续航点，并随着新图像到来滚动更新。航点包含位置、朝向及到达标记。完整慢系统需要深度和里程计构图。原图中“Diffusion Policy Head”是概览标记，正文详细实现采用Flow Matching。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E:\科研_机器人\HM3D-OVON\HM3D_OVON_Papers\05_视觉语言动作决策与视频记忆\2026_ICLR_OmniNav.pdf，PDF第4页，图1；第3节，PDF第3–5页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寻找电视为例：若目标未出现，慢系统结合前沿附近图像、空间位置和目标语义，选择值得探索的子目标。快系统执行时继续根据视觉观测绕障和调整航点，不能理解成单纯沿直线跟踪坐标。达到子目标或获得新证据后更新全局决策。右表摘录论文表3，均为HM3D-OVON Val-Unseen。原表还含“加入通用数据”一行（57.7/32.9），本页为便于说明仅显示所列配置，完整配置也包括通用数据与CoT。增加慢系统同时增加深度、里程计、占据地图和历史信息，因此不能把12.4个百分点的SR增长单独归因于推理模式。论文实机超过5Hz的报告对应快系统。训练两阶段分别为离散语义动作对齐和连续航点训练，并非快慢系统各自独立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E:\科研_机器人\HM3D-OVON\HM3D_OVON_Papers\05_视觉语言动作决策与视频记忆\2026_ICLR_OmniNav.pdf，PDF第5页，第3节；PDF第7页，第4.3节；PDF第9页，表3与实机部署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环境表征回答的是模型可以访问什么状态，以及状态用什么形式表示。MSGNav将对象、位置、房间属性以及共同观察对象的图像组织成多模态三维场景图，供视觉语言推理查询。SoftNav则将三维物体和前沿的连续特征，经MLP映射到VLM的嵌入空间形成soft tokens，和压缩视觉历史、文字目标联合处理。soft token是实体特征向量，不是把三维坐标改写成文字。两者都使用RGB-D与位姿，也包含历史或探索后端，但这里依据主要的信息组织与输入接口贡献归类。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E:\科研_机器人\HM3D-OVON\HM3D_OVON_Papers\04_三维空间表征与目标推理\2026_CVPR_MSGNav.pdf，第3.2–3.3节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新增性能数据说明：SoftNav GOAT每划分30 episodes，MSGNav GOAT为360 episodes / 2669子任务。两套子集不能当成统一排行榜。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 xmlns:a="http://schemas.openxmlformats.org/drawingml/2006/main"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 xmlns:a="http://schemas.openxmlformats.org/drawingml/2006/main"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 xmlns:a="http://schemas.openxmlformats.org/drawingml/2006/main"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  <a:p xmlns:a="http://schemas.openxmlformats.org/drawingml/2006/main"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env_soft_ovon_S: SoftNav，HM3D-OVON / Val-Seen，SR=74.2%，SPL=33.9%。来源：E:\科研_机器人\HM3D-OVON\HM3D_OVON_Papers\04_三维空间表征与目标推理\2607.14586v1.pdf，PDF第5页，Table II。协议：每划分120 episodes；0.25 m；RGB-D+位姿。</a:t>
            </a:r>
          </a:p>
          <a:p xmlns:a="http://schemas.openxmlformats.org/drawingml/2006/main">
            <a:r>
              <a:t>env_soft_ovon_Y: SoftNav，HM3D-OVON / Val-Seen-Synonyms，SR=68.3%，SPL=28.6%。来源：E:\科研_机器人\HM3D-OVON\HM3D_OVON_Papers\04_三维空间表征与目标推理\2607.14586v1.pdf，PDF第5页，Table II。协议：每划分120 episodes；0.25 m；RGB-D+位姿。</a:t>
            </a:r>
          </a:p>
          <a:p xmlns:a="http://schemas.openxmlformats.org/drawingml/2006/main"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 xmlns:a="http://schemas.openxmlformats.org/drawingml/2006/main"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env_soft_goat_S: SoftNav，GOAT-Bench / Val-Seen，SR=67.2%，SPL=29%。来源：E:\科研_机器人\HM3D-OVON\HM3D_OVON_Papers\04_三维空间表征与目标推理\2607.14586v1.pdf，PDF第5页，Table III。协议：每划分30 episodes；0.25 m；OVON策略零样本迁移。</a:t>
            </a:r>
          </a:p>
          <a:p xmlns:a="http://schemas.openxmlformats.org/drawingml/2006/main">
            <a:r>
              <a:t>env_soft_goat_Y: SoftNav，GOAT-Bench / Val-Seen-Synonyms，SR=63.2%，SPL=25.8%。来源：E:\科研_机器人\HM3D-OVON\HM3D_OVON_Papers\04_三维空间表征与目标推理\2607.14586v1.pdf，PDF第5页，Table III。协议：每划分30 episodes；0.25 m；OVON策略零样本迁移。</a:t>
            </a:r>
          </a:p>
          <a:p xmlns:a="http://schemas.openxmlformats.org/drawingml/2006/main"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 xmlns:a="http://schemas.openxmlformats.org/drawingml/2006/main"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 xmlns:a="http://schemas.openxmlformats.org/drawingml/2006/main"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左说明表示构建：通过检测、分割和视觉编码得到对象，结合深度与位姿跨帧匹配对象并融合属性。图的边保存邻近对象对共同出现的RGB-D图像，不应把它简单理解成语言模型生成的关系文本。右侧四个模块依次用于降低查询成本、扩充词汇、利用决策反馈以及选择最终观察位置。KSS先压缩为邻接信息，再选择相关对象并用贪心图像覆盖保留关键证据。AVU由图像证据发现预设词表外的对象名称。CLR记录历史决策与反馈。VVD在目标附近选择可见率更高的可通行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E:\科研_机器人\HM3D-OVON\HM3D_OVON_Papers\04_三维空间表征与目标推理\2026_CVPR_MSGNav.pdf，PDF第4页，图3；第3.2–3.3节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展示目标是镜子时的最后一段导航。仅选择离物体最近的可通行点可能视野不好，或者物体遮挡严重。VVD围绕物体采样可通行位置，根据场景点云判断各位置到目标点云的可见率，再选择得分更高的观察位置。这说明表征必须保留足以支持后续动作选择的空间与视觉证据。图中数值是该示意中的可见率，不是导航成功率。KSS在论文中平均每次查询约4张图，并报告较完整输入减少超过95%的token成本，这不是所有场景的固定上限。该系统无需新增导航专项训练，但依赖感知模型、稳定的深度与位姿，以及VLM推理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E:\科研_机器人\HM3D-OVON\HM3D_OVON_Papers\04_三维空间表征与目标推理\2026_CVPR_MSGNav.pdf，PDF第5页，第3.3.1节；PDF第6页，图4和第3.3.4节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记忆关注信息如何跨时间保留，以及新观测到来后怎样更新和读取。AstraNav-Memory主要降低每帧的视觉token数量，使同样预算下可以纳入更长的图像与位姿序列。JanusVLN将语义和几何拆成两路隐式特征，几何分支借助VGGT历史KV逐步更新，缓存保留最初8帧与最近48帧。需要区分论文架构和公开评测实现：后者每步重新输入采样的历史图像给Qwen语义侧，并没有显式将上一步语言模型KV传入下一次generate。因此不能将两条分支一概说成跨步永久缓存。更长记忆也可能带来检索困难及细节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E:\科研_机器人\HM3D-OVON\HM3D_OVON_Papers\05_视觉语言动作决策与视频记忆\2026_CVPR_AstraNav-Memory.pdf，第3节</a:t>
            </a:r>
          </a:p>
          <a:p xmlns:a="http://schemas.openxmlformats.org/drawingml/2006/main">
            <a:r>
              <a:t>E:\科研_机器人\HM3D-OVON\HM3D_OVON_Papers\05_视觉语言动作决策与视频记忆\read-JANUSVLN.md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新增性能数据说明：AstraNav GOAT的1 m判据与SoftNav/MSGNav的0.25 m不同，不应跨分支直接比较成功率。Janus采用主表R2R SPL=56.8，附录同配置写56.6，不自行统一。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 xmlns:a="http://schemas.openxmlformats.org/drawingml/2006/main"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 xmlns:a="http://schemas.openxmlformats.org/drawingml/2006/main"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 xmlns:a="http://schemas.openxmlformats.org/drawingml/2006/main"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JanusVLN附录Table 6的OVON SR/SPL=44.9/31.7，仅作补充。AstraNav全部六个划分结果已列出，Janus只有OVON Val-Unseen、R2R/RxR Val-Unseen报告，不能补填未报告划分。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新增性能数据说明：JanusVLN附录Table 6的OVON SR/SPL=44.9/31.7，仅作补充。AstraNav全部六个划分结果已列出，Janus只有OVON Val-Unseen、R2R/RxR Val-Unseen报告，不能补填未报告划分。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mem_astra_ovon_S: AstraNav-Memory，HM3D-OVON / Val-Seen，SR=65.6%，SPL=35.4%。来源：E:\科研_机器人\HM3D-OVON\HM3D_OVON_Papers\05_视觉语言动作决策与视频记忆\2026_CVPR_AstraNav-Memory.pdf，PDF第6页，Table 2。协议：1 m；图像与位姿历史。</a:t>
            </a:r>
          </a:p>
          <a:p xmlns:a="http://schemas.openxmlformats.org/drawingml/2006/main">
            <a:r>
              <a:t>mem_astra_ovon_Y: AstraNav-Memory，HM3D-OVON / Val-Seen-Synonyms，SR=57.5%，SPL=33%。来源：E:\科研_机器人\HM3D-OVON\HM3D_OVON_Papers\05_视觉语言动作决策与视频记忆\2026_CVPR_AstraNav-Memory.pdf，PDF第6页，Table 2。协议：1 m；图像与位姿历史。</a:t>
            </a:r>
          </a:p>
          <a:p xmlns:a="http://schemas.openxmlformats.org/drawingml/2006/main"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 xmlns:a="http://schemas.openxmlformats.org/drawingml/2006/main">
            <a:r>
              <a:t>mem_astra_goat_S: AstraNav-Memory，GOAT-Bench / Val-Seen，SR=65.5%，SPL=49%。来源：E:\科研_机器人\HM3D-OVON\HM3D_OVON_Papers\05_视觉语言动作决策与视频记忆\2026_CVPR_AstraNav-Memory.pdf，PDF第6页，Table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 xmlns:a="http://schemas.openxmlformats.org/drawingml/2006/main">
            <a:r>
              <a:t>mem_astra_goat_Y: AstraNav-Memory，GOAT-Bench / Val-Seen-Synonyms，SR=66.8%，SPL=54.7%。来源：E:\科研_机器人\HM3D-OVON\HM3D_OVON_Papers\05_视觉语言动作决策与视频记忆\2026_CVPR_AstraNav-Memory.pdf，PDF第6页，Table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 xmlns:a="http://schemas.openxmlformats.org/drawingml/2006/main"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 xmlns:a="http://schemas.openxmlformats.org/drawingml/2006/main"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 xmlns:a="http://schemas.openxmlformats.org/drawingml/2006/main"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mem_janus_ovon: JanusVLN，HM3D-OVON / Val-Unseen，SR=44.9%，SPL=31.7%。来源：E:\科研_机器人\HM3D-OVON\HM3D_OVON_Papers\05_视觉语言动作决策与视频记忆\ICLR-2026-janusvln-decoupling-semantics-and-spatiality-with-dual-implicit-memory-for-vision-language-navigation-Paper-Conference.pdf，PDF第19页，Table 6。协议：未完整披露该项评测细节，作附录补充报告。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Qwen2.5-VL在该输入设置下每帧为598个视觉tokens，主配置压缩后每帧30个。冻结的DINOv3提取空间语义特征，压缩模块经空间重排和通道映射减少特征序列，再接入Qwen2.5-VL的视觉编码接口。相机位姿作为文字tokens放在对应图像之前，帮助模型将图像内容与位置关联。模型生成文字及目标或探索前沿的二维坐标，并交由下层导航。记忆本体是图像与位姿序列，不能等同于显式对象级地图。原图压缩模块标注PixelShuffle，而正文第3.2节写PixelUnshuffle，本页按照正文解释空间重排压缩。训练冻结DINOv3，微调压缩器及Qwen，采用32张H20，论文未报告训练总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E:\科研_机器人\HM3D-OVON\HM3D_OVON_Papers\05_视觉语言动作决策与视频记忆\2026_CVPR_AstraNav-Memory.pdf，PDF第4页，图2及第3.1–3.2节；PDF第5页，训练设置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表完整摘录论文表3的四个配置，SR、推理时长及显存均沿用该表口径。相同50帧输入下，压缩降低了推理时长与显存，但SR也下降，不能只报告效率改善。100帧压缩配置的SR高于200帧配置，说明历史容量不是唯一因素。论文表4在均匀抽样子集上也显示极强压缩可能明显损害准确率。“16×”是压缩模块的空间token标记，而598到30是原始Qwen路径与压缩路径的最终token数量比较，分母不同，不应混为一个比值。表3的显存值没有明确单卡最低部署口径，本页原样保留，不将其解释成单卡显存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E:\科研_机器人\HM3D-OVON\HM3D_OVON_Papers\05_视觉语言动作决策与视频记忆\2026_CVPR_AstraNav-Memory.pdf，PDF第7页，表3、表4与第4.3节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索前沿通常位于已知区域与未知区域的交界，是继续探索的候选位置。VLFM利用RGB与目标文字的图文相似度生成语义价值，将多视角观测按置信度融合到俯视价值地图中，再评价前沿位置。OpenFrontier将候选前沿直接标在RGB图像中，让VLM利用原始场景上下文判断目标相关性，结合FrontierNet预测的信息增益及距离选择全局前沿。前者侧重累积空间价值，后者侧重将可行动位置作为VLM的推理接口。两者均复用预训练组件，无需新增导航专项训练，但需要感知和控制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E:\科研_机器人\HM3D-OVON\HM3D_OVON_Papers\02_语义地图与前沿探索\VLFM_Vision-Language_Frontier_Maps_for_Zero-Shot_Semantic_Navigation.pdf，第IV节</a:t>
            </a:r>
          </a:p>
          <a:p xmlns:a="http://schemas.openxmlformats.org/drawingml/2006/main">
            <a:r>
              <a:t>E:\科研_机器人\HM3D-OVON\HM3D_OVON_Papers\02_语义地图与前沿探索\2026_RSS_OpenFrontier.pdf，第III节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新增性能数据说明：OpenFrontier在同一张表中列出VLFM并在HM3D、MP3D与OVON Val-Unseen的SR/SPL均更高。Gibson及OVON Seen/Synonyms只有VLFM报告，不能将OpenFrontier未报告项记为零。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exp_vlfm_gibson: VLFM，Gibson / Val，SR=84%，SPL=52.2%。来源：E:\科研_机器人\HM3D-OVON\HM3D_OVON_Papers\02_语义地图与前沿探索\VLFM_Vision-Language_Frontier_Maps_for_Zero-Shot_Semantic_Navigation.pdf，PDF第5页，Table I。协议：VLFM原论文验证设置。</a:t>
            </a:r>
          </a:p>
          <a:p xmlns:a="http://schemas.openxmlformats.org/drawingml/2006/main">
            <a:r>
              <a:t>exp_open_hm3d: OpenFrontier，HM3D ObjectNav / Val，SR=77.3%，SPL=35.6%。来源：E:\科研_机器人\HM3D-OVON\HM3D_OVON_Papers\02_语义地图与前沿探索\2026_RSS_OpenFrontier.pdf，PDF第5页，Table I。协议：Gemini-2.5-Flash；同一套系统参数。</a:t>
            </a:r>
          </a:p>
          <a:p xmlns:a="http://schemas.openxmlformats.org/drawingml/2006/main">
            <a:r>
              <a:t>exp_open_mp3d: OpenFrontier，MP3D ObjectNav / Val，SR=40.7%，SPL=17.8%。来源：E:\科研_机器人\HM3D-OVON\HM3D_OVON_Papers\02_语义地图与前沿探索\2026_RSS_OpenFrontier.pdf，PDF第5页，Table I。协议：Gemini-2.5-Flash；同一套系统参数。</a:t>
            </a:r>
          </a:p>
          <a:p xmlns:a="http://schemas.openxmlformats.org/drawingml/2006/main">
            <a:r>
              <a:t>exp_vlfm_ovon_S: VLFM，HM3D-OVON / Val-Seen，SR=35.2%，SPL=18.6%。来源：E:\科研_机器人\HM3D-OVON\HM3D_OVON_Papers\00_数据集与任务基准\2024_IROS_HM3D_OVON.pdf，PDF第6页，HM3D-OVON Table III。协议：HM3D-OVON基准论文重评，来源为基准PDF。</a:t>
            </a:r>
          </a:p>
          <a:p xmlns:a="http://schemas.openxmlformats.org/drawingml/2006/main">
            <a:r>
              <a:t>exp_vlfm_ovon_Y: VLFM，HM3D-OVON / Val-Seen-Synonyms，SR=32.4%，SPL=17.3%。来源：E:\科研_机器人\HM3D-OVON\HM3D_OVON_Papers\00_数据集与任务基准\2024_IROS_HM3D_OVON.pdf，PDF第6页，HM3D-OVON Table III。协议：HM3D-OVON基准论文重评，来源为基准PDF。</a:t>
            </a:r>
          </a:p>
          <a:p xmlns:a="http://schemas.openxmlformats.org/drawingml/2006/main">
            <a:r>
              <a:t>exp_open_ovon: OpenFrontier，HM3D-OVON / Val-Unseen，SR=39%，SPL=20.1%。来源：E:\科研_机器人\HM3D-OVON\HM3D_OVON_Papers\02_语义地图与前沿探索\2026_RSS_OpenFrontier.pdf，PDF第5页，Table I。协议：Gemini-2.5-Flash；同一套系统参数。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以“去客厅”为例。FrontierNet从关键帧识别视觉前沿簇，并给出探索信息增益估计。系统在RGB图像上为前沿加标记，让VLM一次评价各候选与目标的相关概率。语义概率重新加权信息增益后，将前沿投影到三维空间并加入稀疏的全局候选集合。系统反复合并重复前沿、删除已到达或失败候选，并选择适合的下层导航执行。该架构不要求构建稠密三维语义地图，但前沿三维定位和目标接近仍需要几何信息。视觉语义决策与实际运动执行通过前沿位姿连接，VLM不直接控制每个电机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E:\科研_机器人\HM3D-OVON\HM3D_OVON_Papers\02_语义地图与前沿探索\2026_RSS_OpenFrontier.pdf，PDF第2页，图2；PDF第3–4页，第III节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公式将目标相关概率p与FrontierNet信息增益估计g相乘，再除以机器人到前沿的欧氏距离，得到用于全局选择的效用。这是启发式选择分数，不是保证最优的概率模型。目标确认属于另一个闭环：开放词汇分割先给出疑似物体掩码，利用深度和位姿估计三维中心，在物体前方插入优先级极高的观察位姿前沿。到达该处后由VLM再次确认。确认则靠近目标，未确认则移除假设并继续搜索。系统可以接PointGoal策略，或使用可选几何地图规划器。该方法无需导航专项训练不等于不使用预训练感知模型，也不意味着无需深度或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E:\科研_机器人\HM3D-OVON\HM3D_OVON_Papers\02_语义地图与前沿探索\2026_RSS_OpenFrontier.pdf，PDF第4页，公式1–3、算法1与目标确认说明</a:t>
            </a:r>
          </a:p>
          <a:p xmlns:a="http://schemas.openxmlformats.org/drawingml/2006/main"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分支重点是训练信号和优化方式。OVSegDT通过目标二值分割掩码提供类别无关的视觉定位线索，使用辅助掩码重建、语义奖励，以及基于动作熵的行为克隆与PPO配比。CompassNav将可通行区域构造成带编号的候选动作，先用成功示范进行SFT，再用GRPO比较同一观察下多次回答的动作质量。其奖励包含候选动作到目标的距离分数与差距感知最优动作奖励。推理时不把真实目标坐标或训练距离标签交给VLM。BC指行为克隆，PPO指近端策略优化，SFT指监督微调，GRPO指组相对策略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E:\科研_机器人\HM3D-OVON\HM3D_OVON_Papers\01_模仿学习与强化学习导航\2026_CVPR_OVSegDT.pdf，第4节</a:t>
            </a:r>
          </a:p>
          <a:p xmlns:a="http://schemas.openxmlformats.org/drawingml/2006/main">
            <a:r>
              <a:t>E:\科研_机器人\HM3D-OVON\HM3D_OVON_Papers\05_视觉语言动作决策与视频记忆\read-CompassNav.md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新增性能数据说明：不将OVSegDT的较高SR与CompassNav的较高SPL合成一行。CompassNav表1和表2中的HM3D版本未完整对应v1/v2，按原表标签分别保留，不把61.6当作56.6的同条件更新值。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 xmlns:a="http://schemas.openxmlformats.org/drawingml/2006/main"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 xmlns:a="http://schemas.openxmlformats.org/drawingml/2006/main"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新增性能数据说明：</a:t>
            </a:r>
          </a:p>
          <a:p xmlns:a="http://schemas.openxmlformats.org/drawingml/2006/main"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train_ovseg_S: OVSegDT，HM3D-OVON / Val-Seen，SR=43.6%，SPL=20.1%。来源：E:\科研_机器人\HM3D-OVON\HM3D_OVON_Papers\01_模仿学习与强化学习导航\2026_CVPR_OVSegDT.pdf，PDF第7页，Table 1。协议：预测YOLOE掩码；RGB策略；均值±标准差。</a:t>
            </a:r>
          </a:p>
          <a:p xmlns:a="http://schemas.openxmlformats.org/drawingml/2006/main">
            <a:r>
              <a:t>train_ovseg_Y: OVSegDT，HM3D-OVON / Val-Seen-Synonyms，SR=40.1%，SPL=17.9%。来源：E:\科研_机器人\HM3D-OVON\HM3D_OVON_Papers\01_模仿学习与强化学习导航\2026_CVPR_OVSegDT.pdf，PDF第7页，Table 1。协议：预测YOLOE掩码；RGB策略；均值±标准差。</a:t>
            </a:r>
          </a:p>
          <a:p xmlns:a="http://schemas.openxmlformats.org/drawingml/2006/main"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 xmlns:a="http://schemas.openxmlformats.org/drawingml/2006/main"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 xmlns:a="http://schemas.openxmlformats.org/drawingml/2006/main">
            <a:r>
              <a:t>train_compass_hm3d1: CompassNav，HM3D ObjectNav / Table 1 设置，SR=56.6%，SPL=27.6%。来源：E:\科研_机器人\HM3D-OVON\HM3D_OVON_Papers\05_视觉语言动作决策与视频记忆\2026_ICLR_CompassNav.pdf，PDF第8页，Table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 xmlns:a="http://schemas.openxmlformats.org/drawingml/2006/main"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从图底部向上阅读。RGB和目标文字由冻结SigLIP编码，上一步动作使用查表嵌入，目标二值掩码由ResNet9编码。将这些特征拼接为每一步的观测向量，最近100步观测送入4层、8头、隐藏维度512的decoder-only Transformer。动作头预测6个高层离散动作的分布，价值头服务于强化学习，分割头重建当前目标掩码，辅助学习目标相关特征。分割头是训练时的辅助头，不应与提供输入掩码的外部YOLOE混淆。策略推理采用RGB，不需深度或里程计作为策略传感器输入；但训练时专家、奖励和真值掩码使用模拟器特权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E:\科研_机器人\HM3D-OVON\HM3D_OVON_Papers\01_模仿学习与强化学习导航\2026_CVPR_OVSegDT.pdf，PDF第4页，图2与第4.1节；PDF第5页，辅助分割监督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LM追踪动作分布的Shannon熵，并取指数移动平均。正文将其在线性区间映射为PPO权重lambda，BC权重为1-lambda。较高熵说明策略动作分布较分散，增加BC；较低熵说明动作分布集中，提高PPO比重。权重连续变化，不要求人为指定切换时刻。这里的熵是模型不确定性代理，不保证低熵动作一定正确。整体损失还包括价值回归、熵奖励和辅助分割损失。使用真值掩码训练200M步，再对YOLOE预测掩码用PPO适配15M步。表1最终预测掩码配置在HM3D-OVON Val-Unseen的SR为44.7±0.4，SPL为20.6±0.2，三随机种子均值±标准差。依赖掩码质量及校准，不能由2张A100推出总训练成本很低。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E:\科研_机器人\HM3D-OVON\HM3D_OVON_Papers\01_模仿学习与强化学习导航\2026_CVPR_OVSegDT.pdf，PDF第5页，公式5–9；PDF第6页，训练与预测分割适配；PDF第7页，表1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E:\科研_机器人\HM3D-OVON\HM3D_OVON_Papers\00_数据集与任务基准\README.md</a:t>
            </a:r>
          </a:p>
          <a:p xmlns:a="http://schemas.openxmlformats.org/drawingml/2006/main">
            <a:r>
              <a:t>E:\科研_机器人\HM3D-OVON\HM3D_OVON_Papers\00_数据集与任务基准\2024_SG3D_Sequential_Grounding_and_Navigation.pdf，第1–3节</a:t>
            </a:r>
          </a:p>
          <a:p xmlns:a="http://schemas.openxmlformats.org/drawingml/2006/main">
            <a:r>
              <a:t>E:\科研_机器人\HM3D-OVON\HM3D_OVON_Papers\00_数据集与任务基准\2024_CVPR_GOAT_Bench.pdf，第3–4节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E:\科研_机器人\HM3D-OVON\HM3D_OVON_Papers\00_数据集与任务基准\2024_CVPR_GOAT_Bench.pdf，PDF第1页，图1；PDF第3页，第3节任务定义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表是针对当前14篇方法文献的工作性归纳，按主要技术贡献安排一级分支，不宣称是整个领域唯一或互斥的分类。实际系统可能同时包含统一架构、三维表征、长期记忆、前沿搜索与训练优化。分析一篇文章时可以先问主要改变哪个环节，再给其他环节交叉标签。训练算力和传感器应作为独立比较属性，不能由其大小决定一级归类。五篇代表分别用于阐释一个具体路线，不能代替该分支的全部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  <a:p xmlns:a="http://schemas.openxmlformats.org/drawingml/2006/main">
            <a:r>
              <a:t>E:\科研_机器人\HM3D-OVON\HM3D_OVON_Papers\05_视觉语言动作决策与视频记忆\2026_ICLR_OmniNav.pdf，方法章节</a:t>
            </a:r>
          </a:p>
          <a:p xmlns:a="http://schemas.openxmlformats.org/drawingml/2006/main">
            <a:r>
              <a:t>E:\科研_机器人\HM3D-OVON\HM3D_OVON_Papers\04_三维空间表征与目标推理\2026_CVPR_MSGNav.pdf，方法章节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E:\科研_机器人\HM3D-OVON\HM3D_OVON_Papers\05_视觉语言动作决策与视频记忆\2026_CVPR_AstraNav-Memory.pdf，方法章节</a:t>
            </a:r>
          </a:p>
          <a:p xmlns:a="http://schemas.openxmlformats.org/drawingml/2006/main">
            <a:r>
              <a:t>E:\科研_机器人\HM3D-OVON\HM3D_OVON_Papers\02_语义地图与前沿探索\2026_RSS_OpenFrontier.pdf，方法章节</a:t>
            </a:r>
          </a:p>
          <a:p xmlns:a="http://schemas.openxmlformats.org/drawingml/2006/main">
            <a:r>
              <a:t>E:\科研_机器人\HM3D-OVON\HM3D_OVON_Papers\01_模仿学习与强化学习导航\2026_CVPR_OVSegDT.pdf，方法章节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程序与工具／技能编排、快慢系统分层协作，以及多任务或规划、定位、探索与导航能力的统一建模。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TANGO：无需新增导航专项训练</a:t>
            </a:r>
          </a:p>
          <a:p xmlns:a="http://schemas.openxmlformats.org/drawingml/2006/main">
            <a:r>
              <a:t>SuperNav：主模型与几何执行器无需；可选学习式执行器的 GPU 配置未报告</a:t>
            </a:r>
          </a:p>
          <a:p xmlns:a="http://schemas.openxmlformats.org/drawingml/2006/main">
            <a:r>
              <a:t>OmniNav：阶段1 96×H20，120小时；阶段2 64×H20，48小时</a:t>
            </a:r>
          </a:p>
          <a:p xmlns:a="http://schemas.openxmlformats.org/drawingml/2006/main">
            <a:r>
              <a:t>D3D-VLP：4×RTX 6000 Ada，约14天</a:t>
            </a:r>
          </a:p>
          <a:p xmlns:a="http://schemas.openxmlformats.org/drawingml/2006/main">
            <a:r>
              <a:t>Uni-NaVid：40×H800，约35小时</a:t>
            </a:r>
          </a:p>
          <a:p xmlns:a="http://schemas.openxmlformats.org/drawingml/2006/main">
            <a:r>
              <a:t>MTU3D：4×A100；约164 GPU·小时</a:t>
            </a:r>
          </a:p>
          <a:p xmlns:a="http://schemas.openxmlformats.org/drawingml/2006/main">
            <a:r>
              <a:t>SuperNav执行器训练：https://arxiv.org/html/2610.12126v1，附录C.2。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用三维场景图组织物体、空间信息与视觉证据；将三维物体和前沿特征转换为视觉语言模型可使用的 soft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MSGNav：无需新增导航专项训练</a:t>
            </a:r>
          </a:p>
          <a:p xmlns:a="http://schemas.openxmlformats.org/drawingml/2006/main">
            <a:r>
              <a:t>SoftNav：1×RTX 4090；时长未报告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压缩长期视觉历史，维护语义与空间双分支记忆，并通过历史缓存和滑动窗口更新跨帧信息。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AstraNav-Memory：32×H20；时长未报告</a:t>
            </a:r>
          </a:p>
          <a:p xmlns:a="http://schemas.openxmlformats.org/drawingml/2006/main">
            <a:r>
              <a:t>JanusVLN：64×H20，约31小时；阅读笔记转引作者答复</a:t>
            </a:r>
          </a:p>
          <a:p xmlns:a="http://schemas.openxmlformats.org/drawingml/2006/main">
            <a:r>
              <a:t>JanusVLN配置由源文档转引阅读笔记中的作者答复。本次未能加载评论正文，未独立复核。</a:t>
            </a:r>
          </a:p>
          <a:p xmlns:a="http://schemas.openxmlformats.org/drawingml/2006/main">
            <a:r>
              <a:t>阅读笔记：E:\科研_机器人\HM3D-OVON\HM3D_OVON_Papers\05_视觉语言动作决策与视频记忆\read-JANUSVLN.md</a:t>
            </a:r>
          </a:p>
          <a:p xmlns:a="http://schemas.openxmlformats.org/drawingml/2006/main">
            <a:r>
              <a:t>作者答复：https://github.com/MIV-XJTU/JanusVLN/issues/3#issuecomment-3375195701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构建语义价值地图或生成视觉前沿，利用目标相关性、信息增益和距离等评价探索位置，并进行目标确认。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VLFM：无需新增导航专项训练</a:t>
            </a:r>
          </a:p>
          <a:p xmlns:a="http://schemas.openxmlformats.org/drawingml/2006/main">
            <a:r>
              <a:t>OpenFrontier：无需新增导航专项训练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目标分割辅助监督、自适应 BC／PPO 联合优化，以及基于候选动作质量的 SFT／GRPO 与差距感知奖励设计。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OVSegDT：2×A100；约2.15亿环境步，时长未报告</a:t>
            </a:r>
          </a:p>
          <a:p xmlns:a="http://schemas.openxmlformats.org/drawingml/2006/main">
            <a:r>
              <a:t>CompassNav：SFT 8×A800，约12小时；RFT 8×H200，约56.7小时（估算）</a:t>
            </a:r>
          </a:p>
          <a:p xmlns:a="http://schemas.openxmlformats.org/drawingml/2006/main">
            <a:r>
              <a:t>CompassNav RFT时长为源文档估算：170步×20分钟/步≈56.7小时。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场景语义标注、开放词汇与多模态目标构建、连续或顺序任务设计，以及评测协议和基线设计。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 Semantics：数据集本身不适用；导航基线另计</a:t>
            </a:r>
          </a:p>
          <a:p xmlns:a="http://schemas.openxmlformats.org/drawingml/2006/main">
            <a:r>
              <a:t>HM3D-OVON：按各基线分别统计</a:t>
            </a:r>
          </a:p>
          <a:p xmlns:a="http://schemas.openxmlformats.org/drawingml/2006/main">
            <a:r>
              <a:t>GOAT-Bench：按各基线分别统计</a:t>
            </a:r>
          </a:p>
          <a:p xmlns:a="http://schemas.openxmlformats.org/drawingml/2006/main">
            <a:r>
              <a:t>SG3D / SG-LLM：按 SG-LLM 等基线分别统计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资料口径沿用源文档。GPU·小时表示GPU数量乘以训练小时数，不能把不同GPU型号的卡时直接视为等价算力。</a:t>
            </a:r>
          </a:p>
          <a:p xmlns:a="http://schemas.openxmlformats.org/drawingml/2006/main">
            <a:r>
              <a:t>SuperNav学习式执行器训练见：https://arxiv.org/html/2610.12126v1，附录C.2。</a:t>
            </a:r>
          </a:p>
          <a:p xmlns:a="http://schemas.openxmlformats.org/drawingml/2006/main">
            <a:r>
              <a:t>JanusVLN作者答复由源文档及阅读笔记转引，本次网页未加载评论正文。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263c0e3e044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df6ed25e74a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3af03381741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5eca6df8f45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4372dc8354b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eb891203e42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FAB89-A233-4052-9DAC-6C3F470F9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F654B1-812F-482D-8BEB-66DBC85B2F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024725-568D-46FD-9785-403FE474B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67CCDF-837F-4F9F-A83E-B106A8EBB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548FE1-E22E-49FC-AB73-FB3AF78AEE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38174F-699E-48FD-A22A-9E65C7A6AA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C9C280-8C99-4A28-99CD-635A44EBC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B1EBF0-62BF-4400-B2CA-989ECBA1BB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ACF42-A135-48E6-8FB0-5588C5219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850C7F-33E6-48E9-AE67-D636B697DA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10ea53c5e943b5" /><Relationship Type="http://schemas.openxmlformats.org/officeDocument/2006/relationships/slideLayout" Target="/ppt/slideLayouts/slideLayout1.xml" Id="Ra97a117a377a413c" /><Relationship Type="http://schemas.openxmlformats.org/officeDocument/2006/relationships/slideLayout" Target="/ppt/slideLayouts/slideLayout2.xml" Id="Re3727681a36347f7" /><Relationship Type="http://schemas.openxmlformats.org/officeDocument/2006/relationships/slideLayout" Target="/ppt/slideLayouts/slideLayout3.xml" Id="Re33bb609b10d4713" /><Relationship Type="http://schemas.openxmlformats.org/officeDocument/2006/relationships/slideLayout" Target="/ppt/slideLayouts/slideLayout4.xml" Id="R65464ea58acf4e8b" /><Relationship Type="http://schemas.openxmlformats.org/officeDocument/2006/relationships/slideLayout" Target="/ppt/slideLayouts/slideLayout5.xml" Id="R6c5a03eb4fe64e5d" /><Relationship Type="http://schemas.openxmlformats.org/officeDocument/2006/relationships/slideLayout" Target="/ppt/slideLayouts/slideLayout6.xml" Id="R5ad875cc5e2d4c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7a117a377a413c"/>
    <p:sldLayoutId xmlns:r="http://schemas.openxmlformats.org/officeDocument/2006/relationships" id="2147483650" r:id="Re3727681a36347f7"/>
    <p:sldLayoutId xmlns:r="http://schemas.openxmlformats.org/officeDocument/2006/relationships" id="2147483651" r:id="Re33bb609b10d4713"/>
    <p:sldLayoutId xmlns:r="http://schemas.openxmlformats.org/officeDocument/2006/relationships" id="2147483652" r:id="R65464ea58acf4e8b"/>
    <p:sldLayoutId xmlns:r="http://schemas.openxmlformats.org/officeDocument/2006/relationships" id="2147483653" r:id="R6c5a03eb4fe64e5d"/>
    <p:sldLayoutId xmlns:r="http://schemas.openxmlformats.org/officeDocument/2006/relationships" id="2147483654" r:id="R5ad875cc5e2d4c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2ab482c9a47ba" /><Relationship Type="http://schemas.openxmlformats.org/officeDocument/2006/relationships/notesSlide" Target="/ppt/notesSlides/notesSlide1.xml" Id="Rbfdac602aee640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21d493aaf44e1" /><Relationship Type="http://schemas.openxmlformats.org/officeDocument/2006/relationships/notesSlide" Target="/ppt/notesSlides/notesSlide2.xml" Id="R586bb984400046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5a2291b834894" /><Relationship Type="http://schemas.openxmlformats.org/officeDocument/2006/relationships/notesSlide" Target="/ppt/notesSlides/notesSlide3.xml" Id="R77c5331e6513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f84545eba48fd" /><Relationship Type="http://schemas.openxmlformats.org/officeDocument/2006/relationships/notesSlide" Target="/ppt/notesSlides/notesSlide4.xml" Id="R252fed4b72984e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bbe716523440d" /><Relationship Type="http://schemas.openxmlformats.org/officeDocument/2006/relationships/notesSlide" Target="/ppt/notesSlides/notesSlide5.xml" Id="R9cfb0362778d40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2ea494bf34d6f" /><Relationship Type="http://schemas.openxmlformats.org/officeDocument/2006/relationships/notesSlide" Target="/ppt/notesSlides/notesSlide6.xml" Id="Rb4d363901d0d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3eb6d784845e0" /><Relationship Type="http://schemas.openxmlformats.org/officeDocument/2006/relationships/image" Target="/ppt/media/image.png" Id="R9d5ccf7d51424450" /><Relationship Type="http://schemas.openxmlformats.org/officeDocument/2006/relationships/notesSlide" Target="/ppt/notesSlides/notesSlide7.xml" Id="R0aa75511fbc04a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f766920644771" /><Relationship Type="http://schemas.openxmlformats.org/officeDocument/2006/relationships/notesSlide" Target="/ppt/notesSlides/notesSlide8.xml" Id="Rcfb316dfa16a40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f136c883a445b" /><Relationship Type="http://schemas.openxmlformats.org/officeDocument/2006/relationships/notesSlide" Target="/ppt/notesSlides/notesSlide9.xml" Id="R173b9fdeb5984e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ab2309ff24e3f" /><Relationship Type="http://schemas.openxmlformats.org/officeDocument/2006/relationships/notesSlide" Target="/ppt/notesSlides/notesSlide10.xml" Id="R4a429bc0ba8e47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8f2d2443242cc" /><Relationship Type="http://schemas.openxmlformats.org/officeDocument/2006/relationships/notesSlide" Target="/ppt/notesSlides/notesSlide11.xml" Id="R717887e0777b49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32a2901b64752" /><Relationship Type="http://schemas.openxmlformats.org/officeDocument/2006/relationships/image" Target="/ppt/media/image2.png" Id="R78a59829c7104f75" /><Relationship Type="http://schemas.openxmlformats.org/officeDocument/2006/relationships/notesSlide" Target="/ppt/notesSlides/notesSlide12.xml" Id="R734a5c38073445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0e61dc35a45c8" /><Relationship Type="http://schemas.openxmlformats.org/officeDocument/2006/relationships/image" Target="/ppt/media/image3.png" Id="R2dbd45f77fb64b97" /><Relationship Type="http://schemas.openxmlformats.org/officeDocument/2006/relationships/notesSlide" Target="/ppt/notesSlides/notesSlide13.xml" Id="R59daa41e3bea49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ea65c8f094914" /><Relationship Type="http://schemas.openxmlformats.org/officeDocument/2006/relationships/notesSlide" Target="/ppt/notesSlides/notesSlide14.xml" Id="R699158060cf840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1fcd74695415a" /><Relationship Type="http://schemas.openxmlformats.org/officeDocument/2006/relationships/notesSlide" Target="/ppt/notesSlides/notesSlide15.xml" Id="R98ef4df703e749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1c10f9b124cd4" /><Relationship Type="http://schemas.openxmlformats.org/officeDocument/2006/relationships/image" Target="/ppt/media/image4.png" Id="R764c5551312f428b" /><Relationship Type="http://schemas.openxmlformats.org/officeDocument/2006/relationships/notesSlide" Target="/ppt/notesSlides/notesSlide16.xml" Id="R4ff4b6294c1746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82acb179b4e0e" /><Relationship Type="http://schemas.openxmlformats.org/officeDocument/2006/relationships/notesSlide" Target="/ppt/notesSlides/notesSlide17.xml" Id="R9dd1527a9da747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f4055a73b4f18" /><Relationship Type="http://schemas.openxmlformats.org/officeDocument/2006/relationships/notesSlide" Target="/ppt/notesSlides/notesSlide18.xml" Id="R14679a56312744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8724a2b8342ff" /><Relationship Type="http://schemas.openxmlformats.org/officeDocument/2006/relationships/image" Target="/ppt/media/image5.png" Id="R43c8f516c30d46d0" /><Relationship Type="http://schemas.openxmlformats.org/officeDocument/2006/relationships/notesSlide" Target="/ppt/notesSlides/notesSlide19.xml" Id="R43d9ba6c297a4a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a9a306ffc4cbb" /><Relationship Type="http://schemas.openxmlformats.org/officeDocument/2006/relationships/notesSlide" Target="/ppt/notesSlides/notesSlide20.xml" Id="Rc18b485a249746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2a4bfa6a74c71" /><Relationship Type="http://schemas.openxmlformats.org/officeDocument/2006/relationships/notesSlide" Target="/ppt/notesSlides/notesSlide21.xml" Id="Rbc7f1f25eee545c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2cdf5426b4f71" /><Relationship Type="http://schemas.openxmlformats.org/officeDocument/2006/relationships/notesSlide" Target="/ppt/notesSlides/notesSlide22.xml" Id="R3c12bc6a358e4e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600ebdd3b49b7" /><Relationship Type="http://schemas.openxmlformats.org/officeDocument/2006/relationships/image" Target="/ppt/media/image6.png" Id="Rb67ed07f82f543d1" /><Relationship Type="http://schemas.openxmlformats.org/officeDocument/2006/relationships/notesSlide" Target="/ppt/notesSlides/notesSlide23.xml" Id="R2411521e87e7481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00318195a476c" /><Relationship Type="http://schemas.openxmlformats.org/officeDocument/2006/relationships/notesSlide" Target="/ppt/notesSlides/notesSlide24.xml" Id="R7778f20795784e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bde88aec84ace" /><Relationship Type="http://schemas.openxmlformats.org/officeDocument/2006/relationships/notesSlide" Target="/ppt/notesSlides/notesSlide25.xml" Id="R519e810dc62340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535703fa7490a" /><Relationship Type="http://schemas.openxmlformats.org/officeDocument/2006/relationships/image" Target="/ppt/media/image7.png" Id="R4cdbf7a026114ab8" /><Relationship Type="http://schemas.openxmlformats.org/officeDocument/2006/relationships/notesSlide" Target="/ppt/notesSlides/notesSlide26.xml" Id="R2c74d0dc83c040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820590a17415c" /><Relationship Type="http://schemas.openxmlformats.org/officeDocument/2006/relationships/notesSlide" Target="/ppt/notesSlides/notesSlide27.xml" Id="Rbb7dae74b73e481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4bd94457746bd" /><Relationship Type="http://schemas.openxmlformats.org/officeDocument/2006/relationships/notesSlide" Target="/ppt/notesSlides/notesSlide28.xml" Id="R31e517d4d66e4e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508cf41c34d17" /><Relationship Type="http://schemas.openxmlformats.org/officeDocument/2006/relationships/notesSlide" Target="/ppt/notesSlides/notesSlide29.xml" Id="R202316fec90f40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c84737e8c4148" /><Relationship Type="http://schemas.openxmlformats.org/officeDocument/2006/relationships/notesSlide" Target="/ppt/notesSlides/notesSlide30.xml" Id="R660fe7caa065498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9c35688eb4805" /><Relationship Type="http://schemas.openxmlformats.org/officeDocument/2006/relationships/notesSlide" Target="/ppt/notesSlides/notesSlide31.xml" Id="R3cd8a0a4561045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a800cac4444b49" /><Relationship Type="http://schemas.openxmlformats.org/officeDocument/2006/relationships/notesSlide" Target="/ppt/notesSlides/notesSlide32.xml" Id="R82e4444da6e74df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94dd85b754d9f" /><Relationship Type="http://schemas.openxmlformats.org/officeDocument/2006/relationships/notesSlide" Target="/ppt/notesSlides/notesSlide33.xml" Id="R61a1ca7a8d9c415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971e2520948d9" /><Relationship Type="http://schemas.openxmlformats.org/officeDocument/2006/relationships/notesSlide" Target="/ppt/notesSlides/notesSlide34.xml" Id="R964fac17318649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BFACDC-C642-4C59-AF0D-C1962F9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HM3D-OVON">
            <a:extLst xmlns:a="http://schemas.openxmlformats.org/drawingml/2006/main">
              <a:ext uri="{FF2B5EF4-FFF2-40B4-BE49-F238E27FC236}">
                <a16:creationId xmlns:a16="http://schemas.microsoft.com/office/drawing/2014/main" id="{EBFFF0FD-1442-43E8-AD7E-F58BF56E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668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HM3D-OVON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853138-D002-4C5F-BD06-99467B1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论文方法一级分类</a:t>
            </a:r>
          </a:p>
        </p:txBody>
      </p:sp>
      <p:sp>
        <p:nvSpPr>
          <p:cNvPr id="4" name="对应文献与训练算力">
            <a:extLst xmlns:a="http://schemas.openxmlformats.org/drawingml/2006/main">
              <a:ext uri="{FF2B5EF4-FFF2-40B4-BE49-F238E27FC236}">
                <a16:creationId xmlns:a16="http://schemas.microsoft.com/office/drawing/2014/main" id="{A02818A5-3320-4D21-B9D1-8E8CFAAC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方法方向、评测结果与训练算力</a:t>
            </a:r>
          </a:p>
        </p:txBody>
      </p:sp>
      <p:sp>
        <p:nvSpPr>
          <p:cNvPr id="5" name="5 个一级分支">
            <a:extLst xmlns:a="http://schemas.openxmlformats.org/drawingml/2006/main">
              <a:ext uri="{FF2B5EF4-FFF2-40B4-BE49-F238E27FC236}">
                <a16:creationId xmlns:a16="http://schemas.microsoft.com/office/drawing/2014/main" id="{C1B2911A-6C33-4355-B7DA-4DCF06C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5 个一级分支</a:t>
            </a:r>
          </a:p>
        </p:txBody>
      </p:sp>
      <p:sp>
        <p:nvSpPr>
          <p:cNvPr id="6" name="14 篇方法论文">
            <a:extLst xmlns:a="http://schemas.openxmlformats.org/drawingml/2006/main">
              <a:ext uri="{FF2B5EF4-FFF2-40B4-BE49-F238E27FC236}">
                <a16:creationId xmlns:a16="http://schemas.microsoft.com/office/drawing/2014/main" id="{25A42890-83B9-45B7-93A6-B2A712E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72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14 篇方法论文</a:t>
            </a:r>
          </a:p>
        </p:txBody>
      </p:sp>
      <p:sp>
        <p:nvSpPr>
          <p:cNvPr id="7" name="4 篇基准文章">
            <a:extLst xmlns:a="http://schemas.openxmlformats.org/drawingml/2006/main">
              <a:ext uri="{FF2B5EF4-FFF2-40B4-BE49-F238E27FC236}">
                <a16:creationId xmlns:a16="http://schemas.microsoft.com/office/drawing/2014/main" id="{065981C7-271B-47B4-A006-D7111875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4 篇基准文章</a:t>
            </a:r>
          </a:p>
        </p:txBody>
      </p:sp>
      <p:sp>
        <p:nvSpPr>
          <p:cNvPr id="8" name="2026年10月">
            <a:extLst xmlns:a="http://schemas.openxmlformats.org/drawingml/2006/main">
              <a:ext uri="{FF2B5EF4-FFF2-40B4-BE49-F238E27FC236}">
                <a16:creationId xmlns:a16="http://schemas.microsoft.com/office/drawing/2014/main" id="{D170F9AF-1999-4AE5-8E1D-95005191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1182798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33F400-060F-4748-A822-74FE18A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一级分支总览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B7B686-BDB5-4F07-93BF-A57E297A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方法论文">
            <a:extLst xmlns:a="http://schemas.openxmlformats.org/drawingml/2006/main">
              <a:ext uri="{FF2B5EF4-FFF2-40B4-BE49-F238E27FC236}">
                <a16:creationId xmlns:a16="http://schemas.microsoft.com/office/drawing/2014/main" id="{363DE363-8A88-48BF-8C1E-279BB95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方法论文</a:t>
            </a:r>
          </a:p>
        </p:txBody>
      </p:sp>
      <p:sp>
        <p:nvSpPr>
          <p:cNvPr id="4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1DBD1581-FC70-48BF-B9C3-7F258815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C492B937-26C8-4652-8FF4-78991CD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6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B3E30AD4-4FF1-4859-8F53-21234F40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7" name="系统组织架构">
            <a:extLst xmlns:a="http://schemas.openxmlformats.org/drawingml/2006/main">
              <a:ext uri="{FF2B5EF4-FFF2-40B4-BE49-F238E27FC236}">
                <a16:creationId xmlns:a16="http://schemas.microsoft.com/office/drawing/2014/main" id="{1B82066C-42E3-4641-9F55-859E28F9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</a:t>
            </a:r>
          </a:p>
        </p:txBody>
      </p:sp>
      <p:sp>
        <p:nvSpPr>
          <p:cNvPr id="8" name="6 篇">
            <a:extLst xmlns:a="http://schemas.openxmlformats.org/drawingml/2006/main">
              <a:ext uri="{FF2B5EF4-FFF2-40B4-BE49-F238E27FC236}">
                <a16:creationId xmlns:a16="http://schemas.microsoft.com/office/drawing/2014/main" id="{BFEC7673-288E-4822-8A8B-7BCCCEF8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6 篇</a:t>
            </a:r>
          </a:p>
        </p:txBody>
      </p:sp>
      <p:sp>
        <p:nvSpPr>
          <p:cNvPr id="9" name="TANGO">
            <a:extLst xmlns:a="http://schemas.openxmlformats.org/drawingml/2006/main">
              <a:ext uri="{FF2B5EF4-FFF2-40B4-BE49-F238E27FC236}">
                <a16:creationId xmlns:a16="http://schemas.microsoft.com/office/drawing/2014/main" id="{4531C4CF-0170-4F78-82BC-0E3A667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TANGO</a:t>
            </a:r>
          </a:p>
        </p:txBody>
      </p:sp>
      <p:sp>
        <p:nvSpPr>
          <p:cNvPr id="10" name="SuperNav">
            <a:extLst xmlns:a="http://schemas.openxmlformats.org/drawingml/2006/main">
              <a:ext uri="{FF2B5EF4-FFF2-40B4-BE49-F238E27FC236}">
                <a16:creationId xmlns:a16="http://schemas.microsoft.com/office/drawing/2014/main" id="{D55256F9-3242-4CCD-8637-D4F5A9A4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SuperNav</a:t>
            </a:r>
          </a:p>
        </p:txBody>
      </p:sp>
      <p:sp>
        <p:nvSpPr>
          <p:cNvPr id="11" name="OmniNav">
            <a:extLst xmlns:a="http://schemas.openxmlformats.org/drawingml/2006/main">
              <a:ext uri="{FF2B5EF4-FFF2-40B4-BE49-F238E27FC236}">
                <a16:creationId xmlns:a16="http://schemas.microsoft.com/office/drawing/2014/main" id="{664B8EAC-1768-42B8-9333-7B6CA35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</a:t>
            </a:r>
          </a:p>
        </p:txBody>
      </p:sp>
      <p:sp>
        <p:nvSpPr>
          <p:cNvPr id="12" name="D3D-VLP">
            <a:extLst xmlns:a="http://schemas.openxmlformats.org/drawingml/2006/main">
              <a:ext uri="{FF2B5EF4-FFF2-40B4-BE49-F238E27FC236}">
                <a16:creationId xmlns:a16="http://schemas.microsoft.com/office/drawing/2014/main" id="{499EF13A-EBBD-4D42-AB86-A666D05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D3D-VLP</a:t>
            </a:r>
          </a:p>
        </p:txBody>
      </p:sp>
      <p:sp>
        <p:nvSpPr>
          <p:cNvPr id="13" name="Uni-NaVid">
            <a:extLst xmlns:a="http://schemas.openxmlformats.org/drawingml/2006/main">
              <a:ext uri="{FF2B5EF4-FFF2-40B4-BE49-F238E27FC236}">
                <a16:creationId xmlns:a16="http://schemas.microsoft.com/office/drawing/2014/main" id="{452F8DCA-9C7F-4151-AE93-5B60CF8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Uni-NaVid</a:t>
            </a:r>
          </a:p>
        </p:txBody>
      </p:sp>
      <p:sp>
        <p:nvSpPr>
          <p:cNvPr id="14" name="MTU3D">
            <a:extLst xmlns:a="http://schemas.openxmlformats.org/drawingml/2006/main">
              <a:ext uri="{FF2B5EF4-FFF2-40B4-BE49-F238E27FC236}">
                <a16:creationId xmlns:a16="http://schemas.microsoft.com/office/drawing/2014/main" id="{8EBC972A-77C1-4E2E-BD2E-B0EBAD8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MTU3D</a:t>
            </a:r>
          </a:p>
        </p:txBody>
      </p:sp>
      <p:sp>
        <p:nvSpPr>
          <p:cNvPr id="1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E298D16D-2708-4ABC-8187-80C1554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16" name="环境表征">
            <a:extLst xmlns:a="http://schemas.openxmlformats.org/drawingml/2006/main">
              <a:ext uri="{FF2B5EF4-FFF2-40B4-BE49-F238E27FC236}">
                <a16:creationId xmlns:a16="http://schemas.microsoft.com/office/drawing/2014/main" id="{E7D7C3CC-F858-4512-B0FF-437D0E6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</a:t>
            </a:r>
          </a:p>
        </p:txBody>
      </p:sp>
      <p:sp>
        <p:nvSpPr>
          <p:cNvPr id="17" name="2 篇">
            <a:extLst xmlns:a="http://schemas.openxmlformats.org/drawingml/2006/main">
              <a:ext uri="{FF2B5EF4-FFF2-40B4-BE49-F238E27FC236}">
                <a16:creationId xmlns:a16="http://schemas.microsoft.com/office/drawing/2014/main" id="{75E7FCD1-E2EB-4EA5-B769-6C43B65F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18" name="MSGNav">
            <a:extLst xmlns:a="http://schemas.openxmlformats.org/drawingml/2006/main">
              <a:ext uri="{FF2B5EF4-FFF2-40B4-BE49-F238E27FC236}">
                <a16:creationId xmlns:a16="http://schemas.microsoft.com/office/drawing/2014/main" id="{27C62DB7-7C2F-4FF4-B987-A9ABF639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</a:t>
            </a:r>
          </a:p>
        </p:txBody>
      </p:sp>
      <p:sp>
        <p:nvSpPr>
          <p:cNvPr id="19" name="SoftNav">
            <a:extLst xmlns:a="http://schemas.openxmlformats.org/drawingml/2006/main">
              <a:ext uri="{FF2B5EF4-FFF2-40B4-BE49-F238E27FC236}">
                <a16:creationId xmlns:a16="http://schemas.microsoft.com/office/drawing/2014/main" id="{D063C816-FA05-4ABD-AC07-8E91716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SoftNav</a:t>
            </a:r>
          </a:p>
        </p:txBody>
      </p:sp>
      <p:sp>
        <p:nvSpPr>
          <p:cNvPr id="20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F950F8DF-EC39-4307-A425-92AA70AE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21" name="历史记忆">
            <a:extLst xmlns:a="http://schemas.openxmlformats.org/drawingml/2006/main">
              <a:ext uri="{FF2B5EF4-FFF2-40B4-BE49-F238E27FC236}">
                <a16:creationId xmlns:a16="http://schemas.microsoft.com/office/drawing/2014/main" id="{A370201A-DDE5-4080-9F6C-57B82474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</a:t>
            </a:r>
          </a:p>
        </p:txBody>
      </p:sp>
      <p:sp>
        <p:nvSpPr>
          <p:cNvPr id="22" name="2 篇">
            <a:extLst xmlns:a="http://schemas.openxmlformats.org/drawingml/2006/main">
              <a:ext uri="{FF2B5EF4-FFF2-40B4-BE49-F238E27FC236}">
                <a16:creationId xmlns:a16="http://schemas.microsoft.com/office/drawing/2014/main" id="{86E5ABD8-29DB-4DB1-96E2-51BCF82D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23" name="AstraNav-Memory">
            <a:extLst xmlns:a="http://schemas.openxmlformats.org/drawingml/2006/main">
              <a:ext uri="{FF2B5EF4-FFF2-40B4-BE49-F238E27FC236}">
                <a16:creationId xmlns:a16="http://schemas.microsoft.com/office/drawing/2014/main" id="{2FF0D51E-8E1B-4EC7-99B6-9F82BFA3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</a:t>
            </a:r>
          </a:p>
        </p:txBody>
      </p:sp>
      <p:sp>
        <p:nvSpPr>
          <p:cNvPr id="24" name="JanusVLN">
            <a:extLst xmlns:a="http://schemas.openxmlformats.org/drawingml/2006/main">
              <a:ext uri="{FF2B5EF4-FFF2-40B4-BE49-F238E27FC236}">
                <a16:creationId xmlns:a16="http://schemas.microsoft.com/office/drawing/2014/main" id="{B5BFD43D-4BA2-4BDE-984A-64AF0EE8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JanusVLN</a:t>
            </a:r>
          </a:p>
        </p:txBody>
      </p:sp>
      <p:sp>
        <p:nvSpPr>
          <p:cNvPr id="2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0622CC03-F29C-4BFB-80E3-6421A1A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26" name="探索与目标搜索">
            <a:extLst xmlns:a="http://schemas.openxmlformats.org/drawingml/2006/main">
              <a:ext uri="{FF2B5EF4-FFF2-40B4-BE49-F238E27FC236}">
                <a16:creationId xmlns:a16="http://schemas.microsoft.com/office/drawing/2014/main" id="{14E42F99-D4AC-45F0-81F7-458F850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</a:t>
            </a:r>
          </a:p>
        </p:txBody>
      </p:sp>
      <p:sp>
        <p:nvSpPr>
          <p:cNvPr id="27" name="2 篇">
            <a:extLst xmlns:a="http://schemas.openxmlformats.org/drawingml/2006/main">
              <a:ext uri="{FF2B5EF4-FFF2-40B4-BE49-F238E27FC236}">
                <a16:creationId xmlns:a16="http://schemas.microsoft.com/office/drawing/2014/main" id="{8D925475-5DB6-4766-B28C-47190F2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28" name="VLFM">
            <a:extLst xmlns:a="http://schemas.openxmlformats.org/drawingml/2006/main">
              <a:ext uri="{FF2B5EF4-FFF2-40B4-BE49-F238E27FC236}">
                <a16:creationId xmlns:a16="http://schemas.microsoft.com/office/drawing/2014/main" id="{75DB43D3-196F-4575-87F1-E0D7EB32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VLFM</a:t>
            </a:r>
          </a:p>
        </p:txBody>
      </p:sp>
      <p:sp>
        <p:nvSpPr>
          <p:cNvPr id="29" name="OpenFrontier">
            <a:extLst xmlns:a="http://schemas.openxmlformats.org/drawingml/2006/main">
              <a:ext uri="{FF2B5EF4-FFF2-40B4-BE49-F238E27FC236}">
                <a16:creationId xmlns:a16="http://schemas.microsoft.com/office/drawing/2014/main" id="{EE5BAEF8-A370-4F66-AAE3-673D4791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</a:t>
            </a:r>
          </a:p>
        </p:txBody>
      </p:sp>
      <p:sp>
        <p:nvSpPr>
          <p:cNvPr id="30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D3DCA9C9-D20C-4BDE-8414-A67C070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31" name="导航策略&#10;训练与优化">
            <a:extLst xmlns:a="http://schemas.openxmlformats.org/drawingml/2006/main">
              <a:ext uri="{FF2B5EF4-FFF2-40B4-BE49-F238E27FC236}">
                <a16:creationId xmlns:a16="http://schemas.microsoft.com/office/drawing/2014/main" id="{4BBE2B49-B0EF-4D14-AF7A-B82FE3F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训练与优化</a:t>
            </a:r>
          </a:p>
        </p:txBody>
      </p:sp>
      <p:sp>
        <p:nvSpPr>
          <p:cNvPr id="32" name="2 篇">
            <a:extLst xmlns:a="http://schemas.openxmlformats.org/drawingml/2006/main">
              <a:ext uri="{FF2B5EF4-FFF2-40B4-BE49-F238E27FC236}">
                <a16:creationId xmlns:a16="http://schemas.microsoft.com/office/drawing/2014/main" id="{C13D4264-AA99-41DF-B263-526DB1A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33" name="OVSegDT">
            <a:extLst xmlns:a="http://schemas.openxmlformats.org/drawingml/2006/main">
              <a:ext uri="{FF2B5EF4-FFF2-40B4-BE49-F238E27FC236}">
                <a16:creationId xmlns:a16="http://schemas.microsoft.com/office/drawing/2014/main" id="{C3D8501E-6F9A-4877-8D81-2CC1AD7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</a:t>
            </a:r>
          </a:p>
        </p:txBody>
      </p:sp>
      <p:sp>
        <p:nvSpPr>
          <p:cNvPr id="34" name="CompassNav">
            <a:extLst xmlns:a="http://schemas.openxmlformats.org/drawingml/2006/main">
              <a:ext uri="{FF2B5EF4-FFF2-40B4-BE49-F238E27FC236}">
                <a16:creationId xmlns:a16="http://schemas.microsoft.com/office/drawing/2014/main" id="{EED67CDA-3D70-4917-87FD-B84F233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CompassNav</a:t>
            </a:r>
          </a:p>
        </p:txBody>
      </p:sp>
      <p:sp>
        <p:nvSpPr>
          <p:cNvPr id="3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EA1B56C-9672-479F-8965-DEF805F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另列数据集与评测基准：HM3D Semantics、HM3D-OVON、GOAT-Bench、SG3D / SG-LLM</a:t>
            </a:r>
          </a:p>
        </p:txBody>
      </p:sp>
    </p:spTree>
    <p:extLst>
      <p:ext uri="{BB962C8B-B14F-4D97-AF65-F5344CB8AC3E}">
        <p14:creationId xmlns:p14="http://schemas.microsoft.com/office/powerpoint/2010/main" val="1031677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DC0A5E-F460-4E0A-BE4B-B92DB12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系统组织架构：方法与领先结果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B2B106-AAE8-49BA-9999-80866095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核心问题：高层任务意图怎样转成可执行动作">
            <a:extLst xmlns:a="http://schemas.openxmlformats.org/drawingml/2006/main">
              <a:ext uri="{FF2B5EF4-FFF2-40B4-BE49-F238E27FC236}">
                <a16:creationId xmlns:a16="http://schemas.microsoft.com/office/drawing/2014/main" id="{DCF97E92-30AA-4610-8F94-41E92483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核心问题：高层任务意图怎样转成可执行动作</a:t>
            </a:r>
          </a:p>
        </p:txBody>
      </p:sp>
      <p:sp>
        <p:nvSpPr>
          <p:cNvPr id="4" name="主要方法">
            <a:extLst xmlns:a="http://schemas.openxmlformats.org/drawingml/2006/main">
              <a:ext uri="{FF2B5EF4-FFF2-40B4-BE49-F238E27FC236}">
                <a16:creationId xmlns:a16="http://schemas.microsoft.com/office/drawing/2014/main" id="{AA57DF90-1CA9-4A32-861B-2FFEC57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09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主要方法</a:t>
            </a:r>
          </a:p>
        </p:txBody>
      </p:sp>
      <p:sp>
        <p:nvSpPr>
          <p:cNvPr id="5" name="已收录主结果概览（%）">
            <a:extLst xmlns:a="http://schemas.openxmlformats.org/drawingml/2006/main">
              <a:ext uri="{FF2B5EF4-FFF2-40B4-BE49-F238E27FC236}">
                <a16:creationId xmlns:a16="http://schemas.microsoft.com/office/drawing/2014/main" id="{043D7413-46AA-4A3C-A8E7-AC32A353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739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已收录主结果概览（%）</a:t>
            </a:r>
          </a:p>
        </p:txBody>
      </p:sp>
      <p:sp>
        <p:nvSpPr>
          <p:cNvPr id="6" name="程序与工具编排">
            <a:extLst xmlns:a="http://schemas.openxmlformats.org/drawingml/2006/main">
              <a:ext uri="{FF2B5EF4-FFF2-40B4-BE49-F238E27FC236}">
                <a16:creationId xmlns:a16="http://schemas.microsoft.com/office/drawing/2014/main" id="{3618AA7A-06EB-44D5-8352-6FFEA253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程序与工具编排</a:t>
            </a:r>
          </a:p>
        </p:txBody>
      </p:sp>
      <p:sp>
        <p:nvSpPr>
          <p:cNvPr id="7" name="TANGO、SuperNav&#10;工具调用与执行反馈">
            <a:extLst xmlns:a="http://schemas.openxmlformats.org/drawingml/2006/main">
              <a:ext uri="{FF2B5EF4-FFF2-40B4-BE49-F238E27FC236}">
                <a16:creationId xmlns:a16="http://schemas.microsoft.com/office/drawing/2014/main" id="{AAA9F0F7-172C-48AC-B5A2-42B3AC2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TANGO、SuperNav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工具调用与执行反馈</a:t>
            </a:r>
          </a:p>
        </p:txBody>
      </p:sp>
      <p:sp>
        <p:nvSpPr>
          <p:cNvPr id="8" name="快慢系统协作">
            <a:extLst xmlns:a="http://schemas.openxmlformats.org/drawingml/2006/main">
              <a:ext uri="{FF2B5EF4-FFF2-40B4-BE49-F238E27FC236}">
                <a16:creationId xmlns:a16="http://schemas.microsoft.com/office/drawing/2014/main" id="{957C6E06-C3B1-4E1F-96A9-CC938F2F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快慢系统协作</a:t>
            </a:r>
          </a:p>
        </p:txBody>
      </p:sp>
      <p:sp>
        <p:nvSpPr>
          <p:cNvPr id="9" name="OmniNav&#10;子目标规划与连续航点">
            <a:extLst xmlns:a="http://schemas.openxmlformats.org/drawingml/2006/main">
              <a:ext uri="{FF2B5EF4-FFF2-40B4-BE49-F238E27FC236}">
                <a16:creationId xmlns:a16="http://schemas.microsoft.com/office/drawing/2014/main" id="{EADF0BB8-F722-4887-8E68-D55ABC22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子目标规划与连续航点</a:t>
            </a:r>
          </a:p>
        </p:txBody>
      </p:sp>
      <p:sp>
        <p:nvSpPr>
          <p:cNvPr id="10" name="统一任务与决策">
            <a:extLst xmlns:a="http://schemas.openxmlformats.org/drawingml/2006/main">
              <a:ext uri="{FF2B5EF4-FFF2-40B4-BE49-F238E27FC236}">
                <a16:creationId xmlns:a16="http://schemas.microsoft.com/office/drawing/2014/main" id="{F057A33E-3E5C-4DA0-8D08-AEC3F36A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统一任务与决策</a:t>
            </a:r>
          </a:p>
        </p:txBody>
      </p:sp>
      <p:sp>
        <p:nvSpPr>
          <p:cNvPr id="11" name="D3D-VLP、MTU3D等&#10;统一规划、定位或任务">
            <a:extLst xmlns:a="http://schemas.openxmlformats.org/drawingml/2006/main">
              <a:ext uri="{FF2B5EF4-FFF2-40B4-BE49-F238E27FC236}">
                <a16:creationId xmlns:a16="http://schemas.microsoft.com/office/drawing/2014/main" id="{F6AA40EE-820E-44C2-98B6-D6FC95A4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D3D-VLP、MTU3D等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统一规划、定位或任务接口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C2B44-8135-4954-8FC1-597BB27B1206}"/>
              </a:ext>
            </a:extLst>
          </p:cNvPr>
          <p:cNvGraphicFramePr/>
          <p:nvPr/>
        </p:nvGraphicFramePr>
        <p:xfrm>
          <a:off xmlns:a="http://schemas.openxmlformats.org/drawingml/2006/main" x="4114800" y="1981200"/>
          <a:ext xmlns:a="http://schemas.openxmlformats.org/drawingml/2006/main" cx="7391400" cy="37338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R2R-CE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RxR-CE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SG3D-Nav / 子任务与整任务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33.7 s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13.8 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120子集，0.25 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SuperNav*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45.79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* SuperNav为GPT-6 Astra模型替">
            <a:extLst xmlns:a="http://schemas.openxmlformats.org/drawingml/2006/main">
              <a:ext uri="{FF2B5EF4-FFF2-40B4-BE49-F238E27FC236}">
                <a16:creationId xmlns:a16="http://schemas.microsoft.com/office/drawing/2014/main" id="{84D91787-29C8-4303-B8AE-B0C95AE1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* SuperNav为GPT-6 Astra模型替换配置，子集协议单列。s/t分别为子任务／整任务SR。其余benchmark见后续3页。</a:t>
            </a:r>
          </a:p>
        </p:txBody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9B39DC5-CC92-4ED9-BB4C-B2D7CD1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SR：成功率。SPL：按路径长度加权的成功率。范围仅限已收录论文，完整协议与来源见备注</a:t>
            </a:r>
          </a:p>
        </p:txBody>
      </p:sp>
    </p:spTree>
    <p:extLst>
      <p:ext uri="{BB962C8B-B14F-4D97-AF65-F5344CB8AC3E}">
        <p14:creationId xmlns:p14="http://schemas.microsoft.com/office/powerpoint/2010/main" val="1087880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6D829A-9EEA-4A39-9FE0-4C31AFA2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系统组织架构：目标导航结果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CA19AB-6889-4755-B535-D229C00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AFD1C-7990-4D6B-B0C4-FE731E0F823A}"/>
              </a:ext>
            </a:extLst>
          </p:cNvPr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52437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Val-Seen-Synonyms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Val-Seen-Synonyms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ObjectNav / Val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mniNav为慢系统+CoT；MTU3D使用RG">
            <a:extLst xmlns:a="http://schemas.openxmlformats.org/drawingml/2006/main">
              <a:ext uri="{FF2B5EF4-FFF2-40B4-BE49-F238E27FC236}">
                <a16:creationId xmlns:a16="http://schemas.microsoft.com/office/drawing/2014/main" id="{D480AF0A-2836-4D0A-A6C7-39F2425F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OmniNav为慢系统+CoT；MTU3D使用RGB-D与位姿；Uni-NaVid为单RGB。训练与传感器条件未统一。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670C994-9701-46B3-BBA8-235E19CF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来源：OmniNav 表2；MTU3D 表5；Uni-NaVid 表IV</a:t>
            </a:r>
          </a:p>
        </p:txBody>
      </p:sp>
    </p:spTree>
    <p:extLst>
      <p:ext uri="{BB962C8B-B14F-4D97-AF65-F5344CB8AC3E}">
        <p14:creationId xmlns:p14="http://schemas.microsoft.com/office/powerpoint/2010/main" val="1269968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CC116-1CEC-407F-9269-6D4BA3F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系统组织架构：指令与顺序任务结果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4E0441-39EC-4216-959F-9FDABC0F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245F0-24DA-4216-A255-58C02944CBF8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9433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R2R-CE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RxR-CE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REVERIE-CE / 论文验证设置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NavRAG-CE / 论文验证设置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SG3D-Nav / 导航任务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33.7 s / 13.8 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自建人物跟随 / 默认验证配置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61.21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其他评测采用不同指标：CityWalker使用MA">
            <a:extLst xmlns:a="http://schemas.openxmlformats.org/drawingml/2006/main">
              <a:ext uri="{FF2B5EF4-FFF2-40B4-BE49-F238E27FC236}">
                <a16:creationId xmlns:a16="http://schemas.microsoft.com/office/drawing/2014/main" id="{16492FF2-20BF-4D8C-818C-0DE7B91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其他评测采用不同指标：CityWalker使用MAOE，问答任务使用ACC、Score或LLM-SR／LLM-SPL，均不充当导航SR／SPL。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E7A4E0A-143B-4D6C-9313-B48081EC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来源：OmniNav 表1；D3D-VLP 表2–3；Uni-NaVid 表VII。—表示未报告SPL</a:t>
            </a:r>
          </a:p>
        </p:txBody>
      </p:sp>
    </p:spTree>
    <p:extLst>
      <p:ext uri="{BB962C8B-B14F-4D97-AF65-F5344CB8AC3E}">
        <p14:creationId xmlns:p14="http://schemas.microsoft.com/office/powerpoint/2010/main" val="1176194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4AFDE4-0EB3-471B-AAAC-E36EDF57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SuperNav：子集、阈值与自建任务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15D4F2-3EDD-416E-BE26-948901BD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74A16-FEE4-42D7-83E6-18F2792444CE}"/>
              </a:ext>
            </a:extLst>
          </p:cNvPr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10820400" cy="47434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5619750"/>
                <a:gridCol w="2609850"/>
                <a:gridCol w="1295400"/>
                <a:gridCol w="1295400"/>
              </a:tblGrid>
              <a:tr h="457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Val-Unseen，120子集，0.25 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Geo，主模型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38.37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Val-Unseen，120子集，1 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Geo，主模型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73.33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120子集，0.25 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 Astra*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45.79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120子集，1 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 Astra*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79.17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49.74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HM3Dv2 / 1000 episodes，0.2 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Geo，主模型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HM3Dv2 / 1000 episodes，1 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Geo，主模型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36.38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Habitat-GS / 单目标，150 tasks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Geo，主模型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41.27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Habitat-GS / 顺序多目标，150 tasks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Geo，主模型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13.88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Demand-Bench / 改编协议，200 tasks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Geo，主模型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* 模型替换配置。主模型为GPT-5.6 Terr">
            <a:extLst xmlns:a="http://schemas.openxmlformats.org/drawingml/2006/main">
              <a:ext uri="{FF2B5EF4-FFF2-40B4-BE49-F238E27FC236}">
                <a16:creationId xmlns:a16="http://schemas.microsoft.com/office/drawing/2014/main" id="{2D75DF9F-321F-47A0-9464-F2CEB849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* 模型替换配置。主模型为GPT-5.6 Terra high。SPL已乘100；视点距离、子集与改编任务不与其他协议混排。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2865318C-5BCC-41A3-BF24-3F8C176B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来源：SuperNav 表1–3。Geo表示几何执行器；严格距离定义见原论文附录B</a:t>
            </a:r>
          </a:p>
        </p:txBody>
      </p:sp>
    </p:spTree>
    <p:extLst>
      <p:ext uri="{BB962C8B-B14F-4D97-AF65-F5344CB8AC3E}">
        <p14:creationId xmlns:p14="http://schemas.microsoft.com/office/powerpoint/2010/main" val="614513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F193FE-3322-42C5-A3A8-D686F8C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OmniNav：快慢系统的接口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40A3EF-D504-4555-94D3-53F8DBAE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CB64-BEE6-4EA3-B7A5-7B3B8C3BB7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ccf7d51424450"/>
          <a:stretch xmlns:a="http://schemas.openxmlformats.org/drawingml/2006/main"/>
        </p:blipFill>
        <p:spPr>
          <a:xfrm xmlns:a="http://schemas.openxmlformats.org/drawingml/2006/main">
            <a:off x="1496478" y="1238250"/>
            <a:ext cx="9199044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慢系统给出子目标，快系统生成连续航点，并根据新观测更新局部移">
            <a:extLst xmlns:a="http://schemas.openxmlformats.org/drawingml/2006/main">
              <a:ext uri="{FF2B5EF4-FFF2-40B4-BE49-F238E27FC236}">
                <a16:creationId xmlns:a16="http://schemas.microsoft.com/office/drawing/2014/main" id="{0C25FB3C-A7EE-4C4D-9993-64981BB5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慢系统给出子目标，快系统生成连续航点，并根据新观测更新局部移动。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47C2110-6D10-4527-83EB-20B651F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来源：OmniNav，图1（PDF第4页）</a:t>
            </a:r>
          </a:p>
        </p:txBody>
      </p:sp>
    </p:spTree>
    <p:extLst>
      <p:ext uri="{BB962C8B-B14F-4D97-AF65-F5344CB8AC3E}">
        <p14:creationId xmlns:p14="http://schemas.microsoft.com/office/powerpoint/2010/main" val="509063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4037AE-8694-433C-8F83-590EB0F6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OmniNav：执行闭环与验证边界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2D7EBF-4E8A-48C5-8DBA-5FF06402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1  全局选择">
            <a:extLst xmlns:a="http://schemas.openxmlformats.org/drawingml/2006/main">
              <a:ext uri="{FF2B5EF4-FFF2-40B4-BE49-F238E27FC236}">
                <a16:creationId xmlns:a16="http://schemas.microsoft.com/office/drawing/2014/main" id="{74AF8FFF-E7C8-4D9E-9919-5F12E2B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1  全局选择</a:t>
            </a:r>
          </a:p>
        </p:txBody>
      </p:sp>
      <p:sp>
        <p:nvSpPr>
          <p:cNvPr id="4" name="目标未出现时评价探索前沿，&#10;已出现时从观测与历史中定位目标。">
            <a:extLst xmlns:a="http://schemas.openxmlformats.org/drawingml/2006/main">
              <a:ext uri="{FF2B5EF4-FFF2-40B4-BE49-F238E27FC236}">
                <a16:creationId xmlns:a16="http://schemas.microsoft.com/office/drawing/2014/main" id="{3396B7F5-F271-4960-B1F7-4B4E6FF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目标未出现时评价探索前沿，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已出现时从观测与历史中定位目标。</a:t>
            </a:r>
          </a:p>
        </p:txBody>
      </p:sp>
      <p:sp>
        <p:nvSpPr>
          <p:cNvPr id="5" name="2  局部执行">
            <a:extLst xmlns:a="http://schemas.openxmlformats.org/drawingml/2006/main">
              <a:ext uri="{FF2B5EF4-FFF2-40B4-BE49-F238E27FC236}">
                <a16:creationId xmlns:a16="http://schemas.microsoft.com/office/drawing/2014/main" id="{4340C450-B817-411E-8CE5-44336540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2  局部执行</a:t>
            </a:r>
          </a:p>
        </p:txBody>
      </p:sp>
      <p:sp>
        <p:nvSpPr>
          <p:cNvPr id="6" name="连续生成未来5个航点，&#10;利用当前视觉绕障并调整朝向。">
            <a:extLst xmlns:a="http://schemas.openxmlformats.org/drawingml/2006/main">
              <a:ext uri="{FF2B5EF4-FFF2-40B4-BE49-F238E27FC236}">
                <a16:creationId xmlns:a16="http://schemas.microsoft.com/office/drawing/2014/main" id="{7C6BE4DA-F9A0-4755-8F66-E74B273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连续生成未来5个航点，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利用当前视觉绕障并调整朝向。</a:t>
            </a:r>
          </a:p>
        </p:txBody>
      </p:sp>
      <p:sp>
        <p:nvSpPr>
          <p:cNvPr id="7" name="3  新观测反馈">
            <a:extLst xmlns:a="http://schemas.openxmlformats.org/drawingml/2006/main">
              <a:ext uri="{FF2B5EF4-FFF2-40B4-BE49-F238E27FC236}">
                <a16:creationId xmlns:a16="http://schemas.microsoft.com/office/drawing/2014/main" id="{CD0E43BD-BD56-4076-9E5C-5ABE5B5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3  新观测反馈</a:t>
            </a:r>
          </a:p>
        </p:txBody>
      </p:sp>
      <p:sp>
        <p:nvSpPr>
          <p:cNvPr id="8" name="更新地图与图像历史，&#10;重新判断目标位置或下一探索方向。">
            <a:extLst xmlns:a="http://schemas.openxmlformats.org/drawingml/2006/main">
              <a:ext uri="{FF2B5EF4-FFF2-40B4-BE49-F238E27FC236}">
                <a16:creationId xmlns:a16="http://schemas.microsoft.com/office/drawing/2014/main" id="{D0FCCF53-1C53-40FB-8D34-10CF91E0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更新地图与图像历史，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重新判断目标位置或下一探索方向。</a:t>
            </a:r>
          </a:p>
        </p:txBody>
      </p:sp>
      <p:sp>
        <p:nvSpPr>
          <p:cNvPr id="9" name="Val-Unseen 的模块消融">
            <a:extLst xmlns:a="http://schemas.openxmlformats.org/drawingml/2006/main">
              <a:ext uri="{FF2B5EF4-FFF2-40B4-BE49-F238E27FC236}">
                <a16:creationId xmlns:a16="http://schemas.microsoft.com/office/drawing/2014/main" id="{020A8E02-5B21-489D-91E7-F15232F9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Val-Unseen 的模块消融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CF1F6-8502-40EB-9DEB-D91199A75BAC}"/>
              </a:ext>
            </a:extLst>
          </p:cNvPr>
          <p:cNvGraphicFramePr/>
          <p:nvPr/>
        </p:nvGraphicFramePr>
        <p:xfrm>
          <a:off xmlns:a="http://schemas.openxmlformats.org/drawingml/2006/main" x="6610350" y="1924050"/>
          <a:ext xmlns:a="http://schemas.openxmlformats.org/drawingml/2006/main" cx="4895850" cy="30670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724150"/>
                <a:gridCol w="1085850"/>
                <a:gridCol w="1085850"/>
              </a:tblGrid>
              <a:tr h="4762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自回归动作基线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22.1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加入连续策略头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再加入慢系统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55.9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30.7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完整配置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慢系统配置同时加入深度与里程计。&#10;实机超过5 Hz的结果对应">
            <a:extLst xmlns:a="http://schemas.openxmlformats.org/drawingml/2006/main">
              <a:ext uri="{FF2B5EF4-FFF2-40B4-BE49-F238E27FC236}">
                <a16:creationId xmlns:a16="http://schemas.microsoft.com/office/drawing/2014/main" id="{FEC643F3-020A-4BE8-9489-3957CE2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86375"/>
            <a:ext cx="4895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rPr>
              <a:t>慢系统配置同时加入深度与里程计。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rPr>
              <a:t>实机超过5 Hz的结果对应快系统。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D5B640A-3D7D-45C8-9087-FB28425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SR：成功率。SPL：按路径长度加权的成功率。来源：OmniNav 第3节、表3及实机部署说明</a:t>
            </a:r>
          </a:p>
        </p:txBody>
      </p:sp>
    </p:spTree>
    <p:extLst>
      <p:ext uri="{BB962C8B-B14F-4D97-AF65-F5344CB8AC3E}">
        <p14:creationId xmlns:p14="http://schemas.microsoft.com/office/powerpoint/2010/main" val="1431514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F6508B-BB57-45F6-9F25-8217EBAD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环境表征：方法与领先结果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B4FD39-3E9E-421D-BC60-1E18CC92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核心问题：把跨视角观测转成可查询、可决策的环境状态">
            <a:extLst xmlns:a="http://schemas.openxmlformats.org/drawingml/2006/main">
              <a:ext uri="{FF2B5EF4-FFF2-40B4-BE49-F238E27FC236}">
                <a16:creationId xmlns:a16="http://schemas.microsoft.com/office/drawing/2014/main" id="{ACE06191-7904-4FF0-9C95-AF135DE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核心问题：把跨视角观测转成可查询、可决策的环境状态</a:t>
            </a:r>
          </a:p>
        </p:txBody>
      </p:sp>
      <p:sp>
        <p:nvSpPr>
          <p:cNvPr id="4" name="主要方法">
            <a:extLst xmlns:a="http://schemas.openxmlformats.org/drawingml/2006/main">
              <a:ext uri="{FF2B5EF4-FFF2-40B4-BE49-F238E27FC236}">
                <a16:creationId xmlns:a16="http://schemas.microsoft.com/office/drawing/2014/main" id="{F22B3489-697A-495D-A4C6-386F239D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09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主要方法</a:t>
            </a:r>
          </a:p>
        </p:txBody>
      </p:sp>
      <p:sp>
        <p:nvSpPr>
          <p:cNvPr id="5" name="已收录主结果概览（%）">
            <a:extLst xmlns:a="http://schemas.openxmlformats.org/drawingml/2006/main">
              <a:ext uri="{FF2B5EF4-FFF2-40B4-BE49-F238E27FC236}">
                <a16:creationId xmlns:a16="http://schemas.microsoft.com/office/drawing/2014/main" id="{B10E7C2B-833B-4171-A536-C78B5D0D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739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已收录主结果概览（%）</a:t>
            </a:r>
          </a:p>
        </p:txBody>
      </p:sp>
      <p:sp>
        <p:nvSpPr>
          <p:cNvPr id="6" name="MSGNav：显式场景图">
            <a:extLst xmlns:a="http://schemas.openxmlformats.org/drawingml/2006/main">
              <a:ext uri="{FF2B5EF4-FFF2-40B4-BE49-F238E27FC236}">
                <a16:creationId xmlns:a16="http://schemas.microsoft.com/office/drawing/2014/main" id="{8F2A9D8E-D031-4CEA-B2A6-FDB643A1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MSGNav：显式场景图</a:t>
            </a:r>
          </a:p>
        </p:txBody>
      </p:sp>
      <p:sp>
        <p:nvSpPr>
          <p:cNvPr id="7" name="物体节点保留空间属性&#10;图边保留共同观测图像">
            <a:extLst xmlns:a="http://schemas.openxmlformats.org/drawingml/2006/main">
              <a:ext uri="{FF2B5EF4-FFF2-40B4-BE49-F238E27FC236}">
                <a16:creationId xmlns:a16="http://schemas.microsoft.com/office/drawing/2014/main" id="{2D9AEC50-0457-4134-B8C4-244B2573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物体节点保留空间属性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图边保留共同观测图像</a:t>
            </a:r>
          </a:p>
        </p:txBody>
      </p:sp>
      <p:sp>
        <p:nvSpPr>
          <p:cNvPr id="8" name="SoftNav：连续特征接口">
            <a:extLst xmlns:a="http://schemas.openxmlformats.org/drawingml/2006/main">
              <a:ext uri="{FF2B5EF4-FFF2-40B4-BE49-F238E27FC236}">
                <a16:creationId xmlns:a16="http://schemas.microsoft.com/office/drawing/2014/main" id="{602BF1DA-F252-4DA4-8D6F-255446B0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SoftNav：连续特征接口</a:t>
            </a:r>
          </a:p>
        </p:txBody>
      </p:sp>
      <p:sp>
        <p:nvSpPr>
          <p:cNvPr id="9" name="三维物体与前沿的特征&#10;映射为VLM的soft to">
            <a:extLst xmlns:a="http://schemas.openxmlformats.org/drawingml/2006/main">
              <a:ext uri="{FF2B5EF4-FFF2-40B4-BE49-F238E27FC236}">
                <a16:creationId xmlns:a16="http://schemas.microsoft.com/office/drawing/2014/main" id="{F0EF437D-6766-40B1-BCCB-F75332C3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三维物体与前沿的特征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映射为VLM的soft tokens</a:t>
            </a:r>
          </a:p>
        </p:txBody>
      </p:sp>
      <p:sp>
        <p:nvSpPr>
          <p:cNvPr id="10" name="SR与SPL需要同时看">
            <a:extLst xmlns:a="http://schemas.openxmlformats.org/drawingml/2006/main">
              <a:ext uri="{FF2B5EF4-FFF2-40B4-BE49-F238E27FC236}">
                <a16:creationId xmlns:a16="http://schemas.microsoft.com/office/drawing/2014/main" id="{153D9DBF-D8BE-4DD9-AFAF-4A6A9BD3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SR与SPL需要同时看</a:t>
            </a:r>
          </a:p>
        </p:txBody>
      </p:sp>
      <p:sp>
        <p:nvSpPr>
          <p:cNvPr id="11" name="GOAT较高SR来自SoftNav&#10;较高SPL来自">
            <a:extLst xmlns:a="http://schemas.openxmlformats.org/drawingml/2006/main">
              <a:ext uri="{FF2B5EF4-FFF2-40B4-BE49-F238E27FC236}">
                <a16:creationId xmlns:a16="http://schemas.microsoft.com/office/drawing/2014/main" id="{C3D9FF3A-1A0A-4B5A-B43E-994619BA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GOAT较高SR来自SoftNav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较高SPL来自MSGNav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D1671-325F-4F77-8944-ED4822EE6606}"/>
              </a:ext>
            </a:extLst>
          </p:cNvPr>
          <p:cNvGraphicFramePr/>
          <p:nvPr/>
        </p:nvGraphicFramePr>
        <p:xfrm>
          <a:off xmlns:a="http://schemas.openxmlformats.org/drawingml/2006/main" x="4114800" y="1981200"/>
          <a:ext xmlns:a="http://schemas.openxmlformats.org/drawingml/2006/main" cx="7391400" cy="31813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Val-Unseen，0.25 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SoftNav（SR较高）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MSGNav（SPL较高）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HM3D-ObjNav / Val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子任务与整任务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 s</a:t>
                      </a:r>
                    </a:p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16.6 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GOAT两篇使用不同评测规模，报告值并列展示，不作">
            <a:extLst xmlns:a="http://schemas.openxmlformats.org/drawingml/2006/main">
              <a:ext uri="{FF2B5EF4-FFF2-40B4-BE49-F238E27FC236}">
                <a16:creationId xmlns:a16="http://schemas.microsoft.com/office/drawing/2014/main" id="{42E28BA6-4E2C-4A01-A970-7C35BF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GOAT两篇使用不同评测规模，报告值并列展示，不作严格排名。各划分与SG3D完整结果见后续2页。</a:t>
            </a:r>
          </a:p>
        </p:txBody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40A56F3-9B05-46E8-8450-B4B2F116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SR：成功率。SPL：按路径长度加权的成功率。范围仅限已收录论文，完整协议与来源见备注</a:t>
            </a:r>
          </a:p>
        </p:txBody>
      </p:sp>
    </p:spTree>
    <p:extLst>
      <p:ext uri="{BB962C8B-B14F-4D97-AF65-F5344CB8AC3E}">
        <p14:creationId xmlns:p14="http://schemas.microsoft.com/office/powerpoint/2010/main" val="427208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37A6DA-CA40-406D-90A9-97EDA24C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环境表征：OVON与ObjectNav结果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0075C4-5867-4152-AB9C-67EC318C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D3D49-4E68-45E1-852D-C355090CF195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Val-Seen-Synonyms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HM3D-ObjNav / Val，6类别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：每划分120 episodes、0">
            <a:extLst xmlns:a="http://schemas.openxmlformats.org/drawingml/2006/main">
              <a:ext uri="{FF2B5EF4-FFF2-40B4-BE49-F238E27FC236}">
                <a16:creationId xmlns:a16="http://schemas.microsoft.com/office/drawing/2014/main" id="{6F4DC90B-D183-4627-B36D-FDA3F61D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SoftNav：每划分120 episodes、0.25 m。MSGNav：HM3D-ObjNav为1000 episodes、1 m。两者属于不同任务设置。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E55501D-2B43-4A2E-8B1D-A6239BF8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来源：SoftNav 表II；MSGNav 表2</a:t>
            </a:r>
          </a:p>
        </p:txBody>
      </p:sp>
    </p:spTree>
    <p:extLst>
      <p:ext uri="{BB962C8B-B14F-4D97-AF65-F5344CB8AC3E}">
        <p14:creationId xmlns:p14="http://schemas.microsoft.com/office/powerpoint/2010/main" val="70539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5F33C7-BBC5-4D47-AB17-3FCA1BAF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环境表征：GOAT与SG3D结果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10184C-24EC-49D3-B009-3409C984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D9D14-4C4F-4957-ABB7-65AEE41125FF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402907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7143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Val-Seen-Synonyms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338 episodes / 1351子任务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 s / 16.6 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的GOAT每划分30 episode">
            <a:extLst xmlns:a="http://schemas.openxmlformats.org/drawingml/2006/main">
              <a:ext uri="{FF2B5EF4-FFF2-40B4-BE49-F238E27FC236}">
                <a16:creationId xmlns:a16="http://schemas.microsoft.com/office/drawing/2014/main" id="{8EC38DE6-E9FF-4C9C-BE22-BF1542DD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SoftNav的GOAT每划分30 episodes，MSGNav为360 episodes。SG3D的s/t分别表示子任务／整任务SR。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2468AEB-26AF-4BDA-B609-7A2B5637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来源：SoftNav 表III–IV；MSGNav 表1。SPL最高报告值与SR最高报告值分别保留</a:t>
            </a:r>
          </a:p>
        </p:txBody>
      </p:sp>
    </p:spTree>
    <p:extLst>
      <p:ext uri="{BB962C8B-B14F-4D97-AF65-F5344CB8AC3E}">
        <p14:creationId xmlns:p14="http://schemas.microsoft.com/office/powerpoint/2010/main" val="874675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84D976-6558-44CD-B3DD-CDAFB49D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MSGNav：三维场景图怎样用于导航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C8B083-9C99-403E-88F7-442FCC89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物体节点保留空间属性，图边保留共同观测的图像证据">
            <a:extLst xmlns:a="http://schemas.openxmlformats.org/drawingml/2006/main">
              <a:ext uri="{FF2B5EF4-FFF2-40B4-BE49-F238E27FC236}">
                <a16:creationId xmlns:a16="http://schemas.microsoft.com/office/drawing/2014/main" id="{AF93CD75-D7C1-4CBC-ABDA-55DA3257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物体节点保留空间属性，图边保留共同观测的图像证据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2FA61-3AA0-4BD9-A5DD-EC6AB45E5D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59829c7104f75"/>
          <a:stretch xmlns:a="http://schemas.openxmlformats.org/drawingml/2006/main"/>
        </p:blipFill>
        <p:spPr>
          <a:xfrm xmlns:a="http://schemas.openxmlformats.org/drawingml/2006/main">
            <a:off x="1082798" y="1638300"/>
            <a:ext cx="10026404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KSS筛选子图，AVU更新词汇，CLR读取决策反馈，VVD选">
            <a:extLst xmlns:a="http://schemas.openxmlformats.org/drawingml/2006/main">
              <a:ext uri="{FF2B5EF4-FFF2-40B4-BE49-F238E27FC236}">
                <a16:creationId xmlns:a16="http://schemas.microsoft.com/office/drawing/2014/main" id="{34733D6D-A3CB-4431-9EE8-F92CC25F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KSS筛选子图，AVU更新词汇，CLR读取决策反馈，VVD选择终点观察位置。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C8407D1-2A53-4E78-BEC4-1CA6DA2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来源：MSGNav，图3（PDF第4页）</a:t>
            </a:r>
          </a:p>
        </p:txBody>
      </p:sp>
    </p:spTree>
    <p:extLst>
      <p:ext uri="{BB962C8B-B14F-4D97-AF65-F5344CB8AC3E}">
        <p14:creationId xmlns:p14="http://schemas.microsoft.com/office/powerpoint/2010/main" val="1975121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3B0B2-117A-4958-9E5E-752F5D81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MSGNav：目标定位后的视角选择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D8FA98-5CFA-41B8-A401-06E3D31B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定位物体之后，还要选择能清楚看见目标的可通行位置。">
            <a:extLst xmlns:a="http://schemas.openxmlformats.org/drawingml/2006/main">
              <a:ext uri="{FF2B5EF4-FFF2-40B4-BE49-F238E27FC236}">
                <a16:creationId xmlns:a16="http://schemas.microsoft.com/office/drawing/2014/main" id="{B7D43CD6-3142-46F7-A20A-E1241105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定位物体之后，还要选择能清楚看见目标的可通行位置。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05056-6808-4E14-9A89-171A20908B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d45f77fb64b97"/>
          <a:stretch xmlns:a="http://schemas.openxmlformats.org/drawingml/2006/main"/>
        </p:blipFill>
        <p:spPr>
          <a:xfrm xmlns:a="http://schemas.openxmlformats.org/drawingml/2006/main">
            <a:off x="687388" y="2143125"/>
            <a:ext cx="5711825" cy="3400425"/>
          </a:xfrm>
          <a:prstGeom xmlns:a="http://schemas.openxmlformats.org/drawingml/2006/main" prst="rect">
            <a:avLst/>
          </a:prstGeom>
        </p:spPr>
      </p:pic>
      <p:sp>
        <p:nvSpPr>
          <p:cNvPr id="5" name="左：只靠距离可能停在较差视角&#10;右：采样候选位置并计算目标可见">
            <a:extLst xmlns:a="http://schemas.openxmlformats.org/drawingml/2006/main">
              <a:ext uri="{FF2B5EF4-FFF2-40B4-BE49-F238E27FC236}">
                <a16:creationId xmlns:a16="http://schemas.microsoft.com/office/drawing/2014/main" id="{8B629BB6-F789-4337-A364-09C70E0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左：只靠距离可能停在较差视角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右：采样候选位置并计算目标可见率</a:t>
            </a:r>
          </a:p>
        </p:txBody>
      </p:sp>
      <p:sp>
        <p:nvSpPr>
          <p:cNvPr id="6" name="KSS：选择相关证据">
            <a:extLst xmlns:a="http://schemas.openxmlformats.org/drawingml/2006/main">
              <a:ext uri="{FF2B5EF4-FFF2-40B4-BE49-F238E27FC236}">
                <a16:creationId xmlns:a16="http://schemas.microsoft.com/office/drawing/2014/main" id="{3FB068C5-4C85-4752-A5F5-15DA51B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2573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KSS：选择相关证据</a:t>
            </a:r>
          </a:p>
        </p:txBody>
      </p:sp>
      <p:sp>
        <p:nvSpPr>
          <p:cNvPr id="7" name="相关物体筛选后，以较少图像覆盖关键关系，平均约4张图像／查询">
            <a:extLst xmlns:a="http://schemas.openxmlformats.org/drawingml/2006/main">
              <a:ext uri="{FF2B5EF4-FFF2-40B4-BE49-F238E27FC236}">
                <a16:creationId xmlns:a16="http://schemas.microsoft.com/office/drawing/2014/main" id="{AD54A680-0418-41A9-A0B8-21D3ADC7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145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相关物体筛选后，以较少图像覆盖关键关系，平均约4张图像／查询。</a:t>
            </a:r>
          </a:p>
        </p:txBody>
      </p:sp>
      <p:sp>
        <p:nvSpPr>
          <p:cNvPr id="8" name="AVU 与 CLR：修正决策">
            <a:extLst xmlns:a="http://schemas.openxmlformats.org/drawingml/2006/main">
              <a:ext uri="{FF2B5EF4-FFF2-40B4-BE49-F238E27FC236}">
                <a16:creationId xmlns:a16="http://schemas.microsoft.com/office/drawing/2014/main" id="{D1AE797B-6DB0-4D10-8D3C-6423CE7A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AVU 与 CLR：修正决策</a:t>
            </a:r>
          </a:p>
        </p:txBody>
      </p:sp>
      <p:sp>
        <p:nvSpPr>
          <p:cNvPr id="9" name="利用原始视觉证据更新对象词汇，结合过去的决策与反馈再次推理。">
            <a:extLst xmlns:a="http://schemas.openxmlformats.org/drawingml/2006/main">
              <a:ext uri="{FF2B5EF4-FFF2-40B4-BE49-F238E27FC236}">
                <a16:creationId xmlns:a16="http://schemas.microsoft.com/office/drawing/2014/main" id="{792DBAC3-2F5B-4E2E-B810-5129D9C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147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利用原始视觉证据更新对象词汇，结合过去的决策与反馈再次推理。</a:t>
            </a:r>
          </a:p>
        </p:txBody>
      </p:sp>
      <p:sp>
        <p:nvSpPr>
          <p:cNvPr id="10" name="VVD：选择观察位置">
            <a:extLst xmlns:a="http://schemas.openxmlformats.org/drawingml/2006/main">
              <a:ext uri="{FF2B5EF4-FFF2-40B4-BE49-F238E27FC236}">
                <a16:creationId xmlns:a16="http://schemas.microsoft.com/office/drawing/2014/main" id="{3C90819D-6608-4112-B2F0-3D032DF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577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VVD：选择观察位置</a:t>
            </a:r>
          </a:p>
        </p:txBody>
      </p:sp>
      <p:sp>
        <p:nvSpPr>
          <p:cNvPr id="11" name="对目标周围的可通行位置计算可见率，选取遮挡较少的位置。">
            <a:extLst xmlns:a="http://schemas.openxmlformats.org/drawingml/2006/main">
              <a:ext uri="{FF2B5EF4-FFF2-40B4-BE49-F238E27FC236}">
                <a16:creationId xmlns:a16="http://schemas.microsoft.com/office/drawing/2014/main" id="{C3013CDE-F22E-41D3-84B3-EC1E78C8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149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对目标周围的可通行位置计算可见率，选取遮挡较少的位置。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7E0BEDE-7040-4273-AE34-FEF10727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来源：MSGNav 图4、第3.3节。依赖RGB-D与位姿，感知和VLM推理成本另计</a:t>
            </a:r>
          </a:p>
        </p:txBody>
      </p:sp>
    </p:spTree>
    <p:extLst>
      <p:ext uri="{BB962C8B-B14F-4D97-AF65-F5344CB8AC3E}">
        <p14:creationId xmlns:p14="http://schemas.microsoft.com/office/powerpoint/2010/main" val="2079259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E47366-3FBE-4669-B6D3-C45DB16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历史记忆：方法与领先结果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116F23-A4D7-46B5-B011-6269E63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核心问题：有限上下文中，怎样利用过去看见的环境">
            <a:extLst xmlns:a="http://schemas.openxmlformats.org/drawingml/2006/main">
              <a:ext uri="{FF2B5EF4-FFF2-40B4-BE49-F238E27FC236}">
                <a16:creationId xmlns:a16="http://schemas.microsoft.com/office/drawing/2014/main" id="{D1B15EDF-8EE4-4ED8-BF7A-982DDE60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核心问题：有限上下文中，怎样利用过去看见的环境</a:t>
            </a:r>
          </a:p>
        </p:txBody>
      </p:sp>
      <p:sp>
        <p:nvSpPr>
          <p:cNvPr id="4" name="主要方法">
            <a:extLst xmlns:a="http://schemas.openxmlformats.org/drawingml/2006/main">
              <a:ext uri="{FF2B5EF4-FFF2-40B4-BE49-F238E27FC236}">
                <a16:creationId xmlns:a16="http://schemas.microsoft.com/office/drawing/2014/main" id="{F9C50D84-04CE-4233-9A4F-1A3F9CCA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09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主要方法</a:t>
            </a:r>
          </a:p>
        </p:txBody>
      </p:sp>
      <p:sp>
        <p:nvSpPr>
          <p:cNvPr id="5" name="已收录主结果概览（%）">
            <a:extLst xmlns:a="http://schemas.openxmlformats.org/drawingml/2006/main">
              <a:ext uri="{FF2B5EF4-FFF2-40B4-BE49-F238E27FC236}">
                <a16:creationId xmlns:a16="http://schemas.microsoft.com/office/drawing/2014/main" id="{30E09C39-987C-4997-AC51-0658CE8D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739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已收录主结果概览（%）</a:t>
            </a:r>
          </a:p>
        </p:txBody>
      </p:sp>
      <p:sp>
        <p:nvSpPr>
          <p:cNvPr id="6" name="AstraNav-Memory">
            <a:extLst xmlns:a="http://schemas.openxmlformats.org/drawingml/2006/main">
              <a:ext uri="{FF2B5EF4-FFF2-40B4-BE49-F238E27FC236}">
                <a16:creationId xmlns:a16="http://schemas.microsoft.com/office/drawing/2014/main" id="{89697056-21C9-4180-88F1-1ADB5BA9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AstraNav-Memory</a:t>
            </a:r>
          </a:p>
        </p:txBody>
      </p:sp>
      <p:sp>
        <p:nvSpPr>
          <p:cNvPr id="7" name="减少每帧视觉tokens&#10;读取长期图像与位姿">
            <a:extLst xmlns:a="http://schemas.openxmlformats.org/drawingml/2006/main">
              <a:ext uri="{FF2B5EF4-FFF2-40B4-BE49-F238E27FC236}">
                <a16:creationId xmlns:a16="http://schemas.microsoft.com/office/drawing/2014/main" id="{E18B1335-AB54-46C4-A380-ACEBBD42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减少每帧视觉tokens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读取长期图像与位姿</a:t>
            </a:r>
          </a:p>
        </p:txBody>
      </p:sp>
      <p:sp>
        <p:nvSpPr>
          <p:cNvPr id="8" name="JanusVLN">
            <a:extLst xmlns:a="http://schemas.openxmlformats.org/drawingml/2006/main">
              <a:ext uri="{FF2B5EF4-FFF2-40B4-BE49-F238E27FC236}">
                <a16:creationId xmlns:a16="http://schemas.microsoft.com/office/drawing/2014/main" id="{782C4BB7-D3E3-4B01-96EE-560BE192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JanusVLN</a:t>
            </a:r>
          </a:p>
        </p:txBody>
      </p:sp>
      <p:sp>
        <p:nvSpPr>
          <p:cNvPr id="9" name="分离语义与空间特征&#10;使用历史窗口与缓存">
            <a:extLst xmlns:a="http://schemas.openxmlformats.org/drawingml/2006/main">
              <a:ext uri="{FF2B5EF4-FFF2-40B4-BE49-F238E27FC236}">
                <a16:creationId xmlns:a16="http://schemas.microsoft.com/office/drawing/2014/main" id="{E3A79FF6-73EA-482E-BC7E-A714F801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分离语义与空间特征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使用历史窗口与缓存</a:t>
            </a:r>
          </a:p>
        </p:txBody>
      </p:sp>
      <p:sp>
        <p:nvSpPr>
          <p:cNvPr id="10" name="两个任务组分别比较">
            <a:extLst xmlns:a="http://schemas.openxmlformats.org/drawingml/2006/main">
              <a:ext uri="{FF2B5EF4-FFF2-40B4-BE49-F238E27FC236}">
                <a16:creationId xmlns:a16="http://schemas.microsoft.com/office/drawing/2014/main" id="{356C7B72-FFE1-4F19-A002-CCB671B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两个任务组分别比较</a:t>
            </a:r>
          </a:p>
        </p:txBody>
      </p:sp>
      <p:sp>
        <p:nvSpPr>
          <p:cNvPr id="11" name="目标搜索：OVON、GOAT&#10;指令跟随：R2R、R">
            <a:extLst xmlns:a="http://schemas.openxmlformats.org/drawingml/2006/main">
              <a:ext uri="{FF2B5EF4-FFF2-40B4-BE49-F238E27FC236}">
                <a16:creationId xmlns:a16="http://schemas.microsoft.com/office/drawing/2014/main" id="{88CC1C02-3B65-4A70-AB72-E954CEE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目标搜索：OVON、GOAT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指令跟随：R2R、RxR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FA435-80BA-4AEE-ABF4-86A28570ACB7}"/>
              </a:ext>
            </a:extLst>
          </p:cNvPr>
          <p:cNvGraphicFramePr/>
          <p:nvPr/>
        </p:nvGraphicFramePr>
        <p:xfrm>
          <a:off xmlns:a="http://schemas.openxmlformats.org/drawingml/2006/main" x="4114800" y="1981200"/>
          <a:ext xmlns:a="http://schemas.openxmlformats.org/drawingml/2006/main" cx="7391400" cy="26289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R2R-CE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RxR-CE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AstraNav采用论文1 m判据；Janus为额">
            <a:extLst xmlns:a="http://schemas.openxmlformats.org/drawingml/2006/main">
              <a:ext uri="{FF2B5EF4-FFF2-40B4-BE49-F238E27FC236}">
                <a16:creationId xmlns:a16="http://schemas.microsoft.com/office/drawing/2014/main" id="{6423A3E1-843B-4B09-9BDB-8241568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AstraNav采用论文1 m判据；Janus为额外数据版、单RGB。三个Seen／Synonyms／Unseen划分见下一页。</a:t>
            </a:r>
          </a:p>
        </p:txBody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F9D80BC-0497-48A2-B7F4-2E13971D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SR：成功率。SPL：按路径长度加权的成功率。范围仅限已收录论文，完整协议与来源见备注</a:t>
            </a:r>
          </a:p>
        </p:txBody>
      </p:sp>
    </p:spTree>
    <p:extLst>
      <p:ext uri="{BB962C8B-B14F-4D97-AF65-F5344CB8AC3E}">
        <p14:creationId xmlns:p14="http://schemas.microsoft.com/office/powerpoint/2010/main" val="8416248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5E2E7A-6456-4690-B600-362FD913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历史记忆：各benchmark与划分结果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0ECE2E-D73F-4C7D-8FFC-E7889D17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BAC38-C9A7-4001-80C8-6F6BA2A1E121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6482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238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Val-Seen-Synonyms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Val-Seen-Synonyms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R2R-CE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RxR-CE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补充：JanusVLN另报OVON Val-Uns">
            <a:extLst xmlns:a="http://schemas.openxmlformats.org/drawingml/2006/main">
              <a:ext uri="{FF2B5EF4-FFF2-40B4-BE49-F238E27FC236}">
                <a16:creationId xmlns:a16="http://schemas.microsoft.com/office/drawing/2014/main" id="{FB74E007-23E8-49B2-8283-512FE63E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补充：JanusVLN另报OVON Val-Unseen为44.9／31.7，评测细节披露有限，不与AstraNav作严格排名。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D341F52-DF0C-4F79-B2A3-3495E386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来源：AstraNav-Memory 表1–2；JanusVLN 表1–2及附录表6</a:t>
            </a:r>
          </a:p>
        </p:txBody>
      </p:sp>
    </p:spTree>
    <p:extLst>
      <p:ext uri="{BB962C8B-B14F-4D97-AF65-F5344CB8AC3E}">
        <p14:creationId xmlns:p14="http://schemas.microsoft.com/office/powerpoint/2010/main" val="2811438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15C153-5F8E-48A4-AF09-B8EF15B2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AstraNav-Memory：压缩后读取长期历史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66E7AF-004F-4294-99B0-D5F1477D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主配置每帧视觉token：原始598个，压缩后30个">
            <a:extLst xmlns:a="http://schemas.openxmlformats.org/drawingml/2006/main">
              <a:ext uri="{FF2B5EF4-FFF2-40B4-BE49-F238E27FC236}">
                <a16:creationId xmlns:a16="http://schemas.microsoft.com/office/drawing/2014/main" id="{B390798A-A5F5-47C1-912D-DBDF4366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主配置每帧视觉token：原始598个，压缩后30个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1A74A-0207-4364-828F-2204EC35D9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c5551312f428b"/>
          <a:stretch xmlns:a="http://schemas.openxmlformats.org/drawingml/2006/main"/>
        </p:blipFill>
        <p:spPr>
          <a:xfrm xmlns:a="http://schemas.openxmlformats.org/drawingml/2006/main">
            <a:off x="1181100" y="1790700"/>
            <a:ext cx="98298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图像与位姿成对输入模型，用于预测目标位置或下一探索前沿坐标。">
            <a:extLst xmlns:a="http://schemas.openxmlformats.org/drawingml/2006/main">
              <a:ext uri="{FF2B5EF4-FFF2-40B4-BE49-F238E27FC236}">
                <a16:creationId xmlns:a16="http://schemas.microsoft.com/office/drawing/2014/main" id="{6FEE33C3-DA05-4BD9-89CC-72DD7101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图像与位姿成对输入模型，用于预测目标位置或下一探索前沿坐标。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3061E56-16C6-4554-AD80-FB095FAA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来源：AstraNav-Memory，图2（PDF第4页）；压缩算子按正文第3.2节解释</a:t>
            </a:r>
          </a:p>
        </p:txBody>
      </p:sp>
    </p:spTree>
    <p:extLst>
      <p:ext uri="{BB962C8B-B14F-4D97-AF65-F5344CB8AC3E}">
        <p14:creationId xmlns:p14="http://schemas.microsoft.com/office/powerpoint/2010/main" val="3758362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F8A4EE-188D-46A3-B788-56A88F62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AstraNav-Memory：历史长度与信息损失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F76ECB-C64D-49A0-B370-C043D45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论文效率实验">
            <a:extLst xmlns:a="http://schemas.openxmlformats.org/drawingml/2006/main">
              <a:ext uri="{FF2B5EF4-FFF2-40B4-BE49-F238E27FC236}">
                <a16:creationId xmlns:a16="http://schemas.microsoft.com/office/drawing/2014/main" id="{1BC8F677-3693-42C1-8351-66D36D82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论文效率实验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C818E-4ADF-44FB-86F8-3C2B280AA3AD}"/>
              </a:ext>
            </a:extLst>
          </p:cNvPr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6858000" cy="37909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857500"/>
                <a:gridCol w="952500"/>
                <a:gridCol w="1524000"/>
                <a:gridCol w="1524000"/>
              </a:tblGrid>
              <a:tr h="5143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历史设置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 秒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显存 GB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50帧，原始输入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86.8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更长历史仍有代价">
            <a:extLst xmlns:a="http://schemas.openxmlformats.org/drawingml/2006/main">
              <a:ext uri="{FF2B5EF4-FFF2-40B4-BE49-F238E27FC236}">
                <a16:creationId xmlns:a16="http://schemas.microsoft.com/office/drawing/2014/main" id="{C1EB5725-BFD6-4649-90CC-9F3AD03D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5255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更长历史仍有代价</a:t>
            </a:r>
          </a:p>
        </p:txBody>
      </p:sp>
      <p:sp>
        <p:nvSpPr>
          <p:cNvPr id="6" name="同为50帧，推理由10.3秒降到2.2秒，SR也由60.2%">
            <a:extLst xmlns:a="http://schemas.openxmlformats.org/drawingml/2006/main">
              <a:ext uri="{FF2B5EF4-FFF2-40B4-BE49-F238E27FC236}">
                <a16:creationId xmlns:a16="http://schemas.microsoft.com/office/drawing/2014/main" id="{C8AECFF2-8E83-4842-8C25-49448A1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同为50帧，推理由10.3秒降到2.2秒，SR也由60.2%降到56.6%。</a:t>
            </a:r>
          </a:p>
        </p:txBody>
      </p:sp>
      <p:sp>
        <p:nvSpPr>
          <p:cNvPr id="7" name="压缩后100帧优于200帧。历史长度、细节损失与模型读取能力">
            <a:extLst xmlns:a="http://schemas.openxmlformats.org/drawingml/2006/main">
              <a:ext uri="{FF2B5EF4-FFF2-40B4-BE49-F238E27FC236}">
                <a16:creationId xmlns:a16="http://schemas.microsoft.com/office/drawing/2014/main" id="{55B12DE1-28F9-48D5-9DC5-0604813E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38575"/>
            <a:ext cx="3219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压缩后100帧优于200帧。历史长度、细节损失与模型读取能力共同影响结果。</a:t>
            </a:r>
          </a:p>
        </p:txBody>
      </p:sp>
      <p:sp>
        <p:nvSpPr>
          <p:cNvPr id="8" name="压缩行采用原表16×空间压缩标记，与598到30的最终tok">
            <a:extLst xmlns:a="http://schemas.openxmlformats.org/drawingml/2006/main">
              <a:ext uri="{FF2B5EF4-FFF2-40B4-BE49-F238E27FC236}">
                <a16:creationId xmlns:a16="http://schemas.microsoft.com/office/drawing/2014/main" id="{A2ACA89E-A7D5-4EF2-85A1-660E5151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压缩行采用原表16×空间压缩标记，与598到30的最终token统计口径不同。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A1AE2C0-F505-4300-AE7B-6E44771C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AstraNav-Memory 表3。推理单位：秒／指令；显存按原表口径保留</a:t>
            </a:r>
          </a:p>
        </p:txBody>
      </p:sp>
    </p:spTree>
    <p:extLst>
      <p:ext uri="{BB962C8B-B14F-4D97-AF65-F5344CB8AC3E}">
        <p14:creationId xmlns:p14="http://schemas.microsoft.com/office/powerpoint/2010/main" val="16196885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3581C5-4131-4EFB-B966-7010A120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探索与目标搜索：方法与领先结果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A8CDC1-783F-4DE8-98A3-C251FF1F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核心问题：目标尚未出现时，下一步去哪里更有价值">
            <a:extLst xmlns:a="http://schemas.openxmlformats.org/drawingml/2006/main">
              <a:ext uri="{FF2B5EF4-FFF2-40B4-BE49-F238E27FC236}">
                <a16:creationId xmlns:a16="http://schemas.microsoft.com/office/drawing/2014/main" id="{7E59AD87-9909-45FF-9460-0F4F144C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核心问题：目标尚未出现时，下一步去哪里更有价值</a:t>
            </a:r>
          </a:p>
        </p:txBody>
      </p:sp>
      <p:sp>
        <p:nvSpPr>
          <p:cNvPr id="4" name="主要方法">
            <a:extLst xmlns:a="http://schemas.openxmlformats.org/drawingml/2006/main">
              <a:ext uri="{FF2B5EF4-FFF2-40B4-BE49-F238E27FC236}">
                <a16:creationId xmlns:a16="http://schemas.microsoft.com/office/drawing/2014/main" id="{C09F7ADE-2060-45E9-BE03-54B9E70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09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主要方法</a:t>
            </a:r>
          </a:p>
        </p:txBody>
      </p:sp>
      <p:sp>
        <p:nvSpPr>
          <p:cNvPr id="5" name="已收录主结果概览（%）">
            <a:extLst xmlns:a="http://schemas.openxmlformats.org/drawingml/2006/main">
              <a:ext uri="{FF2B5EF4-FFF2-40B4-BE49-F238E27FC236}">
                <a16:creationId xmlns:a16="http://schemas.microsoft.com/office/drawing/2014/main" id="{8DD9F7B6-23A3-44A5-8666-A4E8187D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739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已收录主结果概览（%）</a:t>
            </a:r>
          </a:p>
        </p:txBody>
      </p:sp>
      <p:sp>
        <p:nvSpPr>
          <p:cNvPr id="6" name="VLFM：语义价值地图">
            <a:extLst xmlns:a="http://schemas.openxmlformats.org/drawingml/2006/main">
              <a:ext uri="{FF2B5EF4-FFF2-40B4-BE49-F238E27FC236}">
                <a16:creationId xmlns:a16="http://schemas.microsoft.com/office/drawing/2014/main" id="{C562041C-E4C4-4D61-BD90-04380902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VLFM：语义价值地图</a:t>
            </a:r>
          </a:p>
        </p:txBody>
      </p:sp>
      <p:sp>
        <p:nvSpPr>
          <p:cNvPr id="7" name="累积图文相似度&#10;评价地图前沿的价值">
            <a:extLst xmlns:a="http://schemas.openxmlformats.org/drawingml/2006/main">
              <a:ext uri="{FF2B5EF4-FFF2-40B4-BE49-F238E27FC236}">
                <a16:creationId xmlns:a16="http://schemas.microsoft.com/office/drawing/2014/main" id="{08FE7080-6869-450F-B12E-260BE0F0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累积图文相似度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评价地图前沿的价值</a:t>
            </a:r>
          </a:p>
        </p:txBody>
      </p:sp>
      <p:sp>
        <p:nvSpPr>
          <p:cNvPr id="8" name="OpenFrontier：视觉前沿">
            <a:extLst xmlns:a="http://schemas.openxmlformats.org/drawingml/2006/main">
              <a:ext uri="{FF2B5EF4-FFF2-40B4-BE49-F238E27FC236}">
                <a16:creationId xmlns:a16="http://schemas.microsoft.com/office/drawing/2014/main" id="{276355FC-8E55-4D30-B29B-2B8279A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OpenFrontier：视觉前沿</a:t>
            </a:r>
          </a:p>
        </p:txBody>
      </p:sp>
      <p:sp>
        <p:nvSpPr>
          <p:cNvPr id="9" name="评价图像中候选方向&#10;结合信息增益与距离">
            <a:extLst xmlns:a="http://schemas.openxmlformats.org/drawingml/2006/main">
              <a:ext uri="{FF2B5EF4-FFF2-40B4-BE49-F238E27FC236}">
                <a16:creationId xmlns:a16="http://schemas.microsoft.com/office/drawing/2014/main" id="{3335E79C-E79A-48D6-86B4-7E0AE18F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评价图像中候选方向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结合信息增益与距离</a:t>
            </a:r>
          </a:p>
        </p:txBody>
      </p:sp>
      <p:sp>
        <p:nvSpPr>
          <p:cNvPr id="10" name="目标确认闭环">
            <a:extLst xmlns:a="http://schemas.openxmlformats.org/drawingml/2006/main">
              <a:ext uri="{FF2B5EF4-FFF2-40B4-BE49-F238E27FC236}">
                <a16:creationId xmlns:a16="http://schemas.microsoft.com/office/drawing/2014/main" id="{56EEAB8B-BED3-45F7-8448-36174603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目标确认闭环</a:t>
            </a:r>
          </a:p>
        </p:txBody>
      </p:sp>
      <p:sp>
        <p:nvSpPr>
          <p:cNvPr id="11" name="执行移动后更新观测&#10;核查目标是否满足描述">
            <a:extLst xmlns:a="http://schemas.openxmlformats.org/drawingml/2006/main">
              <a:ext uri="{FF2B5EF4-FFF2-40B4-BE49-F238E27FC236}">
                <a16:creationId xmlns:a16="http://schemas.microsoft.com/office/drawing/2014/main" id="{E828FE2D-D417-48E2-8957-FE897C52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执行移动后更新观测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核查目标是否满足描述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F50E9-9CF8-41CE-9F28-679A2028AC6B}"/>
              </a:ext>
            </a:extLst>
          </p:cNvPr>
          <p:cNvGraphicFramePr/>
          <p:nvPr/>
        </p:nvGraphicFramePr>
        <p:xfrm>
          <a:off xmlns:a="http://schemas.openxmlformats.org/drawingml/2006/main" x="4114800" y="1981200"/>
          <a:ext xmlns:a="http://schemas.openxmlformats.org/drawingml/2006/main" cx="7391400" cy="37338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Gibson / Val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VLFM†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ObjectNav / Val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MP3D ObjectNav / Val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VLFM†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Synonyms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VLFM†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† 本分支仅一篇报告该benchmark或划分，列">
            <a:extLst xmlns:a="http://schemas.openxmlformats.org/drawingml/2006/main">
              <a:ext uri="{FF2B5EF4-FFF2-40B4-BE49-F238E27FC236}">
                <a16:creationId xmlns:a16="http://schemas.microsoft.com/office/drawing/2014/main" id="{12E84171-C46E-441A-8891-6F86DD1E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† 本分支仅一篇报告该benchmark或划分，列原值而不推断领先性。VLFM的OVON数据来自基准论文重评。</a:t>
            </a:r>
          </a:p>
        </p:txBody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2390270-8175-4E70-869D-8CAB3B8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SR：成功率。SPL：按路径长度加权的成功率。范围仅限已收录论文，完整协议与来源见备注</a:t>
            </a:r>
          </a:p>
        </p:txBody>
      </p:sp>
    </p:spTree>
    <p:extLst>
      <p:ext uri="{BB962C8B-B14F-4D97-AF65-F5344CB8AC3E}">
        <p14:creationId xmlns:p14="http://schemas.microsoft.com/office/powerpoint/2010/main" val="395236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BC4C62-063B-45A8-BB7F-F081CF7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OpenFrontier：在图像中评价探索方向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6C1DCF-F967-4F89-B1CC-50E5828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标记候选前沿后，VLM根据周围场景判断哪个方向更可能通向目标">
            <a:extLst xmlns:a="http://schemas.openxmlformats.org/drawingml/2006/main">
              <a:ext uri="{FF2B5EF4-FFF2-40B4-BE49-F238E27FC236}">
                <a16:creationId xmlns:a16="http://schemas.microsoft.com/office/drawing/2014/main" id="{35B1490C-506E-48E2-B641-9A804D4E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标记候选前沿后，VLM根据周围场景判断哪个方向更可能通向目标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CD00E-6CED-4269-938F-BD041B4857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8f516c30d46d0"/>
          <a:stretch xmlns:a="http://schemas.openxmlformats.org/drawingml/2006/main"/>
        </p:blipFill>
        <p:spPr>
          <a:xfrm xmlns:a="http://schemas.openxmlformats.org/drawingml/2006/main">
            <a:off x="685800" y="2078578"/>
            <a:ext cx="10820400" cy="3453319"/>
          </a:xfrm>
          <a:prstGeom xmlns:a="http://schemas.openxmlformats.org/drawingml/2006/main" prst="rect">
            <a:avLst/>
          </a:prstGeom>
        </p:spPr>
      </p:pic>
      <p:sp>
        <p:nvSpPr>
          <p:cNvPr id="5" name="FrontierNet提供探索先验，VLM提供目标相关概率，">
            <a:extLst xmlns:a="http://schemas.openxmlformats.org/drawingml/2006/main">
              <a:ext uri="{FF2B5EF4-FFF2-40B4-BE49-F238E27FC236}">
                <a16:creationId xmlns:a16="http://schemas.microsoft.com/office/drawing/2014/main" id="{DE1A47EC-28E0-4745-8739-246FE05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FrontierNet提供探索先验，VLM提供目标相关概率，三维后端维护全局候选位置。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F10AEF9-EB39-4AF2-9EE0-50EF6187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来源：OpenFrontier，图2（PDF第2页）</a:t>
            </a:r>
          </a:p>
        </p:txBody>
      </p:sp>
    </p:spTree>
    <p:extLst>
      <p:ext uri="{BB962C8B-B14F-4D97-AF65-F5344CB8AC3E}">
        <p14:creationId xmlns:p14="http://schemas.microsoft.com/office/powerpoint/2010/main" val="20647751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2CFC73-5AA4-4064-96E6-C19EE181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OpenFrontier：候选效用与目标确认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C54BCC-8A73-4896-B2B3-527BCDD5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前沿效用的组成">
            <a:extLst xmlns:a="http://schemas.openxmlformats.org/drawingml/2006/main">
              <a:ext uri="{FF2B5EF4-FFF2-40B4-BE49-F238E27FC236}">
                <a16:creationId xmlns:a16="http://schemas.microsoft.com/office/drawing/2014/main" id="{E618ABD3-DF72-4E0B-BFE0-9C563DEC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前沿效用的组成</a:t>
            </a:r>
          </a:p>
        </p:txBody>
      </p:sp>
      <p:sp>
        <p:nvSpPr>
          <p:cNvPr id="4" name="目标相关概率 × 信息增益 ÷ 到达距离">
            <a:extLst xmlns:a="http://schemas.openxmlformats.org/drawingml/2006/main">
              <a:ext uri="{FF2B5EF4-FFF2-40B4-BE49-F238E27FC236}">
                <a16:creationId xmlns:a16="http://schemas.microsoft.com/office/drawing/2014/main" id="{4894E185-4964-44E6-8B23-AA217CF6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905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目标相关概率 × 信息增益 ÷ 到达距离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8DA3-8995-43C8-8AB7-55015FFDB0E1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5905500" cy="27051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000250"/>
                <a:gridCol w="3905250"/>
              </a:tblGrid>
              <a:tr h="4762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来源与含义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目标相关概率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VLM根据图像与目标评估方向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信息增益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FrontierNet预测可揭示的未知空间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到达距离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当前位置到候选前沿的空间距离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停止前的目标确认">
            <a:extLst xmlns:a="http://schemas.openxmlformats.org/drawingml/2006/main">
              <a:ext uri="{FF2B5EF4-FFF2-40B4-BE49-F238E27FC236}">
                <a16:creationId xmlns:a16="http://schemas.microsoft.com/office/drawing/2014/main" id="{D37008D4-8AC8-4F13-896D-8CD56B44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停止前的目标确认</a:t>
            </a:r>
          </a:p>
        </p:txBody>
      </p:sp>
      <p:sp>
        <p:nvSpPr>
          <p:cNvPr id="7" name="1  提出观察位置">
            <a:extLst xmlns:a="http://schemas.openxmlformats.org/drawingml/2006/main">
              <a:ext uri="{FF2B5EF4-FFF2-40B4-BE49-F238E27FC236}">
                <a16:creationId xmlns:a16="http://schemas.microsoft.com/office/drawing/2014/main" id="{48780A30-E70E-4D49-9007-857ADCC7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4787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1  提出观察位置</a:t>
            </a:r>
          </a:p>
        </p:txBody>
      </p:sp>
      <p:sp>
        <p:nvSpPr>
          <p:cNvPr id="8" name="分割检测到疑似目标，结合深度与位姿，生成面向物体的观察位置。">
            <a:extLst xmlns:a="http://schemas.openxmlformats.org/drawingml/2006/main">
              <a:ext uri="{FF2B5EF4-FFF2-40B4-BE49-F238E27FC236}">
                <a16:creationId xmlns:a16="http://schemas.microsoft.com/office/drawing/2014/main" id="{F3CCF843-7949-4910-AE19-49D31420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05075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分割检测到疑似目标，结合深度与位姿，生成面向物体的观察位置。</a:t>
            </a:r>
          </a:p>
        </p:txBody>
      </p:sp>
      <p:sp>
        <p:nvSpPr>
          <p:cNvPr id="9" name="2  到达后再次核查">
            <a:extLst xmlns:a="http://schemas.openxmlformats.org/drawingml/2006/main">
              <a:ext uri="{FF2B5EF4-FFF2-40B4-BE49-F238E27FC236}">
                <a16:creationId xmlns:a16="http://schemas.microsoft.com/office/drawing/2014/main" id="{7D011530-AFA7-47A7-8CCA-D790E455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147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2  到达后再次核查</a:t>
            </a:r>
          </a:p>
        </p:txBody>
      </p:sp>
      <p:sp>
        <p:nvSpPr>
          <p:cNvPr id="10" name="由VLM检查当前图像，判断该物体是否满足目标描述。">
            <a:extLst xmlns:a="http://schemas.openxmlformats.org/drawingml/2006/main">
              <a:ext uri="{FF2B5EF4-FFF2-40B4-BE49-F238E27FC236}">
                <a16:creationId xmlns:a16="http://schemas.microsoft.com/office/drawing/2014/main" id="{6D9E87E9-679C-4CD3-A696-146DC4F5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71925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由VLM检查当前图像，判断该物体是否满足目标描述。</a:t>
            </a:r>
          </a:p>
        </p:txBody>
      </p:sp>
      <p:sp>
        <p:nvSpPr>
          <p:cNvPr id="11" name="确认后靠近目标。未确认则丢弃假设，恢复前沿搜索。">
            <a:extLst xmlns:a="http://schemas.openxmlformats.org/drawingml/2006/main">
              <a:ext uri="{FF2B5EF4-FFF2-40B4-BE49-F238E27FC236}">
                <a16:creationId xmlns:a16="http://schemas.microsoft.com/office/drawing/2014/main" id="{5A3AB9A0-67D5-4776-9A12-BE6BA67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4324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确认后靠近目标。未确认则丢弃假设，恢复前沿搜索。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6332F48-49BF-4E46-A893-4618884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OpenFrontier 第III节。仍依赖相机几何、位姿和下层导航，推理开销另计</a:t>
            </a:r>
          </a:p>
        </p:txBody>
      </p:sp>
    </p:spTree>
    <p:extLst>
      <p:ext uri="{BB962C8B-B14F-4D97-AF65-F5344CB8AC3E}">
        <p14:creationId xmlns:p14="http://schemas.microsoft.com/office/powerpoint/2010/main" val="7304805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3372CA-FDC6-4F0B-8BB3-C8FBD39F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策略训练与优化：方法与领先结果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16B750-00F4-4CB4-8FFC-0A839525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核心问题：怎样训练目标搜索策略，并适应未见类别">
            <a:extLst xmlns:a="http://schemas.openxmlformats.org/drawingml/2006/main">
              <a:ext uri="{FF2B5EF4-FFF2-40B4-BE49-F238E27FC236}">
                <a16:creationId xmlns:a16="http://schemas.microsoft.com/office/drawing/2014/main" id="{12F5BD22-FED0-46E2-9A3B-D4EFE78A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核心问题：怎样训练目标搜索策略，并适应未见类别</a:t>
            </a:r>
          </a:p>
        </p:txBody>
      </p:sp>
      <p:sp>
        <p:nvSpPr>
          <p:cNvPr id="4" name="主要方法">
            <a:extLst xmlns:a="http://schemas.openxmlformats.org/drawingml/2006/main">
              <a:ext uri="{FF2B5EF4-FFF2-40B4-BE49-F238E27FC236}">
                <a16:creationId xmlns:a16="http://schemas.microsoft.com/office/drawing/2014/main" id="{63C4345F-C84A-40ED-8D5E-47A6E13C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09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主要方法</a:t>
            </a:r>
          </a:p>
        </p:txBody>
      </p:sp>
      <p:sp>
        <p:nvSpPr>
          <p:cNvPr id="5" name="已收录主结果概览（%）">
            <a:extLst xmlns:a="http://schemas.openxmlformats.org/drawingml/2006/main">
              <a:ext uri="{FF2B5EF4-FFF2-40B4-BE49-F238E27FC236}">
                <a16:creationId xmlns:a16="http://schemas.microsoft.com/office/drawing/2014/main" id="{95C4697C-EB69-4B6B-A22E-24A2F43B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739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已收录主结果概览（%）</a:t>
            </a:r>
          </a:p>
        </p:txBody>
      </p:sp>
      <p:sp>
        <p:nvSpPr>
          <p:cNvPr id="6" name="OVSegDT">
            <a:extLst xmlns:a="http://schemas.openxmlformats.org/drawingml/2006/main">
              <a:ext uri="{FF2B5EF4-FFF2-40B4-BE49-F238E27FC236}">
                <a16:creationId xmlns:a16="http://schemas.microsoft.com/office/drawing/2014/main" id="{6C6A92BA-FEAD-4F65-9267-344F508C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OVSegDT</a:t>
            </a:r>
          </a:p>
        </p:txBody>
      </p:sp>
      <p:sp>
        <p:nvSpPr>
          <p:cNvPr id="7" name="目标掩码与辅助重建&#10;动作熵调节BC／PPO配比">
            <a:extLst xmlns:a="http://schemas.openxmlformats.org/drawingml/2006/main">
              <a:ext uri="{FF2B5EF4-FFF2-40B4-BE49-F238E27FC236}">
                <a16:creationId xmlns:a16="http://schemas.microsoft.com/office/drawing/2014/main" id="{92CE8F4B-B04C-4CD9-B14E-ED019AE4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目标掩码与辅助重建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动作熵调节BC／PPO配比</a:t>
            </a:r>
          </a:p>
        </p:txBody>
      </p:sp>
      <p:sp>
        <p:nvSpPr>
          <p:cNvPr id="8" name="CompassNav">
            <a:extLst xmlns:a="http://schemas.openxmlformats.org/drawingml/2006/main">
              <a:ext uri="{FF2B5EF4-FFF2-40B4-BE49-F238E27FC236}">
                <a16:creationId xmlns:a16="http://schemas.microsoft.com/office/drawing/2014/main" id="{32EED484-DA4D-4D1F-A9C9-7763B396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CompassNav</a:t>
            </a:r>
          </a:p>
        </p:txBody>
      </p:sp>
      <p:sp>
        <p:nvSpPr>
          <p:cNvPr id="9" name="SFT建立决策基础&#10;GRPO比较候选动作质量">
            <a:extLst xmlns:a="http://schemas.openxmlformats.org/drawingml/2006/main">
              <a:ext uri="{FF2B5EF4-FFF2-40B4-BE49-F238E27FC236}">
                <a16:creationId xmlns:a16="http://schemas.microsoft.com/office/drawing/2014/main" id="{60EFBF0E-A7EE-44B8-8E26-AAD60C14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SFT建立决策基础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GRPO比较候选动作质量</a:t>
            </a:r>
          </a:p>
        </p:txBody>
      </p:sp>
      <p:sp>
        <p:nvSpPr>
          <p:cNvPr id="10" name="OVON指标各有领先">
            <a:extLst xmlns:a="http://schemas.openxmlformats.org/drawingml/2006/main">
              <a:ext uri="{FF2B5EF4-FFF2-40B4-BE49-F238E27FC236}">
                <a16:creationId xmlns:a16="http://schemas.microsoft.com/office/drawing/2014/main" id="{3879BC20-B158-40E5-AD22-ED39F1F7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OVON指标各有领先</a:t>
            </a:r>
          </a:p>
        </p:txBody>
      </p:sp>
      <p:sp>
        <p:nvSpPr>
          <p:cNvPr id="11" name="SR较高：OVSegDT&#10;SPL较高：Compas">
            <a:extLst xmlns:a="http://schemas.openxmlformats.org/drawingml/2006/main">
              <a:ext uri="{FF2B5EF4-FFF2-40B4-BE49-F238E27FC236}">
                <a16:creationId xmlns:a16="http://schemas.microsoft.com/office/drawing/2014/main" id="{95385C21-6517-4EA0-B00D-602D070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SR较高：OVSegDT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SPL较高：CompassNav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41FC6-9D84-4CE5-BF5B-E9223E77E240}"/>
              </a:ext>
            </a:extLst>
          </p:cNvPr>
          <p:cNvGraphicFramePr/>
          <p:nvPr/>
        </p:nvGraphicFramePr>
        <p:xfrm>
          <a:off xmlns:a="http://schemas.openxmlformats.org/drawingml/2006/main" x="4114800" y="1981200"/>
          <a:ext xmlns:a="http://schemas.openxmlformats.org/drawingml/2006/main" cx="7391400" cy="37338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2381250"/>
                <a:gridCol w="1028700"/>
                <a:gridCol w="1028700"/>
              </a:tblGrid>
              <a:tr h="4191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44.7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 / 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ObjectNav / 表2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MP3D ObjectNav / Val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Instance-ImageNav / 表2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ProcTHOR / 未见环境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两篇传感器与评测设置不同，最高报告值分别保留。OV">
            <a:extLst xmlns:a="http://schemas.openxmlformats.org/drawingml/2006/main">
              <a:ext uri="{FF2B5EF4-FFF2-40B4-BE49-F238E27FC236}">
                <a16:creationId xmlns:a16="http://schemas.microsoft.com/office/drawing/2014/main" id="{150B332E-1A1F-41CA-A432-0753DCF5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两篇传感器与评测设置不同，最高报告值分别保留。OVSegDT为三次实验均值；全部划分与标准差见下一页。</a:t>
            </a:r>
          </a:p>
        </p:txBody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DB3D71-7E0B-4F05-9031-128689F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SR：成功率。SPL：按路径长度加权的成功率。范围仅限已收录论文，完整协议与来源见备注</a:t>
            </a:r>
          </a:p>
        </p:txBody>
      </p:sp>
    </p:spTree>
    <p:extLst>
      <p:ext uri="{BB962C8B-B14F-4D97-AF65-F5344CB8AC3E}">
        <p14:creationId xmlns:p14="http://schemas.microsoft.com/office/powerpoint/2010/main" val="10828612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B99B7-9976-445B-98C6-B15AB964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策略训练与优化：完整结果与统计口径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BBD7B0-927B-4506-850F-E47A8E31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C277D-C6AC-49D3-9E8B-2ED4AC69D40E}"/>
              </a:ext>
            </a:extLst>
          </p:cNvPr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10820400" cy="47434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171950"/>
                <a:gridCol w="2857500"/>
                <a:gridCol w="1895475"/>
                <a:gridCol w="1895475"/>
              </a:tblGrid>
              <a:tr h="45720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Benchmark／设置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论文／配置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Val-Seen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43.6 ± 0.4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20.1 ± 0.2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Val-Seen-Synonyms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40.1 ± 0.4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17.9 ± 0.1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44.7 ± 0.4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20.6 ± 0.2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OVON / Val-Unseen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ObjectNav / 表1设置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ObjectNav / 表2设置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MP3D ObjectNav / Val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Instance-ImageNav / 表2设置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ProcTHOR / 未见环境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32.8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M3D保留原表1／表2设置，不自行对应v1／v2">
            <a:extLst xmlns:a="http://schemas.openxmlformats.org/drawingml/2006/main">
              <a:ext uri="{FF2B5EF4-FFF2-40B4-BE49-F238E27FC236}">
                <a16:creationId xmlns:a16="http://schemas.microsoft.com/office/drawing/2014/main" id="{D7B24245-4AEF-4CC4-ABDB-BA2F4709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HM3D保留原表1／表2设置，不自行对应v1／v2；±为三随机种子的标准差。仅比较主配置，不混入真值掩码消融。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EDDC2C6-A674-4467-9B89-668737E0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来源：OVSegDT 表1；CompassNav 表1–2、附录表6–7</a:t>
            </a:r>
          </a:p>
        </p:txBody>
      </p:sp>
    </p:spTree>
    <p:extLst>
      <p:ext uri="{BB962C8B-B14F-4D97-AF65-F5344CB8AC3E}">
        <p14:creationId xmlns:p14="http://schemas.microsoft.com/office/powerpoint/2010/main" val="862706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0FDF3-0109-4991-9DFB-01EF5CED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OVSegDT：目标掩码怎样进入策略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0A5260-EE9F-4216-B4F3-C9632D4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7349F-A727-46E8-9492-840E45069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ed07f82f543d1"/>
          <a:stretch xmlns:a="http://schemas.openxmlformats.org/drawingml/2006/main"/>
        </p:blipFill>
        <p:spPr>
          <a:xfrm xmlns:a="http://schemas.openxmlformats.org/drawingml/2006/main">
            <a:off x="686725" y="1457325"/>
            <a:ext cx="5998900" cy="4752975"/>
          </a:xfrm>
          <a:prstGeom xmlns:a="http://schemas.openxmlformats.org/drawingml/2006/main" prst="rect">
            <a:avLst/>
          </a:prstGeom>
        </p:spPr>
      </p:pic>
      <p:sp>
        <p:nvSpPr>
          <p:cNvPr id="4" name="输入">
            <a:extLst xmlns:a="http://schemas.openxmlformats.org/drawingml/2006/main">
              <a:ext uri="{FF2B5EF4-FFF2-40B4-BE49-F238E27FC236}">
                <a16:creationId xmlns:a16="http://schemas.microsoft.com/office/drawing/2014/main" id="{EB214245-C37D-47AF-9598-654B9283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6685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当前RGB、目标文字、&#10;上一步动作、目标二值掩码。">
            <a:extLst xmlns:a="http://schemas.openxmlformats.org/drawingml/2006/main">
              <a:ext uri="{FF2B5EF4-FFF2-40B4-BE49-F238E27FC236}">
                <a16:creationId xmlns:a16="http://schemas.microsoft.com/office/drawing/2014/main" id="{C4D7E481-22B1-43AB-80DD-C3908D2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当前RGB、目标文字、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上一步动作、目标二值掩码。</a:t>
            </a:r>
          </a:p>
        </p:txBody>
      </p:sp>
      <p:sp>
        <p:nvSpPr>
          <p:cNvPr id="6" name="时间建模">
            <a:extLst xmlns:a="http://schemas.openxmlformats.org/drawingml/2006/main">
              <a:ext uri="{FF2B5EF4-FFF2-40B4-BE49-F238E27FC236}">
                <a16:creationId xmlns:a16="http://schemas.microsoft.com/office/drawing/2014/main" id="{8B793068-58AB-46EB-BA9D-CD5FB525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57525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时间建模</a:t>
            </a:r>
          </a:p>
        </p:txBody>
      </p:sp>
      <p:sp>
        <p:nvSpPr>
          <p:cNvPr id="7" name="Transformer读取最近100步，&#10;预测动作分布与状态">
            <a:extLst xmlns:a="http://schemas.openxmlformats.org/drawingml/2006/main">
              <a:ext uri="{FF2B5EF4-FFF2-40B4-BE49-F238E27FC236}">
                <a16:creationId xmlns:a16="http://schemas.microsoft.com/office/drawing/2014/main" id="{C8CE06C7-D78B-4FD0-9E93-082441C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14725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Transformer读取最近100步，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预测动作分布与状态价值。</a:t>
            </a:r>
          </a:p>
        </p:txBody>
      </p:sp>
      <p:sp>
        <p:nvSpPr>
          <p:cNvPr id="8" name="辅助监督">
            <a:extLst xmlns:a="http://schemas.openxmlformats.org/drawingml/2006/main">
              <a:ext uri="{FF2B5EF4-FFF2-40B4-BE49-F238E27FC236}">
                <a16:creationId xmlns:a16="http://schemas.microsoft.com/office/drawing/2014/main" id="{14D278A5-3713-4B08-8251-42C541AC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辅助监督</a:t>
            </a:r>
          </a:p>
        </p:txBody>
      </p:sp>
      <p:sp>
        <p:nvSpPr>
          <p:cNvPr id="9" name="重建目标掩码，促使序列特征&#10;保留目标位置线索。">
            <a:extLst xmlns:a="http://schemas.openxmlformats.org/drawingml/2006/main">
              <a:ext uri="{FF2B5EF4-FFF2-40B4-BE49-F238E27FC236}">
                <a16:creationId xmlns:a16="http://schemas.microsoft.com/office/drawing/2014/main" id="{8DAB2CDE-49A0-4B54-B453-69A960D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05400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重建目标掩码，促使序列特征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保留目标位置线索。</a:t>
            </a:r>
          </a:p>
        </p:txBody>
      </p:sp>
      <p:sp>
        <p:nvSpPr>
          <p:cNvPr id="1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7DAC774-4BCF-44F2-9619-0994C7A9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来源：OVSegDT，图2（PDF第4页）。图中分割头为训练辅助头，输入掩码由外部感知提供</a:t>
            </a:r>
          </a:p>
        </p:txBody>
      </p:sp>
    </p:spTree>
    <p:extLst>
      <p:ext uri="{BB962C8B-B14F-4D97-AF65-F5344CB8AC3E}">
        <p14:creationId xmlns:p14="http://schemas.microsoft.com/office/powerpoint/2010/main" val="12722872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AF4A13-E3B0-4619-A32D-5867A40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OVSegDT：BC 与 PPO 的自适应配比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A3D407-A938-49A8-99C7-D5C8ACBA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使用动作熵的滑动平均，连续调节两种学习信号的权重">
            <a:extLst xmlns:a="http://schemas.openxmlformats.org/drawingml/2006/main">
              <a:ext uri="{FF2B5EF4-FFF2-40B4-BE49-F238E27FC236}">
                <a16:creationId xmlns:a16="http://schemas.microsoft.com/office/drawing/2014/main" id="{753A93CE-2C90-436C-8D98-B7104B59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使用动作熵的滑动平均，连续调节两种学习信号的权重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56B62-DED8-4978-93A1-781A49451662}"/>
              </a:ext>
            </a:extLst>
          </p:cNvPr>
          <p:cNvGraphicFramePr/>
          <p:nvPr/>
        </p:nvGraphicFramePr>
        <p:xfrm>
          <a:off xmlns:a="http://schemas.openxmlformats.org/drawingml/2006/main" x="685800" y="2085975"/>
          <a:ext xmlns:a="http://schemas.openxmlformats.org/drawingml/2006/main" cx="10820400" cy="2171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286250"/>
                <a:gridCol w="3267075"/>
                <a:gridCol w="3267075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策略状态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 比重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比重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高熵：动作选择较分散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增大，更多学习专家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减小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低熵：动作选择更集中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减小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增大，更多依赖交互奖励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适应预测掩码">
            <a:extLst xmlns:a="http://schemas.openxmlformats.org/drawingml/2006/main">
              <a:ext uri="{FF2B5EF4-FFF2-40B4-BE49-F238E27FC236}">
                <a16:creationId xmlns:a16="http://schemas.microsoft.com/office/drawing/2014/main" id="{E1B572EF-4A8A-4ACA-9D91-6B04A3B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适应预测掩码</a:t>
            </a:r>
          </a:p>
        </p:txBody>
      </p:sp>
      <p:sp>
        <p:nvSpPr>
          <p:cNvPr id="6" name="真值掩码训练2亿步，&#10;再使用YOLOE预测掩码适配1500万">
            <a:extLst xmlns:a="http://schemas.openxmlformats.org/drawingml/2006/main">
              <a:ext uri="{FF2B5EF4-FFF2-40B4-BE49-F238E27FC236}">
                <a16:creationId xmlns:a16="http://schemas.microsoft.com/office/drawing/2014/main" id="{467C1D0F-6A73-4C4E-8649-400F2789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5105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真值掩码训练2亿步，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再使用YOLOE预测掩码适配1500万步。</a:t>
            </a:r>
          </a:p>
        </p:txBody>
      </p:sp>
      <p:sp>
        <p:nvSpPr>
          <p:cNvPr id="7" name="HM3D-OVON Val-Unseen">
            <a:extLst xmlns:a="http://schemas.openxmlformats.org/drawingml/2006/main">
              <a:ext uri="{FF2B5EF4-FFF2-40B4-BE49-F238E27FC236}">
                <a16:creationId xmlns:a16="http://schemas.microsoft.com/office/drawing/2014/main" id="{3BEF9FA9-8601-4C6E-B090-E5ADFDD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HM3D-OVON Val-Unseen</a:t>
            </a:r>
          </a:p>
        </p:txBody>
      </p:sp>
      <p:sp>
        <p:nvSpPr>
          <p:cNvPr id="8" name="SR 44.7 ± 0.4%，SPL 20.6 ± 0.2%">
            <a:extLst xmlns:a="http://schemas.openxmlformats.org/drawingml/2006/main">
              <a:ext uri="{FF2B5EF4-FFF2-40B4-BE49-F238E27FC236}">
                <a16:creationId xmlns:a16="http://schemas.microsoft.com/office/drawing/2014/main" id="{DB9C4BE5-2993-4F94-B1D6-42FB6341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48275"/>
            <a:ext cx="4933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SR 44.7 ± 0.4%，SPL 20.6 ± 0.2%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目标掩码的质量仍然影响泛化。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291C53B-2A4F-4C6D-984F-52767C3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OVSegDT 第4.2–4.3节及表1。指标为三随机种子均值±标准差；训练2 × A100</a:t>
            </a:r>
          </a:p>
        </p:txBody>
      </p:sp>
    </p:spTree>
    <p:extLst>
      <p:ext uri="{BB962C8B-B14F-4D97-AF65-F5344CB8AC3E}">
        <p14:creationId xmlns:p14="http://schemas.microsoft.com/office/powerpoint/2010/main" val="14457783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325160-0D95-4E04-A901-BD7EDC5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评测基准：各自检验什么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B03C26-C816-4B18-8CA5-69DF813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任务定义决定应验证哪一种能力">
            <a:extLst xmlns:a="http://schemas.openxmlformats.org/drawingml/2006/main">
              <a:ext uri="{FF2B5EF4-FFF2-40B4-BE49-F238E27FC236}">
                <a16:creationId xmlns:a16="http://schemas.microsoft.com/office/drawing/2014/main" id="{E47A347A-58FB-4AFA-81D7-94CC7922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任务定义决定应验证哪一种能力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3C9EA-D6F4-4DE3-8E88-DF258570D57D}"/>
              </a:ext>
            </a:extLst>
          </p:cNvPr>
          <p:cNvGraphicFramePr/>
          <p:nvPr/>
        </p:nvGraphicFramePr>
        <p:xfrm>
          <a:off xmlns:a="http://schemas.openxmlformats.org/drawingml/2006/main" x="685800" y="1971675"/>
          <a:ext xmlns:a="http://schemas.openxmlformats.org/drawingml/2006/main" cx="10820400" cy="38481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任务或资源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主要检验内容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Semantics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室内三维场景语义标注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提供物体与空间语义基础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开放词汇类别目标导航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已见、同义词及未见类别泛化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多模态目标连续导航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历史积累与跨目标复用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SG-LLM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顺序目标定位与导航，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以及相应模型基线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任务上下文与跨步骤对象引用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EB8E79F-2C8A-4BAD-A8E4-1E3544C8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整理自四篇基准论文。跨论文比较需对齐目标类型、传感器、划分及成功条件</a:t>
            </a:r>
          </a:p>
        </p:txBody>
      </p:sp>
    </p:spTree>
    <p:extLst>
      <p:ext uri="{BB962C8B-B14F-4D97-AF65-F5344CB8AC3E}">
        <p14:creationId xmlns:p14="http://schemas.microsoft.com/office/powerpoint/2010/main" val="15594845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C95061-1301-453B-997C-1AA1101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GOAT-Bench：连续多模态目标任务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808E48-F09B-4AE9-B98D-F0C3D4A4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同一环境内依次完成5至10个子任务，环境与智能体状态持续保留">
            <a:extLst xmlns:a="http://schemas.openxmlformats.org/drawingml/2006/main">
              <a:ext uri="{FF2B5EF4-FFF2-40B4-BE49-F238E27FC236}">
                <a16:creationId xmlns:a16="http://schemas.microsoft.com/office/drawing/2014/main" id="{6387A14C-249F-4A95-90A1-74D9FF65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同一环境内依次完成5至10个子任务，环境与智能体状态持续保留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6F2E0-9E06-4F12-806D-D60026512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bf7a026114ab8"/>
          <a:stretch xmlns:a="http://schemas.openxmlformats.org/drawingml/2006/main"/>
        </p:blipFill>
        <p:spPr>
          <a:xfrm xmlns:a="http://schemas.openxmlformats.org/drawingml/2006/main">
            <a:off x="685800" y="1828919"/>
            <a:ext cx="7905750" cy="4447936"/>
          </a:xfrm>
          <a:prstGeom xmlns:a="http://schemas.openxmlformats.org/drawingml/2006/main" prst="rect">
            <a:avLst/>
          </a:prstGeom>
        </p:spPr>
      </p:pic>
      <p:sp>
        <p:nvSpPr>
          <p:cNvPr id="5" name="目标形式">
            <a:extLst xmlns:a="http://schemas.openxmlformats.org/drawingml/2006/main">
              <a:ext uri="{FF2B5EF4-FFF2-40B4-BE49-F238E27FC236}">
                <a16:creationId xmlns:a16="http://schemas.microsoft.com/office/drawing/2014/main" id="{AE696D41-29F7-4BF6-8DE5-696BF3D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907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目标形式</a:t>
            </a:r>
          </a:p>
        </p:txBody>
      </p:sp>
      <p:sp>
        <p:nvSpPr>
          <p:cNvPr id="6" name="类别名称&#10;参考图像&#10;语言描述">
            <a:extLst xmlns:a="http://schemas.openxmlformats.org/drawingml/2006/main">
              <a:ext uri="{FF2B5EF4-FFF2-40B4-BE49-F238E27FC236}">
                <a16:creationId xmlns:a16="http://schemas.microsoft.com/office/drawing/2014/main" id="{F19A8EA6-6E5D-49BB-8CBA-E81776A5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4792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类别名称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参考图像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语言描述</a:t>
            </a:r>
          </a:p>
        </p:txBody>
      </p:sp>
      <p:sp>
        <p:nvSpPr>
          <p:cNvPr id="7" name="历史价值">
            <a:extLst xmlns:a="http://schemas.openxmlformats.org/drawingml/2006/main">
              <a:ext uri="{FF2B5EF4-FFF2-40B4-BE49-F238E27FC236}">
                <a16:creationId xmlns:a16="http://schemas.microsoft.com/office/drawing/2014/main" id="{A0D62926-840D-4433-9145-1933C5B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385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历史价值</a:t>
            </a:r>
          </a:p>
        </p:txBody>
      </p:sp>
      <p:sp>
        <p:nvSpPr>
          <p:cNvPr id="8" name="复用已见物体及位置，&#10;减少后续重复探索。">
            <a:extLst xmlns:a="http://schemas.openxmlformats.org/drawingml/2006/main">
              <a:ext uri="{FF2B5EF4-FFF2-40B4-BE49-F238E27FC236}">
                <a16:creationId xmlns:a16="http://schemas.microsoft.com/office/drawing/2014/main" id="{71921286-B630-4719-844C-714BEEBE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9577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复用已见物体及位置，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减少后续重复探索。</a:t>
            </a:r>
          </a:p>
        </p:txBody>
      </p:sp>
      <p:sp>
        <p:nvSpPr>
          <p:cNvPr id="9" name="评测成功率与路径效率，检验跨目标经验复用。">
            <a:extLst xmlns:a="http://schemas.openxmlformats.org/drawingml/2006/main">
              <a:ext uri="{FF2B5EF4-FFF2-40B4-BE49-F238E27FC236}">
                <a16:creationId xmlns:a16="http://schemas.microsoft.com/office/drawing/2014/main" id="{D7A77DF4-D8A6-45BA-B00E-CC8CBF01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评测成功率与路径效率，检验跨目标经验复用。</a:t>
            </a:r>
          </a:p>
        </p:txBody>
      </p:sp>
      <p:sp>
        <p:nvSpPr>
          <p:cNvPr id="1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77F54BA-2896-4D45-8D0E-87A9808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来源：GOAT-Bench，图1与第3节</a:t>
            </a:r>
          </a:p>
        </p:txBody>
      </p:sp>
    </p:spTree>
    <p:extLst>
      <p:ext uri="{BB962C8B-B14F-4D97-AF65-F5344CB8AC3E}">
        <p14:creationId xmlns:p14="http://schemas.microsoft.com/office/powerpoint/2010/main" val="1267012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E9CC50-C436-432F-8948-4F60082A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五个方向的贡献位置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711210-5709-4217-BAD5-C39DCC0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" name="按主要方法贡献归类，同一系统可以同时采用多个方向的组件">
            <a:extLst xmlns:a="http://schemas.openxmlformats.org/drawingml/2006/main">
              <a:ext uri="{FF2B5EF4-FFF2-40B4-BE49-F238E27FC236}">
                <a16:creationId xmlns:a16="http://schemas.microsoft.com/office/drawing/2014/main" id="{39BA55F3-A4CA-4C6A-AC25-AF1A5C7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按主要方法贡献归类，同一系统可以同时采用多个方向的组件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095B-A1B4-4182-A214-2EE5963208ED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416242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3067050"/>
                <a:gridCol w="2838450"/>
                <a:gridCol w="2533650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重点改变的环节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典型输出或载体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代表论文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系统组织架构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模块职责与任务接口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子目标、航点或统一决策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环境表征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观测信息的组织与表达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场景图或连续特征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历史记忆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跨时间信息的保留与读取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压缩历史或隐式缓存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探索与目标搜索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候选位置的价值与目标确认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下一探索位置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策略训练与优化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监督、奖励与优化配比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学到的导航策略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EB58A6C-992B-4DB3-B0AA-95670982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依据当前文献集归纳。</a:t>
            </a: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训练算力与传感器作为独立属性见后续页面</a:t>
            </a:r>
          </a:p>
        </p:txBody>
      </p:sp>
    </p:spTree>
    <p:extLst>
      <p:ext uri="{BB962C8B-B14F-4D97-AF65-F5344CB8AC3E}">
        <p14:creationId xmlns:p14="http://schemas.microsoft.com/office/powerpoint/2010/main" val="16187935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568735-3743-4D38-91F8-654AC26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9C5F03-8B4B-444C-BD62-C1435ACD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FBA8C70D-78D0-4984-AC66-5781791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程序与工具／技能编排、快慢系统分层协作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多任务及规划、定位、探索与导航能力的统一建模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9A449-0453-4BBA-AA68-04A1A8AFEC91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TANGO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复用预训练模型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主模型与几何执行器无需专项训练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学习式执行器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 配置未报告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阶段1：96 × H20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阶段2：64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RTX 6000 Ada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约14天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× H800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约35小时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A100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约164 GPU·小时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D7D1ABE-44FF-4CA7-B7DA-6D495DA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训练配置沿用源文档口径，基础模型与复用组件的预训练开销另计</a:t>
            </a:r>
          </a:p>
        </p:txBody>
      </p:sp>
    </p:spTree>
    <p:extLst>
      <p:ext uri="{BB962C8B-B14F-4D97-AF65-F5344CB8AC3E}">
        <p14:creationId xmlns:p14="http://schemas.microsoft.com/office/powerpoint/2010/main" val="4807863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A738A8-84E6-4898-A544-8DF13C2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220681-2320-4177-9861-D874AF5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44E5735A-0FBF-45E1-93F0-A64AFD2D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三维场景图组织物体、空间信息与视觉证据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三维物体和前沿特征的 soft-token 表示接口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892B0-24FC-4A86-91E1-15FEBB66029B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推理资源另计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× RTX 4090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931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CDE9EB-0A50-45A2-97C9-EC6DDE77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65CFE9-FB6A-4230-8C15-CC8147A9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3562E04E-273B-4710-8C68-5EFE7321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长期视觉历史压缩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语义与空间双分支记忆、历史缓存与滑动窗口更新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5CA41-18C0-4F54-92E7-FB05BC014690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约31小时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笔记转引作者答复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471F2ED-B048-4757-8142-512EA64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 配置据阅读笔记转引作者答复，本次未能加载评论正文</a:t>
            </a:r>
          </a:p>
        </p:txBody>
      </p:sp>
    </p:spTree>
    <p:extLst>
      <p:ext uri="{BB962C8B-B14F-4D97-AF65-F5344CB8AC3E}">
        <p14:creationId xmlns:p14="http://schemas.microsoft.com/office/powerpoint/2010/main" val="5022313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460842-3884-4C29-8304-3A24F17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AA9858-DF8F-4EE2-B343-A2630C3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197D1851-AC8C-4AF3-9D02-C938979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语义价值地图与视觉前沿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结合目标相关性、信息增益和距离选择探索位置，并确认目标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0A18E-6E11-4628-8C71-BC267C2B099A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复用组件的预训练开销另计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运行与推理仍需计算资源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5DCB2E7-4A8B-42F1-972C-57A254C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源文档未将运行显卡配置计作训练算力</a:t>
            </a:r>
          </a:p>
        </p:txBody>
      </p:sp>
    </p:spTree>
    <p:extLst>
      <p:ext uri="{BB962C8B-B14F-4D97-AF65-F5344CB8AC3E}">
        <p14:creationId xmlns:p14="http://schemas.microsoft.com/office/powerpoint/2010/main" val="8258584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0F419B-4AE5-4BA5-91C4-C434FA59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导航策略训练与优化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28252D-A178-4FD0-A6E4-AA9B3D0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B806E84A-783B-40E2-B58C-ECA14C2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目标分割辅助监督与自适应 BC／PPO 联合优化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基于候选动作质量的 SFT／GRPO 与差距感知奖励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29900-CD8A-4D0A-BFAA-0A36F8425C46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训练规模与时长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× A100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约2.15亿环境步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SFT：8 × A800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RFT：8 × H200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SFT：约12小时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RFT：约56.7小时（估算）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DD8A187-0815-412C-92A9-AEE7C56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CompassNav 的 RFT 时长按约170步、每步约20分钟换算</a:t>
            </a:r>
          </a:p>
        </p:txBody>
      </p:sp>
    </p:spTree>
    <p:extLst>
      <p:ext uri="{BB962C8B-B14F-4D97-AF65-F5344CB8AC3E}">
        <p14:creationId xmlns:p14="http://schemas.microsoft.com/office/powerpoint/2010/main" val="6877378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65B535-FB0C-493F-8F1E-D658E6BD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数据集与评测基准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30FD52-FEDB-4028-99EC-1A45BE1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F84F9CDD-65D5-4C15-A99F-390F2A8C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场景语义标注、开放词汇与多模态目标构建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连续或顺序任务设计，以及评测协议和基线设计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BEB76-FEAE-48AA-A6DA-3342CECB21A7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095750"/>
                <a:gridCol w="6724650"/>
              </a:tblGrid>
              <a:tr h="4953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训练算力统计口径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Semantics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数据集本身不适用，导航基线另计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SG-LLM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SG-LLM 等基线分别统计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73411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44C877-481C-4111-B108-12012318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训练算力统计口径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89D53B-DAF3-4E31-8FC7-61DF641E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459BA-8A86-465E-ACB0-1D019C7685B0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3243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476500"/>
                <a:gridCol w="8343900"/>
              </a:tblGrid>
              <a:tr h="4953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统计项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配置来源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各篇阅读笔记记录的论文或作者报告配置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成本范围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基础模型与复用组件的预训练开销另计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免训练方法仍需推理资源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时间与卡时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GPU·小时 = GPU 数量 × 训练小时数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不同型号 GPU 的卡时分别保留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缺失与估算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未报告的数据保留“未报告”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 RFT 的约56.7小时属于换算估计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78B48EC-1762-4918-889C-BC4548D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 的训练配置保留“阅读笔记转引作者答复”来源说明</a:t>
            </a:r>
          </a:p>
        </p:txBody>
      </p:sp>
    </p:spTree>
    <p:extLst>
      <p:ext uri="{BB962C8B-B14F-4D97-AF65-F5344CB8AC3E}">
        <p14:creationId xmlns:p14="http://schemas.microsoft.com/office/powerpoint/2010/main" val="1985172583"/>
      </p:ext>
    </p:extLst>
  </p:cSld>
</p:sld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2026-10-16T15:30:44.2970000Z</dcterms:created>
  <dcterms:modified xsi:type="dcterms:W3CDTF">2026-10-16T15:30:44.2970000Z</dcterms:modified>
</coreProperties>
</file>