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9e9dd0728401a" /><Relationship Type="http://schemas.openxmlformats.org/officeDocument/2006/relationships/extended-properties" Target="/docProps/app.xml" Id="R7090ec4f856f48be" /><Relationship Type="http://schemas.openxmlformats.org/officeDocument/2006/relationships/officeDocument" Target="/ppt/presentation.xml" Id="Raf359c93e1c147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3e0216de154c28"/>
  </p:sldMasterIdLst>
  <p:notesMasterIdLst>
    <p:notesMasterId xmlns:r="http://schemas.openxmlformats.org/officeDocument/2006/relationships" r:id="R5238bf6069d1419f"/>
  </p:notesMasterIdLst>
  <p:sldIdLst>
    <p:sldId xmlns:r="http://schemas.openxmlformats.org/officeDocument/2006/relationships" id="256" r:id="R97c0efb200e346ad"/>
    <p:sldId xmlns:r="http://schemas.openxmlformats.org/officeDocument/2006/relationships" id="257" r:id="R0be38fbb781b417b"/>
    <p:sldId xmlns:r="http://schemas.openxmlformats.org/officeDocument/2006/relationships" id="258" r:id="Raa94bd7a4fc5473f"/>
    <p:sldId xmlns:r="http://schemas.openxmlformats.org/officeDocument/2006/relationships" id="259" r:id="R2aadd65e2cca41c6"/>
    <p:sldId xmlns:r="http://schemas.openxmlformats.org/officeDocument/2006/relationships" id="260" r:id="Rab284f955ff949ef"/>
    <p:sldId xmlns:r="http://schemas.openxmlformats.org/officeDocument/2006/relationships" id="261" r:id="Reabb5378eb9b4951"/>
    <p:sldId xmlns:r="http://schemas.openxmlformats.org/officeDocument/2006/relationships" id="262" r:id="R355ea0ee27444eaf"/>
    <p:sldId xmlns:r="http://schemas.openxmlformats.org/officeDocument/2006/relationships" id="263" r:id="Rab7a6a35c6424d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93bcebc3e04370" /><Relationship Type="http://schemas.openxmlformats.org/officeDocument/2006/relationships/slideMaster" Target="/ppt/slideMasters/slideMaster1.xml" Id="Rec3e0216de154c28" /><Relationship Type="http://schemas.openxmlformats.org/officeDocument/2006/relationships/notesMaster" Target="/ppt/notesMasters/notesMaster1.xml" Id="R5238bf6069d1419f" /><Relationship Type="http://schemas.openxmlformats.org/officeDocument/2006/relationships/presProps" Target="/ppt/presProps.xml" Id="R0ba6e084d9cf4e2d" /><Relationship Type="http://schemas.openxmlformats.org/officeDocument/2006/relationships/tableStyles" Target="/ppt/tableStyles.xml" Id="R0ee5300619e24a84" /><Relationship Type="http://schemas.openxmlformats.org/officeDocument/2006/relationships/slide" Target="/ppt/slides/slide1.xml" Id="R97c0efb200e346ad" /><Relationship Type="http://schemas.openxmlformats.org/officeDocument/2006/relationships/slide" Target="/ppt/slides/slide2.xml" Id="R0be38fbb781b417b" /><Relationship Type="http://schemas.openxmlformats.org/officeDocument/2006/relationships/slide" Target="/ppt/slides/slide3.xml" Id="Raa94bd7a4fc5473f" /><Relationship Type="http://schemas.openxmlformats.org/officeDocument/2006/relationships/slide" Target="/ppt/slides/slide4.xml" Id="R2aadd65e2cca41c6" /><Relationship Type="http://schemas.openxmlformats.org/officeDocument/2006/relationships/slide" Target="/ppt/slides/slide5.xml" Id="Rab284f955ff949ef" /><Relationship Type="http://schemas.openxmlformats.org/officeDocument/2006/relationships/slide" Target="/ppt/slides/slide6.xml" Id="Reabb5378eb9b4951" /><Relationship Type="http://schemas.openxmlformats.org/officeDocument/2006/relationships/slide" Target="/ppt/slides/slide7.xml" Id="R355ea0ee27444eaf" /><Relationship Type="http://schemas.openxmlformats.org/officeDocument/2006/relationships/slide" Target="/ppt/slides/slide8.xml" Id="Rab7a6a35c6424d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769a966d14f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0837151064876" /><Relationship Type="http://schemas.openxmlformats.org/officeDocument/2006/relationships/notesMaster" Target="/ppt/notesMasters/notesMaster1.xml" Id="R600910794f4340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54327ae2bc4dc0" /><Relationship Type="http://schemas.openxmlformats.org/officeDocument/2006/relationships/notesMaster" Target="/ppt/notesMasters/notesMaster1.xml" Id="R734cfeb0e838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07f40311a14bfe" /><Relationship Type="http://schemas.openxmlformats.org/officeDocument/2006/relationships/notesMaster" Target="/ppt/notesMasters/notesMaster1.xml" Id="R0709d43dd3944c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2e9db0d5bd463d" /><Relationship Type="http://schemas.openxmlformats.org/officeDocument/2006/relationships/notesMaster" Target="/ppt/notesMasters/notesMaster1.xml" Id="R999222ba3a7e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477e4441cd440e" /><Relationship Type="http://schemas.openxmlformats.org/officeDocument/2006/relationships/notesMaster" Target="/ppt/notesMasters/notesMaster1.xml" Id="R022897583caf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d15edaf5cd41a4" /><Relationship Type="http://schemas.openxmlformats.org/officeDocument/2006/relationships/notesMaster" Target="/ppt/notesMasters/notesMaster1.xml" Id="Rb3c28e311c364b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e2eca5360c432e" /><Relationship Type="http://schemas.openxmlformats.org/officeDocument/2006/relationships/notesMaster" Target="/ppt/notesMasters/notesMaster1.xml" Id="Rd4c3251b865749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49e4c4aac94f00" /><Relationship Type="http://schemas.openxmlformats.org/officeDocument/2006/relationships/notesMaster" Target="/ppt/notesMasters/notesMaster1.xml" Id="Rc18077a89908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D3D-VLP 的“统一”发生在决策链内部：模型不能只写一个与执行脱节的静态计划，还要结合三维证据定位目标并决定下一航点。执行以后，历史计划、已定位目标和经过的轨迹被重新放回上下文，因此后续决策可以感知任务进度。三维记忆与 CoT 记忆作用不同，前者描述环境，后者描述决策和进展。SLFS 使只有导航标注或只有定位标注的样本也能参与共享模型训练，但并不等于缺失的中间步骤都有真实标签。该方法仍需要候选航点与底层控制，三维建图或定位发生错误时，统一生成本身不能自动保证安全与正确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E:\科研_机器人\HM3D-OVON\HM3D_OVON_Papers\04_三维空间表征与目标推理\read-D3D.md</a:t>
            </a:r>
          </a:p>
          <a:p xmlns:a="http://schemas.openxmlformats.org/drawingml/2006/main">
            <a:r>
              <a:t>D3D-VLP §3.1–3.3，Figs.2–3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对应第6页方法框架：</a:t>
            </a:r>
          </a:p>
          <a:p xmlns:a="http://schemas.openxmlformats.org/drawingml/2006/main">
            <a:r>
              <a:t>1. 形成统一输入：RGB-D与位姿更新多层次三维记忆，指令、空间tokens及历史决策共同输入。</a:t>
            </a:r>
          </a:p>
          <a:p xmlns:a="http://schemas.openxmlformats.org/drawingml/2006/main">
            <a:r>
              <a:t>2. 共享语义与空间理解：3D-VLM将任务意图与环境证据对齐，在同一上下文理解目标和可行动位置。</a:t>
            </a:r>
          </a:p>
          <a:p xmlns:a="http://schemas.openxmlformats.org/drawingml/2006/main">
            <a:r>
              <a:t>3. 产生能力相关输出：依次生成后续计划、三维目标与航点，需要时再输出任务回答。</a:t>
            </a:r>
          </a:p>
          <a:p xmlns:a="http://schemas.openxmlformats.org/drawingml/2006/main">
            <a:r>
              <a:t>4. 联合训练并更新决策：部分标注样本仅对已有监督项计损失。执行后将轨迹与进度写回决策记忆。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MSGNav 的关键不是简单给物体画一张关系图，而是用三维物体对组织共同观测图像。建边时不需要反复调用大模型生成关系文字，关系的视觉细节仍留在图像中。查询时，先把图压成简要邻接信息，再让模型聚焦目标相关物体，最后选取少量能覆盖相关关系的图像。模型依据这些证据选择目标或下一探索位置。找到物体之后，系统还要选择看得清目标的站位，避免只走到一个距离近、却被遮挡的位置。建图质量仍然决定后续查询的上限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E:\科研_机器人\HM3D-OVON\HM3D_OVON_Papers\04_三维空间表征与目标推理\read-MSGNav.md</a:t>
            </a:r>
          </a:p>
          <a:p xmlns:a="http://schemas.openxmlformats.org/drawingml/2006/main">
            <a:r>
              <a:t>MSGNav §3.2–3.3，Fig.3，Algorithm 1</a:t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对应第13页方法框架：</a:t>
            </a:r>
          </a:p>
          <a:p xmlns:a="http://schemas.openxmlformats.org/drawingml/2006/main">
            <a:r>
              <a:t>1. 建立空间记录：RGB-D与位姿生成三维物体节点，将近邻物体的共同观测图像关联到边。</a:t>
            </a:r>
          </a:p>
          <a:p xmlns:a="http://schemas.openxmlformats.org/drawingml/2006/main">
            <a:r>
              <a:t>2. 合并重复观测：按空间与视觉匹配维护全局物体ID，融合点云、类别与图像，AVU补充词表。</a:t>
            </a:r>
          </a:p>
          <a:p xmlns:a="http://schemas.openxmlformats.org/drawingml/2006/main">
            <a:r>
              <a:t>3. 按当前目标读取：KSS筛选相关子图及覆盖关系的图像。VLM结合前沿与历史决策判断下一步。</a:t>
            </a:r>
          </a:p>
          <a:p xmlns:a="http://schemas.openxmlformats.org/drawingml/2006/main">
            <a:r>
              <a:t>4. 转换为导航子目标：未找到目标则前往选定探索前沿。找到后，VVD选择看得清目标的视点。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  <a:p xmlns:a="http://schemas.openxmlformats.org/drawingml/2006/main">
            <a:r>
              <a:t>SoftNav §III，Fig.2上半部分，Table 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对应第15页方法框架：</a:t>
            </a:r>
          </a:p>
          <a:p xmlns:a="http://schemas.openxmlformats.org/drawingml/2006/main">
            <a:r>
              <a:t>1. 编码空间实体：PQ3D为物体和前沿生成768维向量。视觉分支将近期图像压为每帧15 tokens。</a:t>
            </a:r>
          </a:p>
          <a:p xmlns:a="http://schemas.openxmlformats.org/drawingml/2006/main">
            <a:r>
              <a:t>2. 对齐目标与特征：MLP将768维空间向量投影到2048维，形成可与任务文本共同处理的soft tokens。</a:t>
            </a:r>
          </a:p>
          <a:p xmlns:a="http://schemas.openxmlformats.org/drawingml/2006/main">
            <a:r>
              <a:t>3. 联合评分或生成：空间tokens、近期图像与指令共同输入，VLM生成下一探索坐标，下页展开决策。</a:t>
            </a:r>
          </a:p>
          <a:p xmlns:a="http://schemas.openxmlformats.org/drawingml/2006/main">
            <a:r>
              <a:t>4. 更新环境特征：移动后更新物体库、占据地图与前沿，视觉记忆滚动保留最近16帧。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 xmlns:a="http://schemas.openxmlformats.org/drawingml/2006/main">
            <a:r>
              <a:t>本页延续上一页的特征编码，展示三类输入的联合注意力与最终前沿执行。模型输入包含视觉历史、三维实体soft tokens和任务文本；生成的坐标需要通过几何约束转成合法前沿。图中二维执行平面与三维感知信息处在不同处理阶段。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  <a:p xmlns:a="http://schemas.openxmlformats.org/drawingml/2006/main">
            <a:r>
              <a:t>SoftNav §III，Fig.2下半部分，Algorithm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对应第15页方法框架：</a:t>
            </a:r>
          </a:p>
          <a:p xmlns:a="http://schemas.openxmlformats.org/drawingml/2006/main">
            <a:r>
              <a:t>1. 编码空间实体：沿用上页的物体、前沿与视觉历史，保留几何和语义信息供本轮决策读取。</a:t>
            </a:r>
          </a:p>
          <a:p xmlns:a="http://schemas.openxmlformats.org/drawingml/2006/main">
            <a:r>
              <a:t>2. 对齐目标与特征：将投影后的空间tokens与图像、指令放入同一序列，通过注意力融合。</a:t>
            </a:r>
          </a:p>
          <a:p xmlns:a="http://schemas.openxmlformats.org/drawingml/2006/main">
            <a:r>
              <a:t>3. 联合评分或生成：生成二维坐标，吸附至合格前沿，再交由局部导航器执行移动。</a:t>
            </a:r>
          </a:p>
          <a:p xmlns:a="http://schemas.openxmlformats.org/drawingml/2006/main">
            <a:r>
              <a:t>4. 更新环境特征：新观测刷新物体库、前沿与近期历史。当前沿为空时，触发恢复探索流程。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AstraNav 将长期记忆理解为压缩后的图像与位姿上下文，而不是维护物体关系图。压缩器与导航模型联合训练，希望留下对位置判断和目标搜索有用的信息。主配置从每帧 598 个视觉 tokens 减为 30 个，约缩减二十倍；正文中的十六倍则指压缩块的空间压缩，二者口径不同。历史信息允许后续任务复用已经看过的位置，但实验也表明，强压缩配合更长历史未必更好。因此应把该方向理解为信息保留与处理成本的折中，而不是简单扩大记忆容量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E:\科研_机器人\HM3D-OVON\HM3D_OVON_Papers\05_视觉语言动作决策与视频记忆\read-AstraNav.md</a:t>
            </a:r>
          </a:p>
          <a:p xmlns:a="http://schemas.openxmlformats.org/drawingml/2006/main">
            <a:r>
              <a:t>AstraNav-Memory §3，Fig.2，Tables 3–4</a:t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对应第21页方法框架：</a:t>
            </a:r>
          </a:p>
          <a:p xmlns:a="http://schemas.openxmlformats.org/drawingml/2006/main">
            <a:r>
              <a:t>1. 保存观察与位置：按时间保留RGB图像及相机位姿，将每个位姿与对应图像成对组织。</a:t>
            </a:r>
          </a:p>
          <a:p xmlns:a="http://schemas.openxmlformats.org/drawingml/2006/main">
            <a:r>
              <a:t>2. 控制历史信息量：DINOv3与可训练压缩器提取视觉信息，主配置每帧由598个tokens压为30个。</a:t>
            </a:r>
          </a:p>
          <a:p xmlns:a="http://schemas.openxmlformats.org/drawingml/2006/main">
            <a:r>
              <a:t>3. 重放选取的历史：将压缩图像、位姿文本及当前指令重新送入VLM，生成目标或前沿坐标。</a:t>
            </a:r>
          </a:p>
          <a:p xmlns:a="http://schemas.openxmlformats.org/drawingml/2006/main">
            <a:r>
              <a:t>4. 利用过去出现的目标：连续子任务保留环境状态与视觉经历。后续目标已出现时，利用历史推断位置。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JanusVLN 展示了从纯 RGB 输入使用三维几何先验的路线。VGGT 原本需要跨帧联合处理，论文将其改为读取历史键值的流式几何编码器，保留起始锚点与最近窗口。几何特征经投影后与 Qwen 语义特征相加，语言模型生成离散动作。需要区分论文的双隐式记忆表述和公开评测路径：代码跨步保留的是 VGGT 缓存，语义侧每次重放采样历史图像，并未显式把上一导航步的语言模型 KV 传入下一步。消融支持几何记忆有益，但不能据此声称两路均永久保存完整历史。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E:\科研_机器人\HM3D-OVON\HM3D_OVON_Papers\05_视觉语言动作决策与视频记忆\read-JANUSVLN.md</a:t>
            </a:r>
          </a:p>
          <a:p xmlns:a="http://schemas.openxmlformats.org/drawingml/2006/main">
            <a:r>
              <a:t>JanusVLN §3.2–3.3，Fig.2；笔记核对公开评测实现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对应第23页方法框架：</a:t>
            </a:r>
          </a:p>
          <a:p xmlns:a="http://schemas.openxmlformats.org/drawingml/2006/main">
            <a:r>
              <a:t>1. 读取历史状态：当前RGB在VGGT中生成Query，读取历史及当前帧的Key与Value。</a:t>
            </a:r>
          </a:p>
          <a:p xmlns:a="http://schemas.openxmlformats.org/drawingml/2006/main">
            <a:r>
              <a:t>2. 写入当前观察：为新帧计算几何表示并更新缓存，下一导航步继续读取已有几何信息。</a:t>
            </a:r>
          </a:p>
          <a:p xmlns:a="http://schemas.openxmlformats.org/drawingml/2006/main">
            <a:r>
              <a:t>3. 维护有限容量：几何KV保留初始8帧与近期48帧，移除超出窗口的中间历史。</a:t>
            </a:r>
          </a:p>
          <a:p xmlns:a="http://schemas.openxmlformats.org/drawingml/2006/main">
            <a:r>
              <a:t>4. 融合当前决策：几何特征投影后与语义特征加权相加，连同指令生成前进、转向或停止动作。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Frontier在RGB图像标记视觉前沿，FrontierNet预测潜在信息增益，视觉语言模型根据目标评价每个方向。深度与相机位姿将候选投到三维，全局前沿集合负责合并重复位置、移除已清空或不可达项。效用结合相关性、信息增益和距离。发现疑似目标后，分割与几何模块提出观察位姿，到达后再用VLM核验。其共同方法仍是语义前沿搜索，新增的接口主要是图像中的前沿候选与稀疏三维候选管理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E:\科研_机器人\HM3D-OVON\HM3D_OVON_Papers\02_语义地图与前沿探索\read.md</a:t>
            </a:r>
          </a:p>
          <a:p xmlns:a="http://schemas.openxmlformats.org/drawingml/2006/main">
            <a:r>
              <a:t>OpenFrontier Fig.2，§III，Algorithm 1</a:t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对应第27页方法框架：</a:t>
            </a:r>
          </a:p>
          <a:p xmlns:a="http://schemas.openxmlformats.org/drawingml/2006/main">
            <a:r>
              <a:t>1. 产生探索候选：FrontierNet在关键帧中检测视觉前沿，借助深度与位姿将候选定位到三维。</a:t>
            </a:r>
          </a:p>
          <a:p xmlns:a="http://schemas.openxmlformats.org/drawingml/2006/main">
            <a:r>
              <a:t>2. 评价目标相关性：在RGB图像中标记各个前沿，VLM结合周围场景给出目标相关概率。</a:t>
            </a:r>
          </a:p>
          <a:p xmlns:a="http://schemas.openxmlformats.org/drawingml/2006/main">
            <a:r>
              <a:t>3. 权衡收益与代价：将目标相关概率乘以预计信息增益，再考虑到达距离，选择效用较高的前沿。</a:t>
            </a:r>
          </a:p>
          <a:p xmlns:a="http://schemas.openxmlformats.org/drawingml/2006/main">
            <a:r>
              <a:t>4. 移动后更新与核验：执行后合并、清理全局前沿候选。发现疑似目标后前往观察位姿，再核验。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SegDT将当前RGB、目标文本、上一动作和目标二值掩码编码，利用最近100步的Transformer上下文产生动作与价值，同时重建目标掩码。目标掩码提供定位线索，辅助分割损失约束状态保留目标信息。训练用策略熵的平滑统计调节BC与PPO权重：策略不确定时更多依靠示范，动作集中后提高奖励优化作用。真值掩码主训练之后，再使用YOLOE预测掩码适配，减少实际感知误差带来的分布差异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E:\科研_机器人\HM3D-OVON\HM3D_OVON_Papers\01_模仿学习与强化学习导航\read.md</a:t>
            </a:r>
          </a:p>
          <a:p xmlns:a="http://schemas.openxmlformats.org/drawingml/2006/main">
            <a:r>
              <a:t>OVSegDT Fig.2；§4.2–4.3，§5 Training details</a:t>
            </a:r>
          </a:p>
          <a:p xmlns:a="http://schemas.openxmlformats.org/drawingml/2006/main">
            <a:r>
              <a:t>新版分类说明：具体论文作为方法范式内实例，原始指标和统计协议保留。依据：E:\科研_机器人\HM3D-OVON\HM3D_OVON_Papers\一级分支分类.md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对应第31页方法框架：</a:t>
            </a:r>
          </a:p>
          <a:p xmlns:a="http://schemas.openxmlformats.org/drawingml/2006/main">
            <a:r>
              <a:t>1. 从示范学习决策：输入RGB、目标文本、上一动作及掩码，通过BC学习专家动作与初始导航能力。</a:t>
            </a:r>
          </a:p>
          <a:p xmlns:a="http://schemas.openxmlformats.org/drawingml/2006/main">
            <a:r>
              <a:t>2. 构建策略优化信号：导航奖励与语义奖励评价行动结果。价值头估计回报，辅助分割头重建掩码。</a:t>
            </a:r>
          </a:p>
          <a:p xmlns:a="http://schemas.openxmlformats.org/drawingml/2006/main">
            <a:r>
              <a:t>3. 联合或分阶段优化：EALM根据策略熵动态调整BC与PPO权重，同时加入辅助分割损失。</a:t>
            </a:r>
          </a:p>
          <a:p xmlns:a="http://schemas.openxmlformats.org/drawingml/2006/main">
            <a:r>
              <a:t>4. 适应部署时的输入：真值掩码主训练后，改用YOLOE预测掩码微调策略，适应实际感知中的错误。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3a46855cc49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50fb4d9bc44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ee6a9e3f248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570f844f041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a4e1bbb9f47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5f7eb719648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9027A8-DAD9-46F0-B9C3-7B42853CB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4EB710-F615-4F3D-B05D-9541EF5F7A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7D6964-9455-4B92-A3E2-C532208A4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A1599-5DA1-4CA6-BFC3-21494FF7B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EF89D4-5F4B-4D95-94D2-22F4CF4C88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694D4F-3C8F-4859-B00E-BF96F414A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31C034-F9D6-428F-91C7-A0A9075D5D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E6452E-00D0-463C-9042-AF972E7E8B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F69963-1CC9-4B7B-950B-C359B10602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E12F90-BA94-4B1B-AD92-1D3A1F3FC0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0cbf3c5ba94d3d" /><Relationship Type="http://schemas.openxmlformats.org/officeDocument/2006/relationships/slideLayout" Target="/ppt/slideLayouts/slideLayout1.xml" Id="R14d0714212af46ff" /><Relationship Type="http://schemas.openxmlformats.org/officeDocument/2006/relationships/slideLayout" Target="/ppt/slideLayouts/slideLayout2.xml" Id="R127882c463704580" /><Relationship Type="http://schemas.openxmlformats.org/officeDocument/2006/relationships/slideLayout" Target="/ppt/slideLayouts/slideLayout3.xml" Id="R3692a2c57deb495b" /><Relationship Type="http://schemas.openxmlformats.org/officeDocument/2006/relationships/slideLayout" Target="/ppt/slideLayouts/slideLayout4.xml" Id="Rf22bf801608a4202" /><Relationship Type="http://schemas.openxmlformats.org/officeDocument/2006/relationships/slideLayout" Target="/ppt/slideLayouts/slideLayout5.xml" Id="R1d7627a18a8b45a1" /><Relationship Type="http://schemas.openxmlformats.org/officeDocument/2006/relationships/slideLayout" Target="/ppt/slideLayouts/slideLayout6.xml" Id="Ra9d66059a8b344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d0714212af46ff"/>
    <p:sldLayoutId xmlns:r="http://schemas.openxmlformats.org/officeDocument/2006/relationships" id="2147483650" r:id="R127882c463704580"/>
    <p:sldLayoutId xmlns:r="http://schemas.openxmlformats.org/officeDocument/2006/relationships" id="2147483651" r:id="R3692a2c57deb495b"/>
    <p:sldLayoutId xmlns:r="http://schemas.openxmlformats.org/officeDocument/2006/relationships" id="2147483652" r:id="Rf22bf801608a4202"/>
    <p:sldLayoutId xmlns:r="http://schemas.openxmlformats.org/officeDocument/2006/relationships" id="2147483653" r:id="R1d7627a18a8b45a1"/>
    <p:sldLayoutId xmlns:r="http://schemas.openxmlformats.org/officeDocument/2006/relationships" id="2147483654" r:id="Ra9d66059a8b344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e0c2eadca4cde" /><Relationship Type="http://schemas.openxmlformats.org/officeDocument/2006/relationships/image" Target="/ppt/media/image.png" Id="R70349f4fb516461d" /><Relationship Type="http://schemas.openxmlformats.org/officeDocument/2006/relationships/notesSlide" Target="/ppt/notesSlides/notesSlide1.xml" Id="R74217c94f9ee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e0c0b0ba44a63" /><Relationship Type="http://schemas.openxmlformats.org/officeDocument/2006/relationships/image" Target="/ppt/media/image2.png" Id="Rb427f36be4ff42c9" /><Relationship Type="http://schemas.openxmlformats.org/officeDocument/2006/relationships/notesSlide" Target="/ppt/notesSlides/notesSlide2.xml" Id="R52f82cb6f9184f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bd30094ca4055" /><Relationship Type="http://schemas.openxmlformats.org/officeDocument/2006/relationships/image" Target="/ppt/media/image3.png" Id="Ra0cb8df0907742c2" /><Relationship Type="http://schemas.openxmlformats.org/officeDocument/2006/relationships/notesSlide" Target="/ppt/notesSlides/notesSlide3.xml" Id="R0afe769cd7c848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0f8ae54304185" /><Relationship Type="http://schemas.openxmlformats.org/officeDocument/2006/relationships/image" Target="/ppt/media/image4.png" Id="Rffdf6852dbf04148" /><Relationship Type="http://schemas.openxmlformats.org/officeDocument/2006/relationships/notesSlide" Target="/ppt/notesSlides/notesSlide4.xml" Id="R00a8ce31e92d4f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ecb7bc52f4d5a" /><Relationship Type="http://schemas.openxmlformats.org/officeDocument/2006/relationships/image" Target="/ppt/media/image5.png" Id="R8f9fdb11c88f4b85" /><Relationship Type="http://schemas.openxmlformats.org/officeDocument/2006/relationships/notesSlide" Target="/ppt/notesSlides/notesSlide5.xml" Id="R1d2413b4933a49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1fa19fe664a9e" /><Relationship Type="http://schemas.openxmlformats.org/officeDocument/2006/relationships/image" Target="/ppt/media/image6.png" Id="R524d8620fe8446a6" /><Relationship Type="http://schemas.openxmlformats.org/officeDocument/2006/relationships/notesSlide" Target="/ppt/notesSlides/notesSlide6.xml" Id="R480d85bae2934d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d674e4eef4776" /><Relationship Type="http://schemas.openxmlformats.org/officeDocument/2006/relationships/image" Target="/ppt/media/image7.png" Id="R509db4cf4ed34f93" /><Relationship Type="http://schemas.openxmlformats.org/officeDocument/2006/relationships/notesSlide" Target="/ppt/notesSlides/notesSlide7.xml" Id="Rb75d8516bd2648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9ab1deea04875" /><Relationship Type="http://schemas.openxmlformats.org/officeDocument/2006/relationships/image" Target="/ppt/media/image8.png" Id="R1bd0092a45cf4eb3" /><Relationship Type="http://schemas.openxmlformats.org/officeDocument/2006/relationships/notesSlide" Target="/ppt/notesSlides/notesSlide8.xml" Id="Reab1b9cbe32b46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7-slide-title">
            <a:extLst xmlns:a="http://schemas.openxmlformats.org/drawingml/2006/main">
              <a:ext uri="{FF2B5EF4-FFF2-40B4-BE49-F238E27FC236}">
                <a16:creationId xmlns:a16="http://schemas.microsoft.com/office/drawing/2014/main" id="{4229DA25-482E-4E3D-9C0F-08193663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D3D-VLP：计划、目标定位与航点联合决策</a:t>
            </a:r>
          </a:p>
        </p:txBody>
      </p:sp>
      <p:sp>
        <p:nvSpPr>
          <p:cNvPr id="2" name="page-7-以动态三维决策链统一规划、定位与导航">
            <a:extLst xmlns:a="http://schemas.openxmlformats.org/drawingml/2006/main">
              <a:ext uri="{FF2B5EF4-FFF2-40B4-BE49-F238E27FC236}">
                <a16:creationId xmlns:a16="http://schemas.microsoft.com/office/drawing/2014/main" id="{9AEA72C3-F9D5-4941-92E6-20F983E2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以动态三维决策链统一规划、定位与导航</a:t>
            </a:r>
          </a:p>
        </p:txBody>
      </p:sp>
      <p:sp>
        <p:nvSpPr>
          <p:cNvPr id="3" name="page-7-三维环境记忆与决策记忆共同参与推理">
            <a:extLst xmlns:a="http://schemas.openxmlformats.org/drawingml/2006/main">
              <a:ext uri="{FF2B5EF4-FFF2-40B4-BE49-F238E27FC236}">
                <a16:creationId xmlns:a16="http://schemas.microsoft.com/office/drawing/2014/main" id="{2489E5C2-8FDB-47BA-81A8-AE4FD01D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三维环境记忆与决策记忆共同参与推理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ED266-0E2D-4FBF-A510-0A95EB00A6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49f4fb516461d"/>
          <a:stretch xmlns:a="http://schemas.openxmlformats.org/drawingml/2006/main"/>
        </p:blipFill>
        <p:spPr>
          <a:xfrm xmlns:a="http://schemas.openxmlformats.org/drawingml/2006/main">
            <a:off x="609600" y="2818167"/>
            <a:ext cx="5257800" cy="1659815"/>
          </a:xfrm>
          <a:prstGeom xmlns:a="http://schemas.openxmlformats.org/drawingml/2006/main" prst="rect">
            <a:avLst/>
          </a:prstGeom>
        </p:spPr>
      </p:pic>
      <p:sp>
        <p:nvSpPr>
          <p:cNvPr id="5" name="page-7-环境记忆保存三维证据。&#10;决策记忆保存计划、目标与已走轨迹。">
            <a:extLst xmlns:a="http://schemas.openxmlformats.org/drawingml/2006/main">
              <a:ext uri="{FF2B5EF4-FFF2-40B4-BE49-F238E27FC236}">
                <a16:creationId xmlns:a16="http://schemas.microsoft.com/office/drawing/2014/main" id="{A061F506-E807-43CB-B951-BBAC8621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环境记忆保存三维证据。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决策记忆保存计划、目标与已走轨迹。</a:t>
            </a:r>
          </a:p>
        </p:txBody>
      </p:sp>
      <p:sp>
        <p:nvSpPr>
          <p:cNvPr id="6" name="page-7-航点仍由底层控制器执行">
            <a:extLst xmlns:a="http://schemas.openxmlformats.org/drawingml/2006/main">
              <a:ext uri="{FF2B5EF4-FFF2-40B4-BE49-F238E27FC236}">
                <a16:creationId xmlns:a16="http://schemas.microsoft.com/office/drawing/2014/main" id="{82C0AB2B-B0D4-4C6D-98ED-D0A9CFD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航点仍由底层控制器执行</a:t>
            </a:r>
          </a:p>
        </p:txBody>
      </p:sp>
      <p:sp>
        <p:nvSpPr>
          <p:cNvPr id="7" name="page-7-01   形成统一输入">
            <a:extLst xmlns:a="http://schemas.openxmlformats.org/drawingml/2006/main">
              <a:ext uri="{FF2B5EF4-FFF2-40B4-BE49-F238E27FC236}">
                <a16:creationId xmlns:a16="http://schemas.microsoft.com/office/drawing/2014/main" id="{E2E86825-53D7-4574-942A-3E3F2DB5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形成统一输入</a:t>
            </a:r>
          </a:p>
        </p:txBody>
      </p:sp>
      <p:sp>
        <p:nvSpPr>
          <p:cNvPr id="8" name="page-7-RGB-D与位姿更新多层次三维记忆，&#10;指令、空间tokens">
            <a:extLst xmlns:a="http://schemas.openxmlformats.org/drawingml/2006/main">
              <a:ext uri="{FF2B5EF4-FFF2-40B4-BE49-F238E27FC236}">
                <a16:creationId xmlns:a16="http://schemas.microsoft.com/office/drawing/2014/main" id="{CB744924-30B0-4BC7-9C76-A692203F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RGB-D与位姿更新多层次三维记忆，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指令、空间tokens及历史决策共同输入。</a:t>
            </a:r>
          </a:p>
        </p:txBody>
      </p:sp>
      <p:sp>
        <p:nvSpPr>
          <p:cNvPr id="9" name="page-7-02   共享语义与空间理解">
            <a:extLst xmlns:a="http://schemas.openxmlformats.org/drawingml/2006/main">
              <a:ext uri="{FF2B5EF4-FFF2-40B4-BE49-F238E27FC236}">
                <a16:creationId xmlns:a16="http://schemas.microsoft.com/office/drawing/2014/main" id="{FFCD92F0-72DD-423D-93CA-9B4B9692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共享语义与空间理解</a:t>
            </a:r>
          </a:p>
        </p:txBody>
      </p:sp>
      <p:sp>
        <p:nvSpPr>
          <p:cNvPr id="10" name="page-7-3D-VLM将任务意图与环境证据对齐，&#10;在同一上下文理解目标">
            <a:extLst xmlns:a="http://schemas.openxmlformats.org/drawingml/2006/main">
              <a:ext uri="{FF2B5EF4-FFF2-40B4-BE49-F238E27FC236}">
                <a16:creationId xmlns:a16="http://schemas.microsoft.com/office/drawing/2014/main" id="{0ACA72E4-8823-4F61-B267-18D1B12F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3D-VLM将任务意图与环境证据对齐，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在同一上下文理解目标和可行动位置。</a:t>
            </a:r>
          </a:p>
        </p:txBody>
      </p:sp>
      <p:sp>
        <p:nvSpPr>
          <p:cNvPr id="11" name="page-7-03   产生能力相关输出">
            <a:extLst xmlns:a="http://schemas.openxmlformats.org/drawingml/2006/main">
              <a:ext uri="{FF2B5EF4-FFF2-40B4-BE49-F238E27FC236}">
                <a16:creationId xmlns:a16="http://schemas.microsoft.com/office/drawing/2014/main" id="{AAF23249-2D01-4449-9B6A-E580788E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产生能力相关输出</a:t>
            </a:r>
          </a:p>
        </p:txBody>
      </p:sp>
      <p:sp>
        <p:nvSpPr>
          <p:cNvPr id="12" name="page-7-依次生成后续计划、三维目标与航点，&#10;需要时再输出任务回答。">
            <a:extLst xmlns:a="http://schemas.openxmlformats.org/drawingml/2006/main">
              <a:ext uri="{FF2B5EF4-FFF2-40B4-BE49-F238E27FC236}">
                <a16:creationId xmlns:a16="http://schemas.microsoft.com/office/drawing/2014/main" id="{A46DCFE9-5B80-4FFD-873A-093DCD4F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依次生成后续计划、三维目标与航点，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需要时再输出任务回答。</a:t>
            </a:r>
          </a:p>
        </p:txBody>
      </p:sp>
      <p:sp>
        <p:nvSpPr>
          <p:cNvPr id="13" name="page-7-04   联合训练并更新决策">
            <a:extLst xmlns:a="http://schemas.openxmlformats.org/drawingml/2006/main">
              <a:ext uri="{FF2B5EF4-FFF2-40B4-BE49-F238E27FC236}">
                <a16:creationId xmlns:a16="http://schemas.microsoft.com/office/drawing/2014/main" id="{612C4596-4D8E-4DB0-AF8E-F8F9E45D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联合训练并更新决策</a:t>
            </a:r>
          </a:p>
        </p:txBody>
      </p:sp>
      <p:sp>
        <p:nvSpPr>
          <p:cNvPr id="14" name="page-7-部分标注样本仅对已有监督项计损失。&#10;执行后将轨迹与进度写回决">
            <a:extLst xmlns:a="http://schemas.openxmlformats.org/drawingml/2006/main">
              <a:ext uri="{FF2B5EF4-FFF2-40B4-BE49-F238E27FC236}">
                <a16:creationId xmlns:a16="http://schemas.microsoft.com/office/drawing/2014/main" id="{1BC72739-DE67-45A8-B618-70749FE5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部分标注样本仅对已有监督项计损失。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执行后将轨迹与进度写回决策记忆。</a:t>
            </a:r>
          </a:p>
        </p:txBody>
      </p:sp>
      <p:sp>
        <p:nvSpPr>
          <p:cNvPr id="15" name="page-7-source-note">
            <a:extLst xmlns:a="http://schemas.openxmlformats.org/drawingml/2006/main">
              <a:ext uri="{FF2B5EF4-FFF2-40B4-BE49-F238E27FC236}">
                <a16:creationId xmlns:a16="http://schemas.microsoft.com/office/drawing/2014/main" id="{B0CAC8E0-AB89-4F2F-A427-508CBA9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来源：D3D-VLP，第3.1–3.3节，图2–3</a:t>
            </a:r>
          </a:p>
        </p:txBody>
      </p:sp>
      <p:sp>
        <p:nvSpPr>
          <p:cNvPr id="16" name="page-7-page-number">
            <a:extLst xmlns:a="http://schemas.openxmlformats.org/drawingml/2006/main">
              <a:ext uri="{FF2B5EF4-FFF2-40B4-BE49-F238E27FC236}">
                <a16:creationId xmlns:a16="http://schemas.microsoft.com/office/drawing/2014/main" id="{42020607-C95D-4795-8D10-1E8E4D54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508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4-slide-title">
            <a:extLst xmlns:a="http://schemas.openxmlformats.org/drawingml/2006/main">
              <a:ext uri="{FF2B5EF4-FFF2-40B4-BE49-F238E27FC236}">
                <a16:creationId xmlns:a16="http://schemas.microsoft.com/office/drawing/2014/main" id="{A492B6C6-7D8B-4ADD-B307-DAEF4897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MSGNav：三维场景图怎样用于导航</a:t>
            </a:r>
          </a:p>
        </p:txBody>
      </p:sp>
      <p:sp>
        <p:nvSpPr>
          <p:cNvPr id="2" name="page-14-用物体节点与共同观测图像组织可查询的空间证据">
            <a:extLst xmlns:a="http://schemas.openxmlformats.org/drawingml/2006/main">
              <a:ext uri="{FF2B5EF4-FFF2-40B4-BE49-F238E27FC236}">
                <a16:creationId xmlns:a16="http://schemas.microsoft.com/office/drawing/2014/main" id="{68AFF928-2257-4D65-8486-4C964163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用物体节点与共同观测图像组织可查询的空间证据</a:t>
            </a:r>
          </a:p>
        </p:txBody>
      </p:sp>
      <p:sp>
        <p:nvSpPr>
          <p:cNvPr id="3" name="page-14-物体节点保存空间，图边索引共同观测">
            <a:extLst xmlns:a="http://schemas.openxmlformats.org/drawingml/2006/main">
              <a:ext uri="{FF2B5EF4-FFF2-40B4-BE49-F238E27FC236}">
                <a16:creationId xmlns:a16="http://schemas.microsoft.com/office/drawing/2014/main" id="{0B951815-7E4C-4D0A-BF64-BA79678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物体节点保存空间，图边索引共同观测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AB97B-C2DF-4B73-A858-F93D383C4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7f36be4ff42c9"/>
          <a:stretch xmlns:a="http://schemas.openxmlformats.org/drawingml/2006/main"/>
        </p:blipFill>
        <p:spPr>
          <a:xfrm xmlns:a="http://schemas.openxmlformats.org/drawingml/2006/main">
            <a:off x="609600" y="2504251"/>
            <a:ext cx="5257800" cy="2287649"/>
          </a:xfrm>
          <a:prstGeom xmlns:a="http://schemas.openxmlformats.org/drawingml/2006/main" prst="rect">
            <a:avLst/>
          </a:prstGeom>
        </p:spPr>
      </p:pic>
      <p:sp>
        <p:nvSpPr>
          <p:cNvPr id="5" name="page-14-图边关联物体对的同框图像。&#10;模型可回看图像，判断目标及空间关">
            <a:extLst xmlns:a="http://schemas.openxmlformats.org/drawingml/2006/main">
              <a:ext uri="{FF2B5EF4-FFF2-40B4-BE49-F238E27FC236}">
                <a16:creationId xmlns:a16="http://schemas.microsoft.com/office/drawing/2014/main" id="{0227DC20-D1B7-4E04-BA38-39FAEC2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图边关联物体对的同框图像。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模型可回看图像，判断目标及空间关系。</a:t>
            </a:r>
          </a:p>
        </p:txBody>
      </p:sp>
      <p:sp>
        <p:nvSpPr>
          <p:cNvPr id="6" name="page-14-关系证据保留在原始图像中">
            <a:extLst xmlns:a="http://schemas.openxmlformats.org/drawingml/2006/main">
              <a:ext uri="{FF2B5EF4-FFF2-40B4-BE49-F238E27FC236}">
                <a16:creationId xmlns:a16="http://schemas.microsoft.com/office/drawing/2014/main" id="{7A9C996A-66B5-47BD-9993-B98F016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关系证据保留在原始图像中</a:t>
            </a:r>
          </a:p>
        </p:txBody>
      </p:sp>
      <p:sp>
        <p:nvSpPr>
          <p:cNvPr id="7" name="page-14-01   建立空间记录">
            <a:extLst xmlns:a="http://schemas.openxmlformats.org/drawingml/2006/main">
              <a:ext uri="{FF2B5EF4-FFF2-40B4-BE49-F238E27FC236}">
                <a16:creationId xmlns:a16="http://schemas.microsoft.com/office/drawing/2014/main" id="{3F34E939-B5EC-4C4F-AB2A-03A5F7A4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建立空间记录</a:t>
            </a:r>
          </a:p>
        </p:txBody>
      </p:sp>
      <p:sp>
        <p:nvSpPr>
          <p:cNvPr id="8" name="page-14-RGB-D与位姿生成三维物体节点，&#10;将近邻物体的共同观测图像">
            <a:extLst xmlns:a="http://schemas.openxmlformats.org/drawingml/2006/main">
              <a:ext uri="{FF2B5EF4-FFF2-40B4-BE49-F238E27FC236}">
                <a16:creationId xmlns:a16="http://schemas.microsoft.com/office/drawing/2014/main" id="{D09F2814-3912-4E70-97AB-BAC2CF3F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RGB-D与位姿生成三维物体节点，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将近邻物体的共同观测图像关联到边。</a:t>
            </a:r>
          </a:p>
        </p:txBody>
      </p:sp>
      <p:sp>
        <p:nvSpPr>
          <p:cNvPr id="9" name="page-14-02   合并重复观测">
            <a:extLst xmlns:a="http://schemas.openxmlformats.org/drawingml/2006/main">
              <a:ext uri="{FF2B5EF4-FFF2-40B4-BE49-F238E27FC236}">
                <a16:creationId xmlns:a16="http://schemas.microsoft.com/office/drawing/2014/main" id="{EB9832BD-25AB-477F-B1F2-3E43E3C5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合并重复观测</a:t>
            </a:r>
          </a:p>
        </p:txBody>
      </p:sp>
      <p:sp>
        <p:nvSpPr>
          <p:cNvPr id="10" name="page-14-按空间与视觉匹配维护全局物体ID，&#10;融合点云、类别与图像，A">
            <a:extLst xmlns:a="http://schemas.openxmlformats.org/drawingml/2006/main">
              <a:ext uri="{FF2B5EF4-FFF2-40B4-BE49-F238E27FC236}">
                <a16:creationId xmlns:a16="http://schemas.microsoft.com/office/drawing/2014/main" id="{05BD3115-972D-4B16-B4EA-FE0449DE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按空间与视觉匹配维护全局物体ID，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融合点云、类别与图像，AVU补充词表。</a:t>
            </a:r>
          </a:p>
        </p:txBody>
      </p:sp>
      <p:sp>
        <p:nvSpPr>
          <p:cNvPr id="11" name="page-14-03   按当前目标读取">
            <a:extLst xmlns:a="http://schemas.openxmlformats.org/drawingml/2006/main">
              <a:ext uri="{FF2B5EF4-FFF2-40B4-BE49-F238E27FC236}">
                <a16:creationId xmlns:a16="http://schemas.microsoft.com/office/drawing/2014/main" id="{607AA7FD-259B-4EC1-BD98-160C998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按当前目标读取</a:t>
            </a:r>
          </a:p>
        </p:txBody>
      </p:sp>
      <p:sp>
        <p:nvSpPr>
          <p:cNvPr id="12" name="page-14-KSS筛选相关子图及覆盖关系的图像。&#10;VLM结合前沿与历史决">
            <a:extLst xmlns:a="http://schemas.openxmlformats.org/drawingml/2006/main">
              <a:ext uri="{FF2B5EF4-FFF2-40B4-BE49-F238E27FC236}">
                <a16:creationId xmlns:a16="http://schemas.microsoft.com/office/drawing/2014/main" id="{075F88CE-F259-4E50-8907-4142B6B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KSS筛选相关子图及覆盖关系的图像。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VLM结合前沿与历史决策判断下一步。</a:t>
            </a:r>
          </a:p>
        </p:txBody>
      </p:sp>
      <p:sp>
        <p:nvSpPr>
          <p:cNvPr id="13" name="page-14-04   转换为导航子目标">
            <a:extLst xmlns:a="http://schemas.openxmlformats.org/drawingml/2006/main">
              <a:ext uri="{FF2B5EF4-FFF2-40B4-BE49-F238E27FC236}">
                <a16:creationId xmlns:a16="http://schemas.microsoft.com/office/drawing/2014/main" id="{04A91293-6B3F-48B2-941D-861C55C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转换为导航子目标</a:t>
            </a:r>
          </a:p>
        </p:txBody>
      </p:sp>
      <p:sp>
        <p:nvSpPr>
          <p:cNvPr id="14" name="page-14-未找到目标则前往选定探索前沿。&#10;找到后，VVD选择看得清目标">
            <a:extLst xmlns:a="http://schemas.openxmlformats.org/drawingml/2006/main">
              <a:ext uri="{FF2B5EF4-FFF2-40B4-BE49-F238E27FC236}">
                <a16:creationId xmlns:a16="http://schemas.microsoft.com/office/drawing/2014/main" id="{1A100C2E-1A1D-40BE-A475-37FDBB9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未找到目标则前往选定探索前沿。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找到后，VVD选择看得清目标的视点。</a:t>
            </a:r>
          </a:p>
        </p:txBody>
      </p:sp>
      <p:sp>
        <p:nvSpPr>
          <p:cNvPr id="15" name="page-14-source-note">
            <a:extLst xmlns:a="http://schemas.openxmlformats.org/drawingml/2006/main">
              <a:ext uri="{FF2B5EF4-FFF2-40B4-BE49-F238E27FC236}">
                <a16:creationId xmlns:a16="http://schemas.microsoft.com/office/drawing/2014/main" id="{C81CEE2B-02DB-496A-8EB7-1B9E4309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来源：MSGNav，第3.2–3.3节，图3</a:t>
            </a:r>
          </a:p>
        </p:txBody>
      </p:sp>
      <p:sp>
        <p:nvSpPr>
          <p:cNvPr id="16" name="page-14-page-number">
            <a:extLst xmlns:a="http://schemas.openxmlformats.org/drawingml/2006/main">
              <a:ext uri="{FF2B5EF4-FFF2-40B4-BE49-F238E27FC236}">
                <a16:creationId xmlns:a16="http://schemas.microsoft.com/office/drawing/2014/main" id="{F3067E93-347D-4B88-A01D-7EC251CD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64325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6-slide-title">
            <a:extLst xmlns:a="http://schemas.openxmlformats.org/drawingml/2006/main">
              <a:ext uri="{FF2B5EF4-FFF2-40B4-BE49-F238E27FC236}">
                <a16:creationId xmlns:a16="http://schemas.microsoft.com/office/drawing/2014/main" id="{CFFD986D-8CEA-4F43-9BD2-45126CF2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SoftNav：三维特征的soft-token接口</a:t>
            </a:r>
          </a:p>
        </p:txBody>
      </p:sp>
      <p:sp>
        <p:nvSpPr>
          <p:cNvPr id="2" name="page-16-将物体与探索前沿的连续向量接入视觉语言模型">
            <a:extLst xmlns:a="http://schemas.openxmlformats.org/drawingml/2006/main">
              <a:ext uri="{FF2B5EF4-FFF2-40B4-BE49-F238E27FC236}">
                <a16:creationId xmlns:a16="http://schemas.microsoft.com/office/drawing/2014/main" id="{EC58411F-ADBA-4211-B18B-B3EB0BBF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将物体与探索前沿的连续向量接入视觉语言模型</a:t>
            </a:r>
          </a:p>
        </p:txBody>
      </p:sp>
      <p:sp>
        <p:nvSpPr>
          <p:cNvPr id="3" name="page-16-图2上半部分：空间与视觉特征编码">
            <a:extLst xmlns:a="http://schemas.openxmlformats.org/drawingml/2006/main">
              <a:ext uri="{FF2B5EF4-FFF2-40B4-BE49-F238E27FC236}">
                <a16:creationId xmlns:a16="http://schemas.microsoft.com/office/drawing/2014/main" id="{2BA1FE8F-7640-4E19-BB8E-8CFFF8E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图2上半部分：空间与视觉特征编码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DC543-7BE5-44EB-8F94-2F1C2EB91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b8df0907742c2"/>
          <a:stretch xmlns:a="http://schemas.openxmlformats.org/drawingml/2006/main"/>
        </p:blipFill>
        <p:spPr>
          <a:xfrm xmlns:a="http://schemas.openxmlformats.org/drawingml/2006/main">
            <a:off x="609600" y="2863445"/>
            <a:ext cx="5257800" cy="1569261"/>
          </a:xfrm>
          <a:prstGeom xmlns:a="http://schemas.openxmlformats.org/drawingml/2006/main" prst="rect">
            <a:avLst/>
          </a:prstGeom>
        </p:spPr>
      </p:pic>
      <p:sp>
        <p:nvSpPr>
          <p:cNvPr id="5" name="page-16-三维实体向量直接映射到VLM输入。&#10;视觉分支另保留最近16帧">
            <a:extLst xmlns:a="http://schemas.openxmlformats.org/drawingml/2006/main">
              <a:ext uri="{FF2B5EF4-FFF2-40B4-BE49-F238E27FC236}">
                <a16:creationId xmlns:a16="http://schemas.microsoft.com/office/drawing/2014/main" id="{4F76D7AF-D83E-49FD-8ABA-673D49A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三维实体向量直接映射到VLM输入。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视觉分支另保留最近16帧的压缩历史。</a:t>
            </a:r>
          </a:p>
        </p:txBody>
      </p:sp>
      <p:sp>
        <p:nvSpPr>
          <p:cNvPr id="6" name="page-16-每个三维实体对应一个soft token">
            <a:extLst xmlns:a="http://schemas.openxmlformats.org/drawingml/2006/main">
              <a:ext uri="{FF2B5EF4-FFF2-40B4-BE49-F238E27FC236}">
                <a16:creationId xmlns:a16="http://schemas.microsoft.com/office/drawing/2014/main" id="{CEDC9D68-F9CA-4906-8A55-8A37678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每个三维实体对应一个soft token</a:t>
            </a:r>
          </a:p>
        </p:txBody>
      </p:sp>
      <p:sp>
        <p:nvSpPr>
          <p:cNvPr id="7" name="page-16-01   编码空间实体">
            <a:extLst xmlns:a="http://schemas.openxmlformats.org/drawingml/2006/main">
              <a:ext uri="{FF2B5EF4-FFF2-40B4-BE49-F238E27FC236}">
                <a16:creationId xmlns:a16="http://schemas.microsoft.com/office/drawing/2014/main" id="{DB97B00A-10B0-4AC2-8D78-968B0D6D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编码空间实体</a:t>
            </a:r>
          </a:p>
        </p:txBody>
      </p:sp>
      <p:sp>
        <p:nvSpPr>
          <p:cNvPr id="8" name="page-16-PQ3D为物体和前沿生成768维向量。&#10;视觉分支将近期图像压">
            <a:extLst xmlns:a="http://schemas.openxmlformats.org/drawingml/2006/main">
              <a:ext uri="{FF2B5EF4-FFF2-40B4-BE49-F238E27FC236}">
                <a16:creationId xmlns:a16="http://schemas.microsoft.com/office/drawing/2014/main" id="{7BC791A9-608D-44A4-B68B-C95A63B1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PQ3D为物体和前沿生成768维向量。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视觉分支将近期图像压为每帧15 tokens。</a:t>
            </a:r>
          </a:p>
        </p:txBody>
      </p:sp>
      <p:sp>
        <p:nvSpPr>
          <p:cNvPr id="9" name="page-16-02   对齐目标与特征">
            <a:extLst xmlns:a="http://schemas.openxmlformats.org/drawingml/2006/main">
              <a:ext uri="{FF2B5EF4-FFF2-40B4-BE49-F238E27FC236}">
                <a16:creationId xmlns:a16="http://schemas.microsoft.com/office/drawing/2014/main" id="{1AAC54E4-9D05-46FB-AEFD-A77E70B7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对齐目标与特征</a:t>
            </a:r>
          </a:p>
        </p:txBody>
      </p:sp>
      <p:sp>
        <p:nvSpPr>
          <p:cNvPr id="10" name="page-16-MLP将768维空间向量投影到2048维，&#10;形成可与任务文本">
            <a:extLst xmlns:a="http://schemas.openxmlformats.org/drawingml/2006/main">
              <a:ext uri="{FF2B5EF4-FFF2-40B4-BE49-F238E27FC236}">
                <a16:creationId xmlns:a16="http://schemas.microsoft.com/office/drawing/2014/main" id="{EC869550-0485-4C63-9EB1-51236D0A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MLP将768维空间向量投影到2048维，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形成可与任务文本共同处理的soft tokens。</a:t>
            </a:r>
          </a:p>
        </p:txBody>
      </p:sp>
      <p:sp>
        <p:nvSpPr>
          <p:cNvPr id="11" name="page-16-03   联合评分或生成">
            <a:extLst xmlns:a="http://schemas.openxmlformats.org/drawingml/2006/main">
              <a:ext uri="{FF2B5EF4-FFF2-40B4-BE49-F238E27FC236}">
                <a16:creationId xmlns:a16="http://schemas.microsoft.com/office/drawing/2014/main" id="{790C2CFF-A963-4155-B06E-EE81BD4F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联合评分或生成</a:t>
            </a:r>
          </a:p>
        </p:txBody>
      </p:sp>
      <p:sp>
        <p:nvSpPr>
          <p:cNvPr id="12" name="page-16-空间tokens、近期图像与指令共同输入，&#10;VLM生成下一探">
            <a:extLst xmlns:a="http://schemas.openxmlformats.org/drawingml/2006/main">
              <a:ext uri="{FF2B5EF4-FFF2-40B4-BE49-F238E27FC236}">
                <a16:creationId xmlns:a16="http://schemas.microsoft.com/office/drawing/2014/main" id="{F74538E9-CFD7-4281-BD6F-08C8C0AA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空间tokens、近期图像与指令共同输入，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VLM生成下一探索坐标，下页展开决策。</a:t>
            </a:r>
          </a:p>
        </p:txBody>
      </p:sp>
      <p:sp>
        <p:nvSpPr>
          <p:cNvPr id="13" name="page-16-04   更新环境特征">
            <a:extLst xmlns:a="http://schemas.openxmlformats.org/drawingml/2006/main">
              <a:ext uri="{FF2B5EF4-FFF2-40B4-BE49-F238E27FC236}">
                <a16:creationId xmlns:a16="http://schemas.microsoft.com/office/drawing/2014/main" id="{724FB234-B185-4996-8780-59AF2BA2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更新环境特征</a:t>
            </a:r>
          </a:p>
        </p:txBody>
      </p:sp>
      <p:sp>
        <p:nvSpPr>
          <p:cNvPr id="14" name="page-16-移动后更新物体库、占据地图与前沿，&#10;视觉记忆滚动保留最近16">
            <a:extLst xmlns:a="http://schemas.openxmlformats.org/drawingml/2006/main">
              <a:ext uri="{FF2B5EF4-FFF2-40B4-BE49-F238E27FC236}">
                <a16:creationId xmlns:a16="http://schemas.microsoft.com/office/drawing/2014/main" id="{8C7C59B2-2BFE-4FD2-A760-A51C3DE8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移动后更新物体库、占据地图与前沿，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视觉记忆滚动保留最近16帧。</a:t>
            </a:r>
          </a:p>
        </p:txBody>
      </p:sp>
      <p:sp>
        <p:nvSpPr>
          <p:cNvPr id="15" name="page-16-source-note">
            <a:extLst xmlns:a="http://schemas.openxmlformats.org/drawingml/2006/main">
              <a:ext uri="{FF2B5EF4-FFF2-40B4-BE49-F238E27FC236}">
                <a16:creationId xmlns:a16="http://schemas.microsoft.com/office/drawing/2014/main" id="{C147B65C-7F49-48F2-95B9-04620892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来源：SoftNav，第III节，图2上半部分</a:t>
            </a:r>
          </a:p>
        </p:txBody>
      </p:sp>
      <p:sp>
        <p:nvSpPr>
          <p:cNvPr id="16" name="page-16-page-number">
            <a:extLst xmlns:a="http://schemas.openxmlformats.org/drawingml/2006/main">
              <a:ext uri="{FF2B5EF4-FFF2-40B4-BE49-F238E27FC236}">
                <a16:creationId xmlns:a16="http://schemas.microsoft.com/office/drawing/2014/main" id="{6D011B57-BEE8-4D3C-A715-8C73F96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3122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17-slide-title">
            <a:extLst xmlns:a="http://schemas.openxmlformats.org/drawingml/2006/main">
              <a:ext uri="{FF2B5EF4-FFF2-40B4-BE49-F238E27FC236}">
                <a16:creationId xmlns:a16="http://schemas.microsoft.com/office/drawing/2014/main" id="{29014D57-7C0B-4AAB-B141-363B0B06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SoftNav：空间、视觉历史与语言联合决策</a:t>
            </a:r>
          </a:p>
        </p:txBody>
      </p:sp>
      <p:sp>
        <p:nvSpPr>
          <p:cNvPr id="2" name="page-17-延续连续空间特征的四步框架，展开融合与导航执行">
            <a:extLst xmlns:a="http://schemas.openxmlformats.org/drawingml/2006/main">
              <a:ext uri="{FF2B5EF4-FFF2-40B4-BE49-F238E27FC236}">
                <a16:creationId xmlns:a16="http://schemas.microsoft.com/office/drawing/2014/main" id="{56B9B7D7-CEF8-4B00-B82C-4283F7C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延续连续空间特征的四步框架，展开融合与导航执行</a:t>
            </a:r>
          </a:p>
        </p:txBody>
      </p:sp>
      <p:sp>
        <p:nvSpPr>
          <p:cNvPr id="3" name="page-17-图2下半部分：联合注意力与前沿执行">
            <a:extLst xmlns:a="http://schemas.openxmlformats.org/drawingml/2006/main">
              <a:ext uri="{FF2B5EF4-FFF2-40B4-BE49-F238E27FC236}">
                <a16:creationId xmlns:a16="http://schemas.microsoft.com/office/drawing/2014/main" id="{7672DB0D-06EC-47F0-9F4D-9494DD2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图2下半部分：联合注意力与前沿执行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8D5AC-F06F-47D3-9C6D-017CA82DF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f6852dbf04148"/>
          <a:stretch xmlns:a="http://schemas.openxmlformats.org/drawingml/2006/main"/>
        </p:blipFill>
        <p:spPr>
          <a:xfrm xmlns:a="http://schemas.openxmlformats.org/drawingml/2006/main">
            <a:off x="609600" y="2796635"/>
            <a:ext cx="5257800" cy="1702881"/>
          </a:xfrm>
          <a:prstGeom xmlns:a="http://schemas.openxmlformats.org/drawingml/2006/main" prst="rect">
            <a:avLst/>
          </a:prstGeom>
        </p:spPr>
      </p:pic>
      <p:sp>
        <p:nvSpPr>
          <p:cNvPr id="5" name="page-17-视觉历史、空间tokens与语言共同决策。&#10;输出坐标需转换为">
            <a:extLst xmlns:a="http://schemas.openxmlformats.org/drawingml/2006/main">
              <a:ext uri="{FF2B5EF4-FFF2-40B4-BE49-F238E27FC236}">
                <a16:creationId xmlns:a16="http://schemas.microsoft.com/office/drawing/2014/main" id="{DC1E5C43-C4AF-46DC-9C92-F9E70060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视觉历史、空间tokens与语言共同决策。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输出坐标需转换为可到达的探索前沿。</a:t>
            </a:r>
          </a:p>
        </p:txBody>
      </p:sp>
      <p:sp>
        <p:nvSpPr>
          <p:cNvPr id="6" name="page-17-二维坐标输出使用三维环境证据">
            <a:extLst xmlns:a="http://schemas.openxmlformats.org/drawingml/2006/main">
              <a:ext uri="{FF2B5EF4-FFF2-40B4-BE49-F238E27FC236}">
                <a16:creationId xmlns:a16="http://schemas.microsoft.com/office/drawing/2014/main" id="{750E5F8F-58B7-474A-9917-DF63F361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二维坐标输出使用三维环境证据</a:t>
            </a:r>
          </a:p>
        </p:txBody>
      </p:sp>
      <p:sp>
        <p:nvSpPr>
          <p:cNvPr id="7" name="page-17-01   编码空间实体">
            <a:extLst xmlns:a="http://schemas.openxmlformats.org/drawingml/2006/main">
              <a:ext uri="{FF2B5EF4-FFF2-40B4-BE49-F238E27FC236}">
                <a16:creationId xmlns:a16="http://schemas.microsoft.com/office/drawing/2014/main" id="{36B71BC1-247C-4AF5-A86A-6D4876B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编码空间实体</a:t>
            </a:r>
          </a:p>
        </p:txBody>
      </p:sp>
      <p:sp>
        <p:nvSpPr>
          <p:cNvPr id="8" name="page-17-沿用上页的物体、前沿与视觉历史，&#10;保留几何和语义信息供本轮决">
            <a:extLst xmlns:a="http://schemas.openxmlformats.org/drawingml/2006/main">
              <a:ext uri="{FF2B5EF4-FFF2-40B4-BE49-F238E27FC236}">
                <a16:creationId xmlns:a16="http://schemas.microsoft.com/office/drawing/2014/main" id="{F2B2F7D4-6B67-40FA-81E3-3D330199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沿用上页的物体、前沿与视觉历史，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保留几何和语义信息供本轮决策读取。</a:t>
            </a:r>
          </a:p>
        </p:txBody>
      </p:sp>
      <p:sp>
        <p:nvSpPr>
          <p:cNvPr id="9" name="page-17-02   对齐目标与特征">
            <a:extLst xmlns:a="http://schemas.openxmlformats.org/drawingml/2006/main">
              <a:ext uri="{FF2B5EF4-FFF2-40B4-BE49-F238E27FC236}">
                <a16:creationId xmlns:a16="http://schemas.microsoft.com/office/drawing/2014/main" id="{BB399079-1DC5-4A8E-B876-E120EF38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对齐目标与特征</a:t>
            </a:r>
          </a:p>
        </p:txBody>
      </p:sp>
      <p:sp>
        <p:nvSpPr>
          <p:cNvPr id="10" name="page-17-将投影后的空间tokens与图像、指令&#10;放入同一序列，通过注">
            <a:extLst xmlns:a="http://schemas.openxmlformats.org/drawingml/2006/main">
              <a:ext uri="{FF2B5EF4-FFF2-40B4-BE49-F238E27FC236}">
                <a16:creationId xmlns:a16="http://schemas.microsoft.com/office/drawing/2014/main" id="{180866B3-72D8-41F0-BE68-68E5EC03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将投影后的空间tokens与图像、指令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放入同一序列，通过注意力融合。</a:t>
            </a:r>
          </a:p>
        </p:txBody>
      </p:sp>
      <p:sp>
        <p:nvSpPr>
          <p:cNvPr id="11" name="page-17-03   联合评分或生成">
            <a:extLst xmlns:a="http://schemas.openxmlformats.org/drawingml/2006/main">
              <a:ext uri="{FF2B5EF4-FFF2-40B4-BE49-F238E27FC236}">
                <a16:creationId xmlns:a16="http://schemas.microsoft.com/office/drawing/2014/main" id="{F34F16B6-ECEE-43A0-BAD8-748F728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联合评分或生成</a:t>
            </a:r>
          </a:p>
        </p:txBody>
      </p:sp>
      <p:sp>
        <p:nvSpPr>
          <p:cNvPr id="12" name="page-17-生成二维坐标，吸附至合格前沿，&#10;再交由局部导航器执行移动。">
            <a:extLst xmlns:a="http://schemas.openxmlformats.org/drawingml/2006/main">
              <a:ext uri="{FF2B5EF4-FFF2-40B4-BE49-F238E27FC236}">
                <a16:creationId xmlns:a16="http://schemas.microsoft.com/office/drawing/2014/main" id="{466B69F4-4ED4-4378-B671-F8A28DF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生成二维坐标，吸附至合格前沿，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再交由局部导航器执行移动。</a:t>
            </a:r>
          </a:p>
        </p:txBody>
      </p:sp>
      <p:sp>
        <p:nvSpPr>
          <p:cNvPr id="13" name="page-17-04   更新环境特征">
            <a:extLst xmlns:a="http://schemas.openxmlformats.org/drawingml/2006/main">
              <a:ext uri="{FF2B5EF4-FFF2-40B4-BE49-F238E27FC236}">
                <a16:creationId xmlns:a16="http://schemas.microsoft.com/office/drawing/2014/main" id="{2618466E-AC36-4190-8530-AC3D24BC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更新环境特征</a:t>
            </a:r>
          </a:p>
        </p:txBody>
      </p:sp>
      <p:sp>
        <p:nvSpPr>
          <p:cNvPr id="14" name="page-17-新观测刷新物体库、前沿与近期历史。&#10;当前沿为空时，触发恢复探">
            <a:extLst xmlns:a="http://schemas.openxmlformats.org/drawingml/2006/main">
              <a:ext uri="{FF2B5EF4-FFF2-40B4-BE49-F238E27FC236}">
                <a16:creationId xmlns:a16="http://schemas.microsoft.com/office/drawing/2014/main" id="{4356516E-43D2-4926-94B4-1983089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新观测刷新物体库、前沿与近期历史。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当前沿为空时，触发恢复探索流程。</a:t>
            </a:r>
          </a:p>
        </p:txBody>
      </p:sp>
      <p:sp>
        <p:nvSpPr>
          <p:cNvPr id="15" name="page-17-source-note">
            <a:extLst xmlns:a="http://schemas.openxmlformats.org/drawingml/2006/main">
              <a:ext uri="{FF2B5EF4-FFF2-40B4-BE49-F238E27FC236}">
                <a16:creationId xmlns:a16="http://schemas.microsoft.com/office/drawing/2014/main" id="{92D1054A-FD87-49B0-A957-0E16A9B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来源：SoftNav，第III节，图2下半部分及算法1</a:t>
            </a:r>
          </a:p>
        </p:txBody>
      </p:sp>
      <p:sp>
        <p:nvSpPr>
          <p:cNvPr id="16" name="page-17-page-number">
            <a:extLst xmlns:a="http://schemas.openxmlformats.org/drawingml/2006/main">
              <a:ext uri="{FF2B5EF4-FFF2-40B4-BE49-F238E27FC236}">
                <a16:creationId xmlns:a16="http://schemas.microsoft.com/office/drawing/2014/main" id="{3E444FCB-C0A2-4074-A52B-29C40C16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40306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22-slide-title">
            <a:extLst xmlns:a="http://schemas.openxmlformats.org/drawingml/2006/main">
              <a:ext uri="{FF2B5EF4-FFF2-40B4-BE49-F238E27FC236}">
                <a16:creationId xmlns:a16="http://schemas.microsoft.com/office/drawing/2014/main" id="{16F84A09-ABCD-4E9F-80DA-C6D72E9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AstraNav：压缩后读取长期历史</a:t>
            </a:r>
          </a:p>
        </p:txBody>
      </p:sp>
      <p:sp>
        <p:nvSpPr>
          <p:cNvPr id="2" name="page-22-将图像与位姿保留在上下文中，供后续目标重复读取">
            <a:extLst xmlns:a="http://schemas.openxmlformats.org/drawingml/2006/main">
              <a:ext uri="{FF2B5EF4-FFF2-40B4-BE49-F238E27FC236}">
                <a16:creationId xmlns:a16="http://schemas.microsoft.com/office/drawing/2014/main" id="{2C95A0F0-969F-402F-9BE0-747FF898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将图像与位姿保留在上下文中，供后续目标重复读取</a:t>
            </a:r>
          </a:p>
        </p:txBody>
      </p:sp>
      <p:sp>
        <p:nvSpPr>
          <p:cNvPr id="3" name="page-22-压缩视觉经历，再与位姿共同重放">
            <a:extLst xmlns:a="http://schemas.openxmlformats.org/drawingml/2006/main">
              <a:ext uri="{FF2B5EF4-FFF2-40B4-BE49-F238E27FC236}">
                <a16:creationId xmlns:a16="http://schemas.microsoft.com/office/drawing/2014/main" id="{4ACFF257-B35A-4ABF-AAEF-C40C4CB0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压缩视觉经历，再与位姿共同重放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57977-7779-4EB8-AC61-957BA723CB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fdb11c88f4b85"/>
          <a:stretch xmlns:a="http://schemas.openxmlformats.org/drawingml/2006/main"/>
        </p:blipFill>
        <p:spPr>
          <a:xfrm xmlns:a="http://schemas.openxmlformats.org/drawingml/2006/main">
            <a:off x="609600" y="2527226"/>
            <a:ext cx="5257800" cy="2241698"/>
          </a:xfrm>
          <a:prstGeom xmlns:a="http://schemas.openxmlformats.org/drawingml/2006/main" prst="rect">
            <a:avLst/>
          </a:prstGeom>
        </p:spPr>
      </p:pic>
      <p:sp>
        <p:nvSpPr>
          <p:cNvPr id="5" name="page-22-主配置每帧视觉tokens从598减为30。&#10;图像与对应位姿">
            <a:extLst xmlns:a="http://schemas.openxmlformats.org/drawingml/2006/main">
              <a:ext uri="{FF2B5EF4-FFF2-40B4-BE49-F238E27FC236}">
                <a16:creationId xmlns:a16="http://schemas.microsoft.com/office/drawing/2014/main" id="{64A05A53-FEF7-42A5-9CD4-8257B294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主配置每帧视觉tokens从598减为30。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图像与对应位姿共同支持位置推断。</a:t>
            </a:r>
          </a:p>
        </p:txBody>
      </p:sp>
      <p:sp>
        <p:nvSpPr>
          <p:cNvPr id="6" name="page-22-压缩历史可以跨子任务复用">
            <a:extLst xmlns:a="http://schemas.openxmlformats.org/drawingml/2006/main">
              <a:ext uri="{FF2B5EF4-FFF2-40B4-BE49-F238E27FC236}">
                <a16:creationId xmlns:a16="http://schemas.microsoft.com/office/drawing/2014/main" id="{381DDFDD-FDD4-44B8-BC7D-21A4F86C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压缩历史可以跨子任务复用</a:t>
            </a:r>
          </a:p>
        </p:txBody>
      </p:sp>
      <p:sp>
        <p:nvSpPr>
          <p:cNvPr id="7" name="page-22-01   保存观察与位置">
            <a:extLst xmlns:a="http://schemas.openxmlformats.org/drawingml/2006/main">
              <a:ext uri="{FF2B5EF4-FFF2-40B4-BE49-F238E27FC236}">
                <a16:creationId xmlns:a16="http://schemas.microsoft.com/office/drawing/2014/main" id="{C618FB86-614F-43BE-9CBE-DC6C97A7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保存观察与位置</a:t>
            </a:r>
          </a:p>
        </p:txBody>
      </p:sp>
      <p:sp>
        <p:nvSpPr>
          <p:cNvPr id="8" name="page-22-按时间保留RGB图像及相机位姿，&#10;将每个位姿与对应图像成对组">
            <a:extLst xmlns:a="http://schemas.openxmlformats.org/drawingml/2006/main">
              <a:ext uri="{FF2B5EF4-FFF2-40B4-BE49-F238E27FC236}">
                <a16:creationId xmlns:a16="http://schemas.microsoft.com/office/drawing/2014/main" id="{65B3C539-B439-44CB-939D-FF68C76A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按时间保留RGB图像及相机位姿，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将每个位姿与对应图像成对组织。</a:t>
            </a:r>
          </a:p>
        </p:txBody>
      </p:sp>
      <p:sp>
        <p:nvSpPr>
          <p:cNvPr id="9" name="page-22-02   控制历史信息量">
            <a:extLst xmlns:a="http://schemas.openxmlformats.org/drawingml/2006/main">
              <a:ext uri="{FF2B5EF4-FFF2-40B4-BE49-F238E27FC236}">
                <a16:creationId xmlns:a16="http://schemas.microsoft.com/office/drawing/2014/main" id="{816B76D7-9639-4DDD-B7C4-6F18FDA8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控制历史信息量</a:t>
            </a:r>
          </a:p>
        </p:txBody>
      </p:sp>
      <p:sp>
        <p:nvSpPr>
          <p:cNvPr id="10" name="page-22-DINOv3与可训练压缩器提取视觉信息，&#10;主配置每帧由598">
            <a:extLst xmlns:a="http://schemas.openxmlformats.org/drawingml/2006/main">
              <a:ext uri="{FF2B5EF4-FFF2-40B4-BE49-F238E27FC236}">
                <a16:creationId xmlns:a16="http://schemas.microsoft.com/office/drawing/2014/main" id="{70CBABB1-00F5-4362-8E34-3949598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DINOv3与可训练压缩器提取视觉信息，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主配置每帧由598个tokens压为30个。</a:t>
            </a:r>
          </a:p>
        </p:txBody>
      </p:sp>
      <p:sp>
        <p:nvSpPr>
          <p:cNvPr id="11" name="page-22-03   重放选取的历史">
            <a:extLst xmlns:a="http://schemas.openxmlformats.org/drawingml/2006/main">
              <a:ext uri="{FF2B5EF4-FFF2-40B4-BE49-F238E27FC236}">
                <a16:creationId xmlns:a16="http://schemas.microsoft.com/office/drawing/2014/main" id="{F4387222-4AA0-4DBC-8C31-B7B5CEA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重放选取的历史</a:t>
            </a:r>
          </a:p>
        </p:txBody>
      </p:sp>
      <p:sp>
        <p:nvSpPr>
          <p:cNvPr id="12" name="page-22-将压缩图像、位姿文本及当前指令&#10;重新送入VLM，生成目标或前">
            <a:extLst xmlns:a="http://schemas.openxmlformats.org/drawingml/2006/main">
              <a:ext uri="{FF2B5EF4-FFF2-40B4-BE49-F238E27FC236}">
                <a16:creationId xmlns:a16="http://schemas.microsoft.com/office/drawing/2014/main" id="{077567DA-E984-4081-B098-4E07AE15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将压缩图像、位姿文本及当前指令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重新送入VLM，生成目标或前沿坐标。</a:t>
            </a:r>
          </a:p>
        </p:txBody>
      </p:sp>
      <p:sp>
        <p:nvSpPr>
          <p:cNvPr id="13" name="page-22-04   利用过去出现的目标">
            <a:extLst xmlns:a="http://schemas.openxmlformats.org/drawingml/2006/main">
              <a:ext uri="{FF2B5EF4-FFF2-40B4-BE49-F238E27FC236}">
                <a16:creationId xmlns:a16="http://schemas.microsoft.com/office/drawing/2014/main" id="{F1B03D7E-4981-4211-A2BB-877E578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利用过去出现的目标</a:t>
            </a:r>
          </a:p>
        </p:txBody>
      </p:sp>
      <p:sp>
        <p:nvSpPr>
          <p:cNvPr id="14" name="page-22-连续子任务保留环境状态与视觉经历。&#10;后续目标已出现时，利用历">
            <a:extLst xmlns:a="http://schemas.openxmlformats.org/drawingml/2006/main">
              <a:ext uri="{FF2B5EF4-FFF2-40B4-BE49-F238E27FC236}">
                <a16:creationId xmlns:a16="http://schemas.microsoft.com/office/drawing/2014/main" id="{B679F5BC-5675-4A69-8B7B-2E7B4DF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连续子任务保留环境状态与视觉经历。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后续目标已出现时，利用历史推断位置。</a:t>
            </a:r>
          </a:p>
        </p:txBody>
      </p:sp>
      <p:sp>
        <p:nvSpPr>
          <p:cNvPr id="15" name="page-22-source-note">
            <a:extLst xmlns:a="http://schemas.openxmlformats.org/drawingml/2006/main">
              <a:ext uri="{FF2B5EF4-FFF2-40B4-BE49-F238E27FC236}">
                <a16:creationId xmlns:a16="http://schemas.microsoft.com/office/drawing/2014/main" id="{E87BC276-30E0-4888-BC6F-A75904A0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来源：AstraNav-Memory，第3节，图2</a:t>
            </a:r>
          </a:p>
        </p:txBody>
      </p:sp>
      <p:sp>
        <p:nvSpPr>
          <p:cNvPr id="16" name="page-22-page-number">
            <a:extLst xmlns:a="http://schemas.openxmlformats.org/drawingml/2006/main">
              <a:ext uri="{FF2B5EF4-FFF2-40B4-BE49-F238E27FC236}">
                <a16:creationId xmlns:a16="http://schemas.microsoft.com/office/drawing/2014/main" id="{0CC806B8-C5B5-4F97-B0A2-D2B53092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52115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24-slide-title">
            <a:extLst xmlns:a="http://schemas.openxmlformats.org/drawingml/2006/main">
              <a:ext uri="{FF2B5EF4-FFF2-40B4-BE49-F238E27FC236}">
                <a16:creationId xmlns:a16="http://schemas.microsoft.com/office/drawing/2014/main" id="{EA18ED3A-C636-4FC6-A170-398AED93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JanusVLN：语义历史与流式几何缓存</a:t>
            </a:r>
          </a:p>
        </p:txBody>
      </p:sp>
      <p:sp>
        <p:nvSpPr>
          <p:cNvPr id="2" name="page-24-以跨步VGGT缓存增量读取几何历史，并融合语义决策">
            <a:extLst xmlns:a="http://schemas.openxmlformats.org/drawingml/2006/main">
              <a:ext uri="{FF2B5EF4-FFF2-40B4-BE49-F238E27FC236}">
                <a16:creationId xmlns:a16="http://schemas.microsoft.com/office/drawing/2014/main" id="{DB81DD00-88CA-4642-8E8D-83B8444B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以跨步VGGT缓存增量读取几何历史，并融合语义决策</a:t>
            </a:r>
          </a:p>
        </p:txBody>
      </p:sp>
      <p:sp>
        <p:nvSpPr>
          <p:cNvPr id="3" name="page-24-公开评测：几何缓存与语义图像重放">
            <a:extLst xmlns:a="http://schemas.openxmlformats.org/drawingml/2006/main">
              <a:ext uri="{FF2B5EF4-FFF2-40B4-BE49-F238E27FC236}">
                <a16:creationId xmlns:a16="http://schemas.microsoft.com/office/drawing/2014/main" id="{18509F44-01CB-4080-8C10-138A40DA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公开评测：几何缓存与语义图像重放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29883-AE37-44EE-ACCE-EC5EEA105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d8620fe8446a6"/>
          <a:stretch xmlns:a="http://schemas.openxmlformats.org/drawingml/2006/main"/>
        </p:blipFill>
        <p:spPr>
          <a:xfrm xmlns:a="http://schemas.openxmlformats.org/drawingml/2006/main">
            <a:off x="662390" y="2209800"/>
            <a:ext cx="5152221" cy="2876550"/>
          </a:xfrm>
          <a:prstGeom xmlns:a="http://schemas.openxmlformats.org/drawingml/2006/main" prst="rect">
            <a:avLst/>
          </a:prstGeom>
        </p:spPr>
      </p:pic>
      <p:sp>
        <p:nvSpPr>
          <p:cNvPr id="5" name="page-24-几何分支跨步保留VGGT的KV缓存。&#10;语义分支每步重放采样历">
            <a:extLst xmlns:a="http://schemas.openxmlformats.org/drawingml/2006/main">
              <a:ext uri="{FF2B5EF4-FFF2-40B4-BE49-F238E27FC236}">
                <a16:creationId xmlns:a16="http://schemas.microsoft.com/office/drawing/2014/main" id="{3497251A-0816-430D-815F-B0D54BB7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几何分支跨步保留VGGT的KV缓存。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语义分支每步重放采样历史，最多9张。</a:t>
            </a:r>
          </a:p>
        </p:txBody>
      </p:sp>
      <p:sp>
        <p:nvSpPr>
          <p:cNvPr id="6" name="page-24-两路历史采用不同的读取方式">
            <a:extLst xmlns:a="http://schemas.openxmlformats.org/drawingml/2006/main">
              <a:ext uri="{FF2B5EF4-FFF2-40B4-BE49-F238E27FC236}">
                <a16:creationId xmlns:a16="http://schemas.microsoft.com/office/drawing/2014/main" id="{9F461C26-7D62-4BB9-8B28-700ED191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两路历史采用不同的读取方式</a:t>
            </a:r>
          </a:p>
        </p:txBody>
      </p:sp>
      <p:sp>
        <p:nvSpPr>
          <p:cNvPr id="7" name="page-24-01   读取历史状态">
            <a:extLst xmlns:a="http://schemas.openxmlformats.org/drawingml/2006/main">
              <a:ext uri="{FF2B5EF4-FFF2-40B4-BE49-F238E27FC236}">
                <a16:creationId xmlns:a16="http://schemas.microsoft.com/office/drawing/2014/main" id="{64C71290-B37D-41EF-AD3D-08C32AB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读取历史状态</a:t>
            </a:r>
          </a:p>
        </p:txBody>
      </p:sp>
      <p:sp>
        <p:nvSpPr>
          <p:cNvPr id="8" name="page-24-当前RGB在VGGT中生成Query，&#10;读取历史及当前帧的K">
            <a:extLst xmlns:a="http://schemas.openxmlformats.org/drawingml/2006/main">
              <a:ext uri="{FF2B5EF4-FFF2-40B4-BE49-F238E27FC236}">
                <a16:creationId xmlns:a16="http://schemas.microsoft.com/office/drawing/2014/main" id="{01B5362A-169D-47BD-9199-064D7ADE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当前RGB在VGGT中生成Query，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读取历史及当前帧的Key与Value。</a:t>
            </a:r>
          </a:p>
        </p:txBody>
      </p:sp>
      <p:sp>
        <p:nvSpPr>
          <p:cNvPr id="9" name="page-24-02   写入当前观察">
            <a:extLst xmlns:a="http://schemas.openxmlformats.org/drawingml/2006/main">
              <a:ext uri="{FF2B5EF4-FFF2-40B4-BE49-F238E27FC236}">
                <a16:creationId xmlns:a16="http://schemas.microsoft.com/office/drawing/2014/main" id="{7FABC862-A9F4-4FF1-B8AE-DBA43FA7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写入当前观察</a:t>
            </a:r>
          </a:p>
        </p:txBody>
      </p:sp>
      <p:sp>
        <p:nvSpPr>
          <p:cNvPr id="10" name="page-24-为新帧计算几何表示并更新缓存，&#10;下一导航步继续读取已有几何信">
            <a:extLst xmlns:a="http://schemas.openxmlformats.org/drawingml/2006/main">
              <a:ext uri="{FF2B5EF4-FFF2-40B4-BE49-F238E27FC236}">
                <a16:creationId xmlns:a16="http://schemas.microsoft.com/office/drawing/2014/main" id="{08FBC18B-E496-44AA-8086-864E75FD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为新帧计算几何表示并更新缓存，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下一导航步继续读取已有几何信息。</a:t>
            </a:r>
          </a:p>
        </p:txBody>
      </p:sp>
      <p:sp>
        <p:nvSpPr>
          <p:cNvPr id="11" name="page-24-03   维护有限容量">
            <a:extLst xmlns:a="http://schemas.openxmlformats.org/drawingml/2006/main">
              <a:ext uri="{FF2B5EF4-FFF2-40B4-BE49-F238E27FC236}">
                <a16:creationId xmlns:a16="http://schemas.microsoft.com/office/drawing/2014/main" id="{96987566-D4A3-4AD6-A9F5-9BB580E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维护有限容量</a:t>
            </a:r>
          </a:p>
        </p:txBody>
      </p:sp>
      <p:sp>
        <p:nvSpPr>
          <p:cNvPr id="12" name="page-24-几何KV保留初始8帧与近期48帧，&#10;移除超出窗口的中间历史。">
            <a:extLst xmlns:a="http://schemas.openxmlformats.org/drawingml/2006/main">
              <a:ext uri="{FF2B5EF4-FFF2-40B4-BE49-F238E27FC236}">
                <a16:creationId xmlns:a16="http://schemas.microsoft.com/office/drawing/2014/main" id="{FB0C5F11-DB2A-4782-A942-E3EF4160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几何KV保留初始8帧与近期48帧，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移除超出窗口的中间历史。</a:t>
            </a:r>
          </a:p>
        </p:txBody>
      </p:sp>
      <p:sp>
        <p:nvSpPr>
          <p:cNvPr id="13" name="page-24-04   融合当前决策">
            <a:extLst xmlns:a="http://schemas.openxmlformats.org/drawingml/2006/main">
              <a:ext uri="{FF2B5EF4-FFF2-40B4-BE49-F238E27FC236}">
                <a16:creationId xmlns:a16="http://schemas.microsoft.com/office/drawing/2014/main" id="{C650D0CE-78FA-4138-8A82-12EC2A42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融合当前决策</a:t>
            </a:r>
          </a:p>
        </p:txBody>
      </p:sp>
      <p:sp>
        <p:nvSpPr>
          <p:cNvPr id="14" name="page-24-几何特征投影后与语义特征加权相加，&#10;连同指令生成前进、转向或">
            <a:extLst xmlns:a="http://schemas.openxmlformats.org/drawingml/2006/main">
              <a:ext uri="{FF2B5EF4-FFF2-40B4-BE49-F238E27FC236}">
                <a16:creationId xmlns:a16="http://schemas.microsoft.com/office/drawing/2014/main" id="{E1E33343-334A-4346-896B-49D3FB5B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几何特征投影后与语义特征加权相加，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连同指令生成前进、转向或停止动作。</a:t>
            </a:r>
          </a:p>
        </p:txBody>
      </p:sp>
      <p:sp>
        <p:nvSpPr>
          <p:cNvPr id="15" name="page-24-source-note">
            <a:extLst xmlns:a="http://schemas.openxmlformats.org/drawingml/2006/main">
              <a:ext uri="{FF2B5EF4-FFF2-40B4-BE49-F238E27FC236}">
                <a16:creationId xmlns:a16="http://schemas.microsoft.com/office/drawing/2014/main" id="{BE62D3A3-811B-488B-954F-670831E2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来源：JanusVLN，第3.2–3.3节，图2及公开实现</a:t>
            </a:r>
          </a:p>
        </p:txBody>
      </p:sp>
      <p:sp>
        <p:nvSpPr>
          <p:cNvPr id="16" name="page-24-page-number">
            <a:extLst xmlns:a="http://schemas.openxmlformats.org/drawingml/2006/main">
              <a:ext uri="{FF2B5EF4-FFF2-40B4-BE49-F238E27FC236}">
                <a16:creationId xmlns:a16="http://schemas.microsoft.com/office/drawing/2014/main" id="{45910D59-9CEA-4DB3-8BE4-2074AB49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91436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28-slide-title">
            <a:extLst xmlns:a="http://schemas.openxmlformats.org/drawingml/2006/main">
              <a:ext uri="{FF2B5EF4-FFF2-40B4-BE49-F238E27FC236}">
                <a16:creationId xmlns:a16="http://schemas.microsoft.com/office/drawing/2014/main" id="{44A2CFE4-5719-4735-84EE-AE3F3727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OpenFrontier：在图像中评价探索方向</a:t>
            </a:r>
          </a:p>
        </p:txBody>
      </p:sp>
      <p:sp>
        <p:nvSpPr>
          <p:cNvPr id="2" name="page-28-结合语义相关性、未知空间收益与距离选择下一前沿">
            <a:extLst xmlns:a="http://schemas.openxmlformats.org/drawingml/2006/main">
              <a:ext uri="{FF2B5EF4-FFF2-40B4-BE49-F238E27FC236}">
                <a16:creationId xmlns:a16="http://schemas.microsoft.com/office/drawing/2014/main" id="{CCBF2D95-88F9-404C-8C1F-52521D4C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结合语义相关性、未知空间收益与距离选择下一前沿</a:t>
            </a:r>
          </a:p>
        </p:txBody>
      </p:sp>
      <p:sp>
        <p:nvSpPr>
          <p:cNvPr id="3" name="page-28-图像中的视觉前沿连接语义与导航">
            <a:extLst xmlns:a="http://schemas.openxmlformats.org/drawingml/2006/main">
              <a:ext uri="{FF2B5EF4-FFF2-40B4-BE49-F238E27FC236}">
                <a16:creationId xmlns:a16="http://schemas.microsoft.com/office/drawing/2014/main" id="{F96E7B65-D0B0-4751-B9BA-5CA2E915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图像中的视觉前沿连接语义与导航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05BE2-6973-4CD4-8CCA-0F9FDF16E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db4cf4ed34f93"/>
          <a:stretch xmlns:a="http://schemas.openxmlformats.org/drawingml/2006/main"/>
        </p:blipFill>
        <p:spPr>
          <a:xfrm xmlns:a="http://schemas.openxmlformats.org/drawingml/2006/main">
            <a:off x="609600" y="2809064"/>
            <a:ext cx="5257800" cy="1678021"/>
          </a:xfrm>
          <a:prstGeom xmlns:a="http://schemas.openxmlformats.org/drawingml/2006/main" prst="rect">
            <a:avLst/>
          </a:prstGeom>
        </p:spPr>
      </p:pic>
      <p:sp>
        <p:nvSpPr>
          <p:cNvPr id="5" name="page-28-FrontierNet提供探索收益先验。&#10;三维后端合并候选，">
            <a:extLst xmlns:a="http://schemas.openxmlformats.org/drawingml/2006/main">
              <a:ext uri="{FF2B5EF4-FFF2-40B4-BE49-F238E27FC236}">
                <a16:creationId xmlns:a16="http://schemas.microsoft.com/office/drawing/2014/main" id="{5E680A0A-4A12-4DAE-896D-9766A38F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FrontierNet提供探索收益先验。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三维后端合并候选，维护全局前沿位置。</a:t>
            </a:r>
          </a:p>
        </p:txBody>
      </p:sp>
      <p:sp>
        <p:nvSpPr>
          <p:cNvPr id="6" name="page-28-VLM评价方向，执行器完成移动">
            <a:extLst xmlns:a="http://schemas.openxmlformats.org/drawingml/2006/main">
              <a:ext uri="{FF2B5EF4-FFF2-40B4-BE49-F238E27FC236}">
                <a16:creationId xmlns:a16="http://schemas.microsoft.com/office/drawing/2014/main" id="{D97C9A76-999A-45AD-8D84-E4ECAAAF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VLM评价方向，执行器完成移动</a:t>
            </a:r>
          </a:p>
        </p:txBody>
      </p:sp>
      <p:sp>
        <p:nvSpPr>
          <p:cNvPr id="7" name="page-28-01   产生探索候选">
            <a:extLst xmlns:a="http://schemas.openxmlformats.org/drawingml/2006/main">
              <a:ext uri="{FF2B5EF4-FFF2-40B4-BE49-F238E27FC236}">
                <a16:creationId xmlns:a16="http://schemas.microsoft.com/office/drawing/2014/main" id="{FE9C6C8E-1376-4CA0-8A2F-162B3C60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产生探索候选</a:t>
            </a:r>
          </a:p>
        </p:txBody>
      </p:sp>
      <p:sp>
        <p:nvSpPr>
          <p:cNvPr id="8" name="page-28-FrontierNet在关键帧中检测视觉前沿，&#10;借助深度与位">
            <a:extLst xmlns:a="http://schemas.openxmlformats.org/drawingml/2006/main">
              <a:ext uri="{FF2B5EF4-FFF2-40B4-BE49-F238E27FC236}">
                <a16:creationId xmlns:a16="http://schemas.microsoft.com/office/drawing/2014/main" id="{6F76B786-4048-48CE-97FA-5F76F31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FrontierNet在关键帧中检测视觉前沿，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借助深度与位姿将候选定位到三维。</a:t>
            </a:r>
          </a:p>
        </p:txBody>
      </p:sp>
      <p:sp>
        <p:nvSpPr>
          <p:cNvPr id="9" name="page-28-02   评价目标相关性">
            <a:extLst xmlns:a="http://schemas.openxmlformats.org/drawingml/2006/main">
              <a:ext uri="{FF2B5EF4-FFF2-40B4-BE49-F238E27FC236}">
                <a16:creationId xmlns:a16="http://schemas.microsoft.com/office/drawing/2014/main" id="{81400873-6048-4A8B-B9D8-F05AE1E7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评价目标相关性</a:t>
            </a:r>
          </a:p>
        </p:txBody>
      </p:sp>
      <p:sp>
        <p:nvSpPr>
          <p:cNvPr id="10" name="page-28-在RGB图像中标记各个前沿，&#10;VLM结合周围场景给出目标相关">
            <a:extLst xmlns:a="http://schemas.openxmlformats.org/drawingml/2006/main">
              <a:ext uri="{FF2B5EF4-FFF2-40B4-BE49-F238E27FC236}">
                <a16:creationId xmlns:a16="http://schemas.microsoft.com/office/drawing/2014/main" id="{EF587FDA-C360-417E-9E03-0338F83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在RGB图像中标记各个前沿，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VLM结合周围场景给出目标相关概率。</a:t>
            </a:r>
          </a:p>
        </p:txBody>
      </p:sp>
      <p:sp>
        <p:nvSpPr>
          <p:cNvPr id="11" name="page-28-03   权衡收益与代价">
            <a:extLst xmlns:a="http://schemas.openxmlformats.org/drawingml/2006/main">
              <a:ext uri="{FF2B5EF4-FFF2-40B4-BE49-F238E27FC236}">
                <a16:creationId xmlns:a16="http://schemas.microsoft.com/office/drawing/2014/main" id="{8F7801BE-ECF5-4DC0-A93F-E377A8F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权衡收益与代价</a:t>
            </a:r>
          </a:p>
        </p:txBody>
      </p:sp>
      <p:sp>
        <p:nvSpPr>
          <p:cNvPr id="12" name="page-28-将目标相关概率乘以预计信息增益，&#10;再考虑到达距离，选择效用较">
            <a:extLst xmlns:a="http://schemas.openxmlformats.org/drawingml/2006/main">
              <a:ext uri="{FF2B5EF4-FFF2-40B4-BE49-F238E27FC236}">
                <a16:creationId xmlns:a16="http://schemas.microsoft.com/office/drawing/2014/main" id="{1D8924AD-9A10-41DE-B378-BB66BCA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将目标相关概率乘以预计信息增益，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再考虑到达距离，选择效用较高的前沿。</a:t>
            </a:r>
          </a:p>
        </p:txBody>
      </p:sp>
      <p:sp>
        <p:nvSpPr>
          <p:cNvPr id="13" name="page-28-04   移动后更新与核验">
            <a:extLst xmlns:a="http://schemas.openxmlformats.org/drawingml/2006/main">
              <a:ext uri="{FF2B5EF4-FFF2-40B4-BE49-F238E27FC236}">
                <a16:creationId xmlns:a16="http://schemas.microsoft.com/office/drawing/2014/main" id="{F4E42110-EBED-45B0-8893-F1F4CE9A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移动后更新与核验</a:t>
            </a:r>
          </a:p>
        </p:txBody>
      </p:sp>
      <p:sp>
        <p:nvSpPr>
          <p:cNvPr id="14" name="page-28-执行后合并、清理全局前沿候选。&#10;发现疑似目标后前往观察位姿，">
            <a:extLst xmlns:a="http://schemas.openxmlformats.org/drawingml/2006/main">
              <a:ext uri="{FF2B5EF4-FFF2-40B4-BE49-F238E27FC236}">
                <a16:creationId xmlns:a16="http://schemas.microsoft.com/office/drawing/2014/main" id="{F6F6BA74-EBE0-4769-9456-160B753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执行后合并、清理全局前沿候选。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发现疑似目标后前往观察位姿，再核验。</a:t>
            </a:r>
          </a:p>
        </p:txBody>
      </p:sp>
      <p:sp>
        <p:nvSpPr>
          <p:cNvPr id="15" name="page-28-source-note">
            <a:extLst xmlns:a="http://schemas.openxmlformats.org/drawingml/2006/main">
              <a:ext uri="{FF2B5EF4-FFF2-40B4-BE49-F238E27FC236}">
                <a16:creationId xmlns:a16="http://schemas.microsoft.com/office/drawing/2014/main" id="{72F84EDA-790A-42CE-A8BD-C0CA3F56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来源：OpenFrontier，第III节，图2及算法1</a:t>
            </a:r>
          </a:p>
        </p:txBody>
      </p:sp>
      <p:sp>
        <p:nvSpPr>
          <p:cNvPr id="16" name="page-28-page-number">
            <a:extLst xmlns:a="http://schemas.openxmlformats.org/drawingml/2006/main">
              <a:ext uri="{FF2B5EF4-FFF2-40B4-BE49-F238E27FC236}">
                <a16:creationId xmlns:a16="http://schemas.microsoft.com/office/drawing/2014/main" id="{FE5069AA-8F60-4C90-A32E-09F7B2ED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55032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32-slide-title">
            <a:extLst xmlns:a="http://schemas.openxmlformats.org/drawingml/2006/main">
              <a:ext uri="{FF2B5EF4-FFF2-40B4-BE49-F238E27FC236}">
                <a16:creationId xmlns:a16="http://schemas.microsoft.com/office/drawing/2014/main" id="{38E97C66-6311-4E8C-89F4-9149E1D1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OVSegDT：目标掩码怎样进入策略</a:t>
            </a:r>
          </a:p>
        </p:txBody>
      </p:sp>
      <p:sp>
        <p:nvSpPr>
          <p:cNvPr id="2" name="page-32-以目标掩码提供空间线索，结合示范监督与奖励优化">
            <a:extLst xmlns:a="http://schemas.openxmlformats.org/drawingml/2006/main">
              <a:ext uri="{FF2B5EF4-FFF2-40B4-BE49-F238E27FC236}">
                <a16:creationId xmlns:a16="http://schemas.microsoft.com/office/drawing/2014/main" id="{B0C1334B-37C9-4D39-8685-A365A03C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以目标掩码提供空间线索，结合示范监督与奖励优化</a:t>
            </a:r>
          </a:p>
        </p:txBody>
      </p:sp>
      <p:sp>
        <p:nvSpPr>
          <p:cNvPr id="3" name="page-32-掩码条件策略与辅助分割监督">
            <a:extLst xmlns:a="http://schemas.openxmlformats.org/drawingml/2006/main">
              <a:ext uri="{FF2B5EF4-FFF2-40B4-BE49-F238E27FC236}">
                <a16:creationId xmlns:a16="http://schemas.microsoft.com/office/drawing/2014/main" id="{26B5EB3B-6A62-4787-BAA8-040A985F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掩码条件策略与辅助分割监督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829DF-8D31-4E00-BF2A-C75AC767E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0092a45cf4eb3"/>
          <a:stretch xmlns:a="http://schemas.openxmlformats.org/drawingml/2006/main"/>
        </p:blipFill>
        <p:spPr>
          <a:xfrm xmlns:a="http://schemas.openxmlformats.org/drawingml/2006/main">
            <a:off x="1254896" y="2133600"/>
            <a:ext cx="3967209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page-32-Transformer读取最近100步的输入。&#10;动作头输出策">
            <a:extLst xmlns:a="http://schemas.openxmlformats.org/drawingml/2006/main">
              <a:ext uri="{FF2B5EF4-FFF2-40B4-BE49-F238E27FC236}">
                <a16:creationId xmlns:a16="http://schemas.microsoft.com/office/drawing/2014/main" id="{9D5EB7DE-D799-4867-A576-36EDB861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Transformer读取最近100步的输入。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动作头输出策略，价值头支持奖励优化。</a:t>
            </a:r>
          </a:p>
        </p:txBody>
      </p:sp>
      <p:sp>
        <p:nvSpPr>
          <p:cNvPr id="6" name="page-32-分割头重建掩码，提供训练辅助监督">
            <a:extLst xmlns:a="http://schemas.openxmlformats.org/drawingml/2006/main">
              <a:ext uri="{FF2B5EF4-FFF2-40B4-BE49-F238E27FC236}">
                <a16:creationId xmlns:a16="http://schemas.microsoft.com/office/drawing/2014/main" id="{DD92355E-2E76-42F7-B6A0-94A45575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分割头重建掩码，提供训练辅助监督</a:t>
            </a:r>
          </a:p>
        </p:txBody>
      </p:sp>
      <p:sp>
        <p:nvSpPr>
          <p:cNvPr id="7" name="page-32-01   从示范学习决策">
            <a:extLst xmlns:a="http://schemas.openxmlformats.org/drawingml/2006/main">
              <a:ext uri="{FF2B5EF4-FFF2-40B4-BE49-F238E27FC236}">
                <a16:creationId xmlns:a16="http://schemas.microsoft.com/office/drawing/2014/main" id="{90DDBA82-6A6E-4C74-849B-EB2711CC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从示范学习决策</a:t>
            </a:r>
          </a:p>
        </p:txBody>
      </p:sp>
      <p:sp>
        <p:nvSpPr>
          <p:cNvPr id="8" name="page-32-输入RGB、目标文本、上一动作及掩码，&#10;通过BC学习专家动作">
            <a:extLst xmlns:a="http://schemas.openxmlformats.org/drawingml/2006/main">
              <a:ext uri="{FF2B5EF4-FFF2-40B4-BE49-F238E27FC236}">
                <a16:creationId xmlns:a16="http://schemas.microsoft.com/office/drawing/2014/main" id="{63154530-694C-4F06-8B7F-3837F76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输入RGB、目标文本、上一动作及掩码，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通过BC学习专家动作与初始导航能力。</a:t>
            </a:r>
          </a:p>
        </p:txBody>
      </p:sp>
      <p:sp>
        <p:nvSpPr>
          <p:cNvPr id="9" name="page-32-02   构建策略优化信号">
            <a:extLst xmlns:a="http://schemas.openxmlformats.org/drawingml/2006/main">
              <a:ext uri="{FF2B5EF4-FFF2-40B4-BE49-F238E27FC236}">
                <a16:creationId xmlns:a16="http://schemas.microsoft.com/office/drawing/2014/main" id="{70C6B945-E9CC-443D-9A7D-CAD744AA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构建策略优化信号</a:t>
            </a:r>
          </a:p>
        </p:txBody>
      </p:sp>
      <p:sp>
        <p:nvSpPr>
          <p:cNvPr id="10" name="page-32-导航奖励与语义奖励评价行动结果。&#10;价值头估计回报，辅助分割头">
            <a:extLst xmlns:a="http://schemas.openxmlformats.org/drawingml/2006/main">
              <a:ext uri="{FF2B5EF4-FFF2-40B4-BE49-F238E27FC236}">
                <a16:creationId xmlns:a16="http://schemas.microsoft.com/office/drawing/2014/main" id="{36FF123E-4AFF-4F73-A055-C89A02D7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导航奖励与语义奖励评价行动结果。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价值头估计回报，辅助分割头重建掩码。</a:t>
            </a:r>
          </a:p>
        </p:txBody>
      </p:sp>
      <p:sp>
        <p:nvSpPr>
          <p:cNvPr id="11" name="page-32-03   联合或分阶段优化">
            <a:extLst xmlns:a="http://schemas.openxmlformats.org/drawingml/2006/main">
              <a:ext uri="{FF2B5EF4-FFF2-40B4-BE49-F238E27FC236}">
                <a16:creationId xmlns:a16="http://schemas.microsoft.com/office/drawing/2014/main" id="{867A6E4F-B416-4B07-B850-F8470B9E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联合或分阶段优化</a:t>
            </a:r>
          </a:p>
        </p:txBody>
      </p:sp>
      <p:sp>
        <p:nvSpPr>
          <p:cNvPr id="12" name="page-32-EALM根据策略熵动态调整BC与PPO权重，&#10;同时加入辅助分">
            <a:extLst xmlns:a="http://schemas.openxmlformats.org/drawingml/2006/main">
              <a:ext uri="{FF2B5EF4-FFF2-40B4-BE49-F238E27FC236}">
                <a16:creationId xmlns:a16="http://schemas.microsoft.com/office/drawing/2014/main" id="{32F2B16A-98E6-4038-899D-D6CB469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007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EALM根据策略熵动态调整BC与PPO权重，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同时加入辅助分割损失。</a:t>
            </a:r>
          </a:p>
        </p:txBody>
      </p:sp>
      <p:sp>
        <p:nvSpPr>
          <p:cNvPr id="13" name="page-32-04   适应部署时的输入">
            <a:extLst xmlns:a="http://schemas.openxmlformats.org/drawingml/2006/main">
              <a:ext uri="{FF2B5EF4-FFF2-40B4-BE49-F238E27FC236}">
                <a16:creationId xmlns:a16="http://schemas.microsoft.com/office/drawing/2014/main" id="{00C461D8-5F3F-445C-8D64-FE35EA3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3397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适应部署时的输入</a:t>
            </a:r>
          </a:p>
        </p:txBody>
      </p:sp>
      <p:sp>
        <p:nvSpPr>
          <p:cNvPr id="14" name="page-32-真值掩码主训练后，改用YOLOE预测掩码&#10;微调策略，适应实际">
            <a:extLst xmlns:a="http://schemas.openxmlformats.org/drawingml/2006/main">
              <a:ext uri="{FF2B5EF4-FFF2-40B4-BE49-F238E27FC236}">
                <a16:creationId xmlns:a16="http://schemas.microsoft.com/office/drawing/2014/main" id="{9016CDA1-4D73-481E-84C2-3ACF37B1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648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真值掩码主训练后，改用YOLOE预测掩码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微调策略，适应实际感知中的错误。</a:t>
            </a:r>
          </a:p>
        </p:txBody>
      </p:sp>
      <p:sp>
        <p:nvSpPr>
          <p:cNvPr id="15" name="page-32-source-note">
            <a:extLst xmlns:a="http://schemas.openxmlformats.org/drawingml/2006/main">
              <a:ext uri="{FF2B5EF4-FFF2-40B4-BE49-F238E27FC236}">
                <a16:creationId xmlns:a16="http://schemas.microsoft.com/office/drawing/2014/main" id="{04350639-19F8-43B5-9978-E62811D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来源：OVSegDT，图2，第4.2–4.3节及训练设置</a:t>
            </a:r>
          </a:p>
        </p:txBody>
      </p:sp>
      <p:sp>
        <p:nvSpPr>
          <p:cNvPr id="16" name="page-32-page-number">
            <a:extLst xmlns:a="http://schemas.openxmlformats.org/drawingml/2006/main">
              <a:ext uri="{FF2B5EF4-FFF2-40B4-BE49-F238E27FC236}">
                <a16:creationId xmlns:a16="http://schemas.microsoft.com/office/drawing/2014/main" id="{8E9E517E-57FE-46A6-B23C-FEABDA6A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8883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2026-10-17T14:19:22.1530000Z</dcterms:created>
  <dcterms:modified xsi:type="dcterms:W3CDTF">2026-10-17T14:19:22.1530000Z</dcterms:modified>
</coreProperties>
</file>