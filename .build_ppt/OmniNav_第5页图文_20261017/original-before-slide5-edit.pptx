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报告依照最新版一级分支分类，先按论文主要贡献划分五个方向，再按可复用的方法机制归并为八类。重点解释每类如何处理输入、维护状态并形成决策，再用代表论文展示具体实现。方法类别可组合，一篇论文的主归属不排除其采用其他类别的组件。指标范围仅限已收录的十四篇方法论文，数据集和基准单列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组织架构关注职责和接口，环境表征关注空间信息怎样组织，历史记忆关注过去信息怎样保留与读取，探索与目标搜索关注未知目标出现前怎样选择位置，训练与优化关注策略从什么学习信号改进。二级分类概括可复用机制，而具体模型与算法是类内差异。图表按主要贡献列出论文。二维和三维属于表征属性，任务数量与训练算力另外记录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比较范围为本方向六篇已收录方法论文。OmniNav采用完整慢系统与CoT配置，MTU3D为物体与前沿统一决策。D3D-VLP的SG3D结果使用给定真实计划的评测设置，不能据此推断完整任务规划性能。两类组织机制可以组合，不以任务数、传感器或算力决定归类。</a:t>
            </a:r>
          </a:p>
          <a:p/>
          <a:p>
            <a:r>
              <a:t>arch_omni_U：OmniNav；HM3D-OVON / Val-Unseen；SR 59.2%，SPL 33.2%。E:\科研_机器人\HM3D-OVON\HM3D_OVON_Papers\05_视觉语言动作决策与视频记忆\2026_ICLR_OmniNav.pdf，PDF第8页，Table 2。协议：慢系统+CoT；RGB-D与里程计；1 m口径。</a:t>
            </a:r>
          </a:p>
          <a:p>
            <a:r>
              <a:t>arch_mtu_goat_U：MTU3D；GOAT-Bench / Val-Unseen；SR 47.2%，SPL 27.7%。E:\科研_机器人\HM3D-OVON\HM3D_OVON_Papers\04_三维空间表征与目标推理\2025_ICCV_MTU3D_Move_to_Understand_a_3D_Scene.pdf，PDF第7页，Table 5。协议：跨子任务记忆。</a:t>
            </a:r>
          </a:p>
          <a:p>
            <a:r>
              <a:t>arch_omni_r2r：OmniNav；R2R-CE / Val-Unseen；SR 69.5%，SPL 66.1%。E:\科研_机器人\HM3D-OVON\HM3D_OVON_Papers\05_视觉语言动作决策与视频记忆\2026_ICLR_OmniNav.pdf，PDF第8页，Table 1。协议：三视角快系统；不使用慢系统。</a:t>
            </a:r>
          </a:p>
          <a:p>
            <a:r>
              <a:t>arch_omni_rxr：OmniNav；RxR-CE / Val-Unseen；SR 73.6%，SPL 62%。E:\科研_机器人\HM3D-OVON\HM3D_OVON_Papers\05_视觉语言动作决策与视频记忆\2026_ICLR_OmniNav.pdf，PDF第8页，Table 1。协议：三视角快系统；不使用慢系统。</a:t>
            </a:r>
          </a:p>
          <a:p>
            <a:r>
              <a:t>arch_d3d_sg3d：D3D-VLP；SG3D-Nav / 导航任务；SR 33.7%，SPL 21.6%。E:\科研_机器人\HM3D-OVON\HM3D_OVON_Papers\04_三维空间表征与目标推理\2026_CVPR_D3D-VLP.pdf，PDF第7页，Table 3。协议：给定GT计划；s-SR=33.7；t-SR=13.8。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这一类的共同点是决策层与执行层通过明确接口协作。TANGO 先把请求组织成可解释的程序，再由解释器调用具体模块；SuperNav 更强调每轮查看工具返回的视觉与诊断信息，继续调用工具；OmniNav 则让慢系统选择空间子目标，快系统持续更新局部航点。它们都可以处理多种任务，因此“分层”不能等同于“单任务”。优势是可以复用成熟执行器，定位错误也较方便；局限是模块间可能存在坐标、语义和状态不一致，高层看到的证据也可能滞后。这里概括的是组织方式，不能据此推断训练算力必然较小。</a:t>
            </a:r>
          </a:p>
          <a:p/>
          <a:p>
            <a:r>
              <a:t>资料来源：</a:t>
            </a:r>
          </a:p>
          <a:p>
            <a:r>
              <a:t>E:\科研_机器人\HM3D-OVON\HM3D_OVON_Papers\03_大模型规划与工具调用\read-Tango.md</a:t>
            </a:r>
          </a:p>
          <a:p>
            <a:r>
              <a:t>E:\科研_机器人\HM3D-OVON\HM3D_OVON_Papers\03_大模型规划与工具调用\read-SuperNav.md</a:t>
            </a:r>
          </a:p>
          <a:p>
            <a:r>
              <a:t>E:\科研_机器人\HM3D-OVON\HM3D_OVON_Papers\05_视觉语言动作决策与视频记忆\read-OmniNav.md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OmniNav 说明了分层并不必然意味着使用两个独立大模型。它的快慢系统共享视觉语言骨干，区别主要在决策尺度与输出接口。慢系统利用任务、历史和空间候选判断下一步去哪，快系统把坐标子目标变成可执行的航点序列；航点还需要底层控制器转换成运动。论文两阶段训练分别处理离散输出与连续航点，不能解释成分别训练慢、快两个独立模型。报告效果时应区分纯视觉快系统和增加深度、里程计的完整系统；实机超过 5 Hz 的披露主要对应快系统，不能直接外推到完整快慢系统。该例强调子目标协作，不把成功归因于某一个模块。</a:t>
            </a:r>
          </a:p>
          <a:p/>
          <a:p>
            <a:r>
              <a:t>资料来源：</a:t>
            </a:r>
          </a:p>
          <a:p>
            <a:r>
              <a:t>E:\科研_机器人\HM3D-OVON\HM3D_OVON_Papers\05_视觉语言动作决策与视频记忆\read-OmniNav.md</a:t>
            </a:r>
          </a:p>
          <a:p>
            <a:r>
              <a:t>OmniNav §3，Fig.1，式(1)–(4)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这一类统一的对象并不相同。D3D-VLP 让规划、三维定位与导航处于同一自回归序列，并共享环境和进度记忆；Uni-NaVid 让视觉语言导航、物体导航、具身问答和人物跟随共用视频语言接口，通过标记切换动作或文字；MTU3D 则把已观察对象与待探索前沿一起打分，从而决定现在接近目标，还是继续找目标。这里的“统一”描述学习与决策接口，不能泛化为从传感器到电机的完全端到端系统。三者仍保留不同程度的执行模块。多任务训练和分层协作可以同时存在，一级归属依据论文最突出的主要贡献，而不是排除其他属性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E:\科研_机器人\HM3D-OVON\HM3D_OVON_Papers\04_三维空间表征与目标推理\read-D3D.md</a:t>
            </a:r>
          </a:p>
          <a:p>
            <a:r>
              <a:t>E:\科研_机器人\HM3D-OVON\HM3D_OVON_Papers\05_视觉语言动作决策与视频记忆\read-UniNavid.md</a:t>
            </a:r>
          </a:p>
          <a:p>
            <a:r>
              <a:t>E:\科研_机器人\HM3D-OVON\HM3D_OVON_Papers\04_三维空间表征与目标推理\read-MTU.md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D3D-VLP 的“统一”发生在决策链内部：模型不能只写一个与执行脱节的静态计划，还要结合三维证据定位目标并决定下一航点。执行以后，历史计划、已定位目标和经过的轨迹被重新放回上下文，因此后续决策可以感知任务进度。三维记忆与 CoT 记忆作用不同，前者描述环境，后者描述决策和进展。SLFS 使只有导航标注或只有定位标注的样本也能参与共享模型训练，但并不等于缺失的中间步骤都有真实标签。该方法仍需要候选航点与底层控制，三维建图或定位发生错误时，统一生成本身不能自动保证安全与正确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E:\科研_机器人\HM3D-OVON\HM3D_OVON_Papers\04_三维空间表征与目标推理\read-D3D.md</a:t>
            </a:r>
          </a:p>
          <a:p>
            <a:r>
              <a:t>D3D-VLP §3.1–3.3，Figs.2–3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张比较用于解释分类口径。分层协作关注系统内部如何分工，统一建模关注不同能力如何共享表示和训练，两者不是严格互斥的系统属性。把每篇文章放在一个主要分支，是为了讲清它最突出的研究贡献，并不意味着其他方法特征不存在。因此，OmniNav 虽然有统一多任务骨干，仍以快慢协作为这里的主线；MTU3D 虽然有独立规划器，仍以对象定位和探索统一为主线。二维与三维属于表征形式，算力属于资源条件，均应在相应页面单独注明，不能替代方法分类。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  <a:p>
            <a:r>
              <a:t>E:\科研_机器人\HM3D-OVON\HM3D_OVON_Papers\方法分类索引.md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arch_omni_S: OmniNav，HM3D-OVON / Val-Seen，SR=56.1%，SPL=30%。来源：E:\科研_机器人\HM3D-OVON\HM3D_OVON_Papers\05_视觉语言动作决策与视频记忆\2026_ICLR_OmniNav.pdf，PDF第8页，Table 2。协议：慢系统+CoT；RGB-D与里程计；1 m口径。</a:t>
            </a:r>
          </a:p>
          <a:p>
            <a:r>
              <a:t>arch_omni_Y: OmniNav，HM3D-OVON / Val-Seen-Synonyms，SR=68.6%，SPL=38.8%。来源：E:\科研_机器人\HM3D-OVON\HM3D_OVON_Papers\05_视觉语言动作决策与视频记忆\2026_ICLR_OmniNav.pdf，PDF第8页，Table 2。协议：慢系统+CoT；RGB-D与里程计；1 m口径。</a:t>
            </a:r>
          </a:p>
          <a:p>
            <a:r>
              <a:t>arch_omni_U: OmniNav，HM3D-OVON / Val-Unseen，SR=59.2%，SPL=33.2%。来源：E:\科研_机器人\HM3D-OVON\HM3D_OVON_Papers\05_视觉语言动作决策与视频记忆\2026_ICLR_OmniNav.pdf，PDF第8页，Table 2。协议：慢系统+CoT；RGB-D与里程计；1 m口径。</a:t>
            </a:r>
          </a:p>
          <a:p>
            <a:r>
              <a:t>arch_mtu_goat_S: MTU3D，GOAT-Bench / Val-Seen，SR=52.2%，SPL=30.5%。来源：E:\科研_机器人\HM3D-OVON\HM3D_OVON_Papers\04_三维空间表征与目标推理\2025_ICCV_MTU3D_Move_to_Understand_a_3D_Scene.pdf，PDF第7页，Table 5。协议：跨子任务记忆。</a:t>
            </a:r>
          </a:p>
          <a:p>
            <a:r>
              <a:t>arch_mtu_goat_Y: MTU3D，GOAT-Bench / Val-Seen-Synonyms，SR=48.4%，SPL=30.3%。来源：E:\科研_机器人\HM3D-OVON\HM3D_OVON_Papers\04_三维空间表征与目标推理\2025_ICCV_MTU3D_Move_to_Understand_a_3D_Scene.pdf，PDF第7页，Table 5。协议：跨子任务记忆。</a:t>
            </a:r>
          </a:p>
          <a:p>
            <a:r>
              <a:t>arch_mtu_goat_U: MTU3D，GOAT-Bench / Val-Unseen，SR=47.2%，SPL=27.7%。来源：E:\科研_机器人\HM3D-OVON\HM3D_OVON_Papers\04_三维空间表征与目标推理\2025_ICCV_MTU3D_Move_to_Understand_a_3D_Scene.pdf，PDF第7页，Table 5。协议：跨子任务记忆。</a:t>
            </a:r>
          </a:p>
          <a:p>
            <a:r>
              <a:t>arch_uni_obj: Uni-NaVid，HM3D ObjectNav / Val，SR=73.7%，SPL=37.1%。来源：E:\科研_机器人\HM3D-OVON\HM3D_OVON_Papers\05_视觉语言动作决策与视频记忆\2025_RSS_Uni-NaVid.pdf，PDF第8页，Table IV。协议：原论文验证集；单RGB；与SuperNav重评协议分列。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OmniNav是三视角快系统。D3D-VLP的SG3D给定真实计划文本，表中SR分子任务和整任务，SPL取原导航统计。Uni-NaVid人物跟随无SPL。非导航评测包括：TANGO OpenEQA Score=37.2±1.8；MTU3D辅助GPT-4o的A-EQA LLM-SR=51.1、LLM-SPL=42.6；Uni-NaVid MP3D-EQA自主导航ACC=47.3。OmniNav CityWalker MAOE=11.53%。这些指标不能替代普通导航SR/SPL。</a:t>
            </a:r>
          </a:p>
          <a:p/>
          <a:p>
            <a:r>
              <a:t>新增性能数据说明：OmniNav是三视角快系统。D3D-VLP的SG3D给定真实计划文本，表中SR分子任务和整任务，SPL取原导航统计。Uni-NaVid人物跟随无SPL。非导航评测包括：TANGO OpenEQA Score=37.2±1.8；MTU3D辅助GPT-4o的A-EQA LLM-SR=51.1、LLM-SPL=42.6；Uni-NaVid MP3D-EQA自主导航ACC=47.3。OmniNav CityWalker MAOE=11.53%。这些指标不能替代普通导航SR/SPL。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arch_omni_r2r: OmniNav，R2R-CE / Val-Unseen，SR=69.5%，SPL=66.1%。来源：E:\科研_机器人\HM3D-OVON\HM3D_OVON_Papers\05_视觉语言动作决策与视频记忆\2026_ICLR_OmniNav.pdf，PDF第8页，Table 1。协议：三视角快系统；不使用慢系统。</a:t>
            </a:r>
          </a:p>
          <a:p>
            <a:r>
              <a:t>arch_omni_rxr: OmniNav，RxR-CE / Val-Unseen，SR=73.6%，SPL=62%。来源：E:\科研_机器人\HM3D-OVON\HM3D_OVON_Papers\05_视觉语言动作决策与视频记忆\2026_ICLR_OmniNav.pdf，PDF第8页，Table 1。协议：三视角快系统；不使用慢系统。</a:t>
            </a:r>
          </a:p>
          <a:p>
            <a:r>
              <a:t>arch_d3d_reverie: D3D-VLP，REVERIE-CE / 论文验证设置，SR=47.5%，SPL=34.7%。来源：E:\科研_机器人\HM3D-OVON\HM3D_OVON_Papers\04_三维空间表征与目标推理\2026_CVPR_D3D-VLP.pdf，PDF第7页，Table 2。协议：单摄像头RGB-D流与位姿。</a:t>
            </a:r>
          </a:p>
          <a:p>
            <a:r>
              <a:t>arch_d3d_navrag: D3D-VLP，NavRAG-CE / 论文验证设置，SR=31.1%，SPL=23.9%。来源：E:\科研_机器人\HM3D-OVON\HM3D_OVON_Papers\04_三维空间表征与目标推理\2026_CVPR_D3D-VLP.pdf，PDF第7页，Table 2。协议：单摄像头RGB-D流与位姿。</a:t>
            </a:r>
          </a:p>
          <a:p>
            <a:r>
              <a:t>arch_d3d_sg3d: D3D-VLP，SG3D-Nav / 导航任务，SR=33.7%，SPL=21.6%。来源：E:\科研_机器人\HM3D-OVON\HM3D_OVON_Papers\04_三维空间表征与目标推理\2026_CVPR_D3D-VLP.pdf，PDF第7页，Table 3。协议：给定GT计划；s-SR=33.7；t-SR=13.8。</a:t>
            </a:r>
          </a:p>
          <a:p>
            <a:r>
              <a:t>arch_uni_follow: Uni-NaVid，自建人物跟随 / 默认验证配置，SR=61.21%，SPL=未报告%。来源：E:\科研_机器人\HM3D-OVON\HM3D_OVON_Papers\05_视觉语言动作决策与视频记忆\2025_RSS_Uni-NaVid.pdf，PDF第9页，Table VII。协议：无SPL；FR=71.93%，CR=2.07%。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super_ovon025: SuperNav，HM3D-OVON / Val-Unseen 120子集，0.25 m，SR=68.33%，SPL=38.37%。来源：E:\科研_机器人\HM3D-OVON\HM3D_OVON_Papers\03_大模型规划与工具调用\SuperNav.pdf，PDF第8页，Table 2。协议：Geo执行器；GPT-5.6 Terra high；到目标视点的测地距离。原SPL乘100转换为百分制</a:t>
            </a:r>
          </a:p>
          <a:p>
            <a:r>
              <a:t>super_ovon1: SuperNav，HM3D-OVON / Val-Unseen 120子集，1 m，SR=73.33%，SPL=41.05%。来源：E:\科研_机器人\HM3D-OVON\HM3D_OVON_Papers\03_大模型规划与工具调用\SuperNav.pdf，PDF第8页，Table 2。协议：Geo执行器；GPT-5.6 Terra high；到目标视点的测地距离。原SPL乘100转换为百分制</a:t>
            </a:r>
          </a:p>
          <a:p>
            <a:r>
              <a:t>super_astra025: SuperNav，HM3D-OVON / 120子集，0.25 m；模型替换，SR=71.67%，SPL=45.79%。来源：E:\科研_机器人\HM3D-OVON\HM3D_OVON_Papers\03_大模型规划与工具调用\SuperNav.pdf，PDF第8页，Table 3。协议：GPT-6 Astra medium；模型配置变体，不混入主结果排行。原SPL乘100转换为百分制</a:t>
            </a:r>
          </a:p>
          <a:p>
            <a:r>
              <a:t>super_astra1: SuperNav，HM3D-OVON / 120子集，1 m；模型替换，SR=79.17%，SPL=49.74%。来源：E:\科研_机器人\HM3D-OVON\HM3D_OVON_Papers\03_大模型规划与工具调用\SuperNav.pdf，PDF第8页，Table 3。协议：GPT-6 Astra medium；模型配置变体，不混入主结果排行。原SPL乘100转换为百分制</a:t>
            </a:r>
          </a:p>
          <a:p>
            <a:r>
              <a:t>super_hm302: SuperNav，HM3Dv2 ObjectNav / 1000 episodes，0.2 m，SR=80.3%，SPL=33.38%。来源：E:\科研_机器人\HM3D-OVON\HM3D_OVON_Papers\03_大模型规划与工具调用\SuperNav.pdf，PDF第8页，Table 2。协议：Geo执行器；到目标视点测地距离。原SPL乘100转换为百分制</a:t>
            </a:r>
          </a:p>
          <a:p>
            <a:r>
              <a:t>super_hm31: SuperNav，HM3Dv2 ObjectNav / 1000 episodes，1 m，SR=86.5%，SPL=36.38%。来源：E:\科研_机器人\HM3D-OVON\HM3D_OVON_Papers\03_大模型规划与工具调用\SuperNav.pdf，PDF第8页，Table 2。协议：Geo执行器；到目标视点测地距离。原SPL乘100转换为百分制</a:t>
            </a:r>
          </a:p>
          <a:p>
            <a:r>
              <a:t>super_single: SuperNav，Habitat-GS / InteriorGS / 单目标，150 tasks，SR=78%，SPL=41.27%。来源：E:\科研_机器人\HM3D-OVON\HM3D_OVON_Papers\03_大模型规划与工具调用\SuperNav.pdf，PDF第6页，Table 1。协议：Geo执行器；距合格目标视点&lt;1 m，需STOP。原SPL乘100转换为百分制</a:t>
            </a:r>
          </a:p>
          <a:p>
            <a:r>
              <a:t>super_multi: SuperNav，Habitat-GS / InteriorGS / 顺序多目标，150 tasks，SR=34%，SPL=13.88%。来源：E:\科研_机器人\HM3D-OVON\HM3D_OVON_Papers\03_大模型规划与工具调用\SuperNav.pdf，PDF第6页，Table 1。协议：Geo执行器；2–5目标全部成功，需STOP。原SPL乘100转换为百分制</a:t>
            </a:r>
          </a:p>
          <a:p>
            <a:r>
              <a:t>super_demand: SuperNav，Demand-Bench / AI2-THOR / 需求驱动，200 tasks，SR=59.5%，SPL=18.01%。来源：E:\科研_机器人\HM3D-OVON\HM3D_OVON_Papers\03_大模型规划与工具调用\SuperNav.pdf，PDF第6页，Table 1。协议：改编协议；进入顺序2 m包围盒区域，需STOP。原SPL乘100转换为百分制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SoftNav GOAT每划分30 episodes，MSGNav为360 episodes与2669子任务。较高SR与SPL来自不同报告，必须保留各自完整结果对。SoftNav三维特征输入与二维坐标输出属于不同处理阶段。显式对象身份和连续向量可以同时存在。</a:t>
            </a:r>
          </a:p>
          <a:p/>
          <a:p>
            <a:r>
              <a:t>env_soft_ovon_U：SoftNav；HM3D-OVON / Val-Unseen；SR 66.7%，SPL 25.7%。E:\科研_机器人\HM3D-OVON\HM3D_OVON_Papers\04_三维空间表征与目标推理\2607.14586v1.pdf，PDF第5页，Table II。协议：每划分120 episodes；0.25 m；RGB-D+位姿。</a:t>
            </a:r>
          </a:p>
          <a:p>
            <a:r>
              <a:t>env_soft_goat_U：SoftNav；GOAT-Bench / Val-Unseen；SR 64.2%，SPL 24.7%。E:\科研_机器人\HM3D-OVON\HM3D_OVON_Papers\04_三维空间表征与目标推理\2607.14586v1.pdf，PDF第5页，Table III。协议：每划分30 episodes；0.25 m；OVON策略零样本迁移。</a:t>
            </a:r>
          </a:p>
          <a:p>
            <a:r>
              <a:t>env_msg_goat：MSGNav；GOAT-Bench / Val-Unseen；SR 52%，SPL 29.6%。E:\科研_机器人\HM3D-OVON\HM3D_OVON_Papers\04_三维空间表征与目标推理\2026_CVPR_MSGNav.pdf，PDF第7页，Table 1。协议：360 episodes / 2669子任务；0.25 m；与SoftNav子集不同。</a:t>
            </a:r>
          </a:p>
          <a:p>
            <a:r>
              <a:t>env_msg_hm3d：MSGNav；HM3D-ObjNav / Val，6类别；SR 74.1%，SPL 33.4%。E:\科研_机器人\HM3D-OVON\HM3D_OVON_Papers\04_三维空间表征与目标推理\2026_CVPR_MSGNav.pdf，PDF第7页，Table 2。协议：1000 episodes；1 m；RGB-D+位姿。</a:t>
            </a:r>
          </a:p>
          <a:p>
            <a:r>
              <a:t>env_soft_sg3d：SoftNav；SG3D / 338 episodes / 1351子任务；SR 47.2%，SPL 14.7%。E:\科研_机器人\HM3D-OVON\HM3D_OVON_Papers\04_三维空间表征与目标推理\2607.14586v1.pdf，PDF第5页，Table IV。协议：s-SR=47.2；t-SR=16.6。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按信息怎样保存和读取分类，而不是按相机输入或算力分类。显式表示给空间单元或物体建立可查询的记录：格子可以存占据状态和语义价值，物体节点可以存坐标、类别与图像证据。多帧观测需要先对齐并合并，随后根据当前目标读取有关区域。它适合跨任务复用与解释失败原因，但感知漏检、位姿偏差和错误匹配也会进入后续决策。二维和三维是这一范式的不同空间实现；RGB 图像输入并不能据此判定方法属于二维。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E:\科研_机器人\HM3D-OVON\HM3D_OVON_Papers\04_三维空间表征与目标推理\read-MSGNav.md</a:t>
            </a:r>
          </a:p>
          <a:p>
            <a:r>
              <a:t>E:\科研_机器人\HM3D-OVON\HM3D_OVON_Papers\方法分类索引.md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MSGNav 的关键不是简单给物体画一张关系图，而是用三维物体对组织共同观测图像。建边时不需要反复调用大模型生成关系文字，关系的视觉细节仍留在图像中。查询时，先把图压成简要邻接信息，再让模型聚焦目标相关物体，最后选取少量能覆盖相关关系的图像。模型依据这些证据选择目标或下一探索位置。找到物体之后，系统还要选择看得清目标的站位，避免只走到一个距离近、却被遮挡的位置。建图质量仍然决定后续查询的上限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E:\科研_机器人\HM3D-OVON\HM3D_OVON_Papers\04_三维空间表征与目标推理\read-MSGNav.md</a:t>
            </a:r>
          </a:p>
          <a:p>
            <a:r>
              <a:t>MSGNav §3.2–3.3，Fig.3，Algorithm 1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这一类改变的是空间信息进入决策模型的形式。纯文字描述往往只保留物体类别、坐标等少量属性，连续特征则能携带外观、几何及周围上下文。不同论文可以沿用这一共性，却采用不同接口：MTU3D 给对象和前沿统一评分，SoftNav 将三维向量投影成语言模型可读取的 tokens，D3D-VLP 使用多层三维 tokens 联合定位与导航。不要把它与显式地图机械对立：对象仍可以有明确坐标和身份，只是额外携带学习到的向量。代价是特征较难解释，也依赖预训练与数据覆盖。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E:\科研_机器人\HM3D-OVON\HM3D_OVON_Papers\04_三维空间表征与目标推理\read-SoftNav.md</a:t>
            </a:r>
          </a:p>
          <a:p>
            <a:r>
              <a:t>E:\科研_机器人\HM3D-OVON\HM3D_OVON_Papers\04_三维空间表征与目标推理\read-MTU.md</a:t>
            </a:r>
          </a:p>
          <a:p>
            <a:r>
              <a:t>E:\科研_机器人\HM3D-OVON\HM3D_OVON_Papers\04_三维空间表征与目标推理\read-D3D.md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SoftNav 可以用来说明空间信息怎样进入语言模型。后端沿用 MTU3D 适配的三维感知系统，形成对象和前沿的向量；新增接口是一个小型投影器，将这些向量变成 VLM 的输入 embedding。VLM 同时读取近期视觉历史与任务文本，生成下一位置。坐标还需吸附到合法前沿，才交给执行器。因此三维表示、融合推理和二维移动位置属于不同环节。训练冻结主要基础权重，学习投影器与 LoRA；该接口节省了文字化表达步骤，但不能消除后端漏检或候选缺失带来的错误。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E:\科研_机器人\HM3D-OVON\HM3D_OVON_Papers\04_三维空间表征与目标推理\read-SoftNav.md</a:t>
            </a:r>
          </a:p>
          <a:p>
            <a:r>
              <a:t>SoftNav §III，Fig.2上半部分，Table 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SoftNav 可以用来说明空间信息怎样进入语言模型。后端沿用 MTU3D 适配的三维感知系统，形成对象和前沿的向量；新增接口是一个小型投影器，将这些向量变成 VLM 的输入 embedding。VLM 同时读取近期视觉历史与任务文本，生成下一位置。坐标还需吸附到合法前沿，才交给执行器。因此三维表示、融合推理和二维移动位置属于不同环节。训练冻结主要基础权重，学习投影器与 LoRA；该接口节省了文字化表达步骤，但不能消除后端漏检或候选缺失带来的错误。</a:t>
            </a:r>
          </a:p>
          <a:p/>
          <a:p>
            <a:r>
              <a:t>本页延续上一页的特征编码，展示三类输入的联合注意力与最终前沿执行。模型输入包含视觉历史、三维实体soft tokens和任务文本；生成的坐标需要通过几何约束转成合法前沿。图中二维执行平面与三维感知信息处在不同处理阶段。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E:\科研_机器人\HM3D-OVON\HM3D_OVON_Papers\04_三维空间表征与目标推理\read-SoftNav.md</a:t>
            </a:r>
          </a:p>
          <a:p>
            <a:r>
              <a:t>SoftNav §III，Fig.2下半部分，Algorithm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本表给出本分支已报告的最优主结果。MSGNav的OVON补充材料在阅读笔记中转引Seen=48.3/27.0，本次未重新获取补充PDF，因此不以该转引值参与新表排名。不能使用旧arXiv版的HM3D-OVON结果替换CVPR版结果。</a:t>
            </a:r>
          </a:p>
          <a:p/>
          <a:p>
            <a:r>
              <a:t>新增性能数据说明：本表给出本分支已报告的最优主结果。MSGNav的OVON补充材料在阅读笔记中转引Seen=48.3/27.0，本次未重新获取补充PDF，因此不以该转引值参与新表排名。不能使用旧arXiv版的HM3D-OVON结果替换CVPR版结果。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env_soft_ovon_S: SoftNav，HM3D-OVON / Val-Seen，SR=74.2%，SPL=33.9%。来源：E:\科研_机器人\HM3D-OVON\HM3D_OVON_Papers\04_三维空间表征与目标推理\2607.14586v1.pdf，PDF第5页，Table II。协议：每划分120 episodes；0.25 m；RGB-D+位姿。</a:t>
            </a:r>
          </a:p>
          <a:p>
            <a:r>
              <a:t>env_soft_ovon_Y: SoftNav，HM3D-OVON / Val-Seen-Synonyms，SR=68.3%，SPL=28.6%。来源：E:\科研_机器人\HM3D-OVON\HM3D_OVON_Papers\04_三维空间表征与目标推理\2607.14586v1.pdf，PDF第5页，Table II。协议：每划分120 episodes；0.25 m；RGB-D+位姿。</a:t>
            </a:r>
          </a:p>
          <a:p>
            <a:r>
              <a:t>env_soft_ovon_U: SoftNav，HM3D-OVON / Val-Unseen，SR=66.7%，SPL=25.7%。来源：E:\科研_机器人\HM3D-OVON\HM3D_OVON_Papers\04_三维空间表征与目标推理\2607.14586v1.pdf，PDF第5页，Table II。协议：每划分120 episodes；0.25 m；RGB-D+位姿。</a:t>
            </a:r>
          </a:p>
          <a:p>
            <a:r>
              <a:t>env_msg_hm3d: MSGNav，HM3D-ObjNav / Val，6类别，SR=74.1%，SPL=33.4%。来源：E:\科研_机器人\HM3D-OVON\HM3D_OVON_Papers\04_三维空间表征与目标推理\2026_CVPR_MSGNav.pdf，PDF第7页，Table 2。协议：1000 episodes；1 m；RGB-D+位姿。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env_soft_goat_S: SoftNav，GOAT-Bench / Val-Seen，SR=67.2%，SPL=29%。来源：E:\科研_机器人\HM3D-OVON\HM3D_OVON_Papers\04_三维空间表征与目标推理\2607.14586v1.pdf，PDF第5页，Table III。协议：每划分30 episodes；0.25 m；OVON策略零样本迁移。</a:t>
            </a:r>
          </a:p>
          <a:p>
            <a:r>
              <a:t>env_soft_goat_Y: SoftNav，GOAT-Bench / Val-Seen-Synonyms，SR=63.2%，SPL=25.8%。来源：E:\科研_机器人\HM3D-OVON\HM3D_OVON_Papers\04_三维空间表征与目标推理\2607.14586v1.pdf，PDF第5页，Table III。协议：每划分30 episodes；0.25 m；OVON策略零样本迁移。</a:t>
            </a:r>
          </a:p>
          <a:p>
            <a:r>
              <a:t>env_soft_goat_U: SoftNav，GOAT-Bench / Val-Unseen，SR=64.2%，SPL=24.7%。来源：E:\科研_机器人\HM3D-OVON\HM3D_OVON_Papers\04_三维空间表征与目标推理\2607.14586v1.pdf，PDF第5页，Table III。协议：每划分30 episodes；0.25 m；OVON策略零样本迁移。</a:t>
            </a:r>
          </a:p>
          <a:p>
            <a:r>
              <a:t>env_msg_goat: MSGNav，GOAT-Bench / Val-Unseen，SR=52%，SPL=29.6%。来源：E:\科研_机器人\HM3D-OVON\HM3D_OVON_Papers\04_三维空间表征与目标推理\2026_CVPR_MSGNav.pdf，PDF第7页，Table 1。协议：360 episodes / 2669子任务；0.25 m；与SoftNav子集不同。</a:t>
            </a:r>
          </a:p>
          <a:p>
            <a:r>
              <a:t>env_soft_sg3d: SoftNav，SG3D / 338 episodes / 1351子任务，SR=47.2%，SPL=14.7%。来源：E:\科研_机器人\HM3D-OVON\HM3D_OVON_Papers\04_三维空间表征与目标推理\2607.14586v1.pdf，PDF第5页，Table IV。协议：s-SR=47.2；t-SR=16.6。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类方法关注历史如何进入当前决策。AstraNav图像和位姿历史不等于跨步持续语言模型KV。JanusVLN公开评测中VGGT几何缓存跨步复用，语义分支重放采样历史。Janus附录OVON结果44.9/31.7仅作补充，披露细节不足以和AstraNav严格排名。</a:t>
            </a:r>
          </a:p>
          <a:p/>
          <a:p>
            <a:r>
              <a:t>mem_astra_ovon_U：AstraNav-Memory；HM3D-OVON / Val-Unseen；SR 62.5%，SPL 34.9%。E:\科研_机器人\HM3D-OVON\HM3D_OVON_Papers\05_视觉语言动作决策与视频记忆\2026_CVPR_AstraNav-Memory.pdf，PDF第6页，Table 2。协议：1 m；图像与位姿历史。</a:t>
            </a:r>
          </a:p>
          <a:p>
            <a:r>
              <a:t>mem_astra_goat_U：AstraNav-Memory；GOAT-Bench / Val-Unseen；SR 62.7%，SPL 56.9%。E:\科研_机器人\HM3D-OVON\HM3D_OVON_Papers\05_视觉语言动作决策与视频记忆\2026_CVPR_AstraNav-Memory.pdf，PDF第6页，Table 1。协议：论文1 m成功判据；不可与0.25 m协议直接排名。</a:t>
            </a:r>
          </a:p>
          <a:p>
            <a:r>
              <a:t>mem_janus_r2r：JanusVLN；R2R-CE / Val-Unseen；SR 60.5%，SPL 56.8%。E:\科研_机器人\HM3D-OVON\HM3D_OVON_Papers\05_视觉语言动作决策与视频记忆\ICLR-2026-janusvln-decoupling-semantics-and-spatiality-with-dual-implicit-memory-for-vision-language-navigation-Paper-Conference.pdf，PDF第8页，Table 1。协议：额外数据版；单RGB；采用主表SPL，附录Table 8为56.6。</a:t>
            </a:r>
          </a:p>
          <a:p>
            <a:r>
              <a:t>mem_janus_rxr：JanusVLN；RxR-CE / Val-Unseen；SR 56.2%，SPL 47.5%。E:\科研_机器人\HM3D-OVON\HM3D_OVON_Papers\05_视觉语言动作决策与视频记忆\ICLR-2026-janusvln-decoupling-semantics-and-spatiality-with-dual-implicit-memory-for-vision-language-navigation-Paper-Conference.pdf，PDF第8页，Table 2。协议：额外数据版；单RGB。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这一类把过去的观察保存为可再次读取的上下文。重放不一定重新运行视觉编码器，缓存好的视觉特征也可以直接复用；关键是决策模型在本次输入中再次看到历史表示。减少每帧 tokens、分层压缩或限制窗口，都是控制输入长度的办法。它适合连续任务，因为后续目标可能已经出现过。不过，更长历史不必然更好：无关信息会增加注意力成本，强压缩也可能删掉细节。还要区分视觉特征缓存和语言模型 KV，前者被复用，并不能证明后者也在跨导航步延续。</a:t>
            </a:r>
          </a:p>
          <a:p/>
          <a:p>
            <a:r>
              <a:t>资料来源：</a:t>
            </a:r>
          </a:p>
          <a:p>
            <a:r>
              <a:t>E:\科研_机器人\HM3D-OVON\HM3D_OVON_Papers\05_视觉语言动作决策与视频记忆\read-AstraNav.md</a:t>
            </a:r>
          </a:p>
          <a:p>
            <a:r>
              <a:t>E:\科研_机器人\HM3D-OVON\HM3D_OVON_Papers\05_视觉语言动作决策与视频记忆\read-UniNavid.md</a:t>
            </a:r>
          </a:p>
          <a:p>
            <a:r>
              <a:t>E:\科研_机器人\HM3D-OVON\HM3D_OVON_Papers\04_三维空间表征与目标推理\read-SoftNav.md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AstraNav 将长期记忆理解为压缩后的图像与位姿上下文，而不是维护物体关系图。压缩器与导航模型联合训练，希望留下对位置判断和目标搜索有用的信息。主配置从每帧 598 个视觉 tokens 减为 30 个，约缩减二十倍；正文中的十六倍则指压缩块的空间压缩，二者口径不同。历史信息允许后续任务复用已经看过的位置，但实验也表明，强压缩配合更长历史未必更好。因此应把该方向理解为信息保留与处理成本的折中，而不是简单扩大记忆容量。</a:t>
            </a:r>
          </a:p>
          <a:p/>
          <a:p>
            <a:r>
              <a:t>资料来源：</a:t>
            </a:r>
          </a:p>
          <a:p>
            <a:r>
              <a:t>E:\科研_机器人\HM3D-OVON\HM3D_OVON_Papers\05_视觉语言动作决策与视频记忆\read-AstraNav.md</a:t>
            </a:r>
          </a:p>
          <a:p>
            <a:r>
              <a:t>AstraNav-Memory §3，Fig.2，Tables 3–4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与把历史作为当前上下文重新提供相比，这一类强调跨步保留并增量更新内部状态。以几何注意力为例，新帧只计算自己的查询和键值，再读取历史缓存，形成融合历史的当前特征。窗口控制了可以访问的过去，也带来了遗忘：最初锚点和最近观察被保留，中间经历可能移出。它的收益主要在减少重复编码和改善时间关联，不意味着永久保存所有空间事实。递归在这里描述状态持续更新的机制，也包括 Transformer 的缓存更新，不必限定为传统循环神经网络。</a:t>
            </a:r>
          </a:p>
          <a:p/>
          <a:p>
            <a:r>
              <a:t>资料来源：</a:t>
            </a:r>
          </a:p>
          <a:p>
            <a:r>
              <a:t>E:\科研_机器人\HM3D-OVON\HM3D_OVON_Papers\05_视觉语言动作决策与视频记忆\read-JANUSVLN.md</a:t>
            </a:r>
          </a:p>
          <a:p>
            <a:r>
              <a:t>JanusVLN §3.2，Fig.2，Appendix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JanusVLN 展示了从纯 RGB 输入使用三维几何先验的路线。VGGT 原本需要跨帧联合处理，论文将其改为读取历史键值的流式几何编码器，保留起始锚点与最近窗口。几何特征经投影后与 Qwen 语义特征相加，语言模型生成离散动作。需要区分论文的双隐式记忆表述和公开评测路径：代码跨步保留的是 VGGT 缓存，语义侧每次重放采样历史图像，并未显式把上一导航步的语言模型 KV 传入下一步。消融支持几何记忆有益，但不能据此声称两路均永久保存完整历史。</a:t>
            </a:r>
          </a:p>
          <a:p/>
          <a:p>
            <a:r>
              <a:t>资料来源：</a:t>
            </a:r>
          </a:p>
          <a:p>
            <a:r>
              <a:t>E:\科研_机器人\HM3D-OVON\HM3D_OVON_Papers\05_视觉语言动作决策与视频记忆\read-JANUSVLN.md</a:t>
            </a:r>
          </a:p>
          <a:p>
            <a:r>
              <a:t>JanusVLN §3.2–3.3，Fig.2；笔记核对公开评测实现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JanusVLN附录Table 6的OVON SR/SPL=44.9/31.7，仅作补充。AstraNav全部六个划分结果已列出，Janus只有OVON Val-Unseen、R2R/RxR Val-Unseen报告，不能补填未报告划分。</a:t>
            </a:r>
          </a:p>
          <a:p/>
          <a:p>
            <a:r>
              <a:t>新增性能数据说明：JanusVLN附录Table 6的OVON SR/SPL=44.9/31.7，仅作补充。AstraNav全部六个划分结果已列出，Janus只有OVON Val-Unseen、R2R/RxR Val-Unseen报告，不能补填未报告划分。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mem_astra_ovon_S: AstraNav-Memory，HM3D-OVON / Val-Seen，SR=65.6%，SPL=35.4%。来源：E:\科研_机器人\HM3D-OVON\HM3D_OVON_Papers\05_视觉语言动作决策与视频记忆\2026_CVPR_AstraNav-Memory.pdf，PDF第6页，Table 2。协议：1 m；图像与位姿历史。</a:t>
            </a:r>
          </a:p>
          <a:p>
            <a:r>
              <a:t>mem_astra_ovon_Y: AstraNav-Memory，HM3D-OVON / Val-Seen-Synonyms，SR=57.5%，SPL=33%。来源：E:\科研_机器人\HM3D-OVON\HM3D_OVON_Papers\05_视觉语言动作决策与视频记忆\2026_CVPR_AstraNav-Memory.pdf，PDF第6页，Table 2。协议：1 m；图像与位姿历史。</a:t>
            </a:r>
          </a:p>
          <a:p>
            <a:r>
              <a:t>mem_astra_ovon_U: AstraNav-Memory，HM3D-OVON / Val-Unseen，SR=62.5%，SPL=34.9%。来源：E:\科研_机器人\HM3D-OVON\HM3D_OVON_Papers\05_视觉语言动作决策与视频记忆\2026_CVPR_AstraNav-Memory.pdf，PDF第6页，Table 2。协议：1 m；图像与位姿历史。</a:t>
            </a:r>
          </a:p>
          <a:p>
            <a:r>
              <a:t>mem_astra_goat_S: AstraNav-Memory，GOAT-Bench / Val-Seen，SR=65.5%，SPL=49%。来源：E:\科研_机器人\HM3D-OVON\HM3D_OVON_Papers\05_视觉语言动作决策与视频记忆\2026_CVPR_AstraNav-Memory.pdf，PDF第6页，Table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>
            <a:r>
              <a:t>mem_astra_goat_Y: AstraNav-Memory，GOAT-Bench / Val-Seen-Synonyms，SR=66.8%，SPL=54.7%。来源：E:\科研_机器人\HM3D-OVON\HM3D_OVON_Papers\05_视觉语言动作决策与视频记忆\2026_CVPR_AstraNav-Memory.pdf，PDF第6页，Table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>
            <a:r>
              <a:t>mem_astra_goat_U: AstraNav-Memory，GOAT-Bench / Val-Unseen，SR=62.7%，SPL=56.9%。来源：E:\科研_机器人\HM3D-OVON\HM3D_OVON_Papers\05_视觉语言动作决策与视频记忆\2026_CVPR_AstraNav-Memory.pdf，PDF第6页，Table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>
            <a:r>
              <a:t>mem_janus_r2r: JanusVLN，R2R-CE / Val-Unseen，SR=60.5%，SPL=56.8%。来源：E:\科研_机器人\HM3D-OVON\HM3D_OVON_Papers\05_视觉语言动作决策与视频记忆\ICLR-2026-janusvln-decoupling-semantics-and-spatiality-with-dual-implicit-memory-for-vision-language-navigation-Paper-Conference.pdf，PDF第8页，Table 1。协议：额外数据版；单RGB；采用主表SPL，附录Table 8为56.6。</a:t>
            </a:r>
          </a:p>
          <a:p>
            <a:r>
              <a:t>mem_janus_rxr: JanusVLN，RxR-CE / Val-Unseen，SR=56.2%，SPL=47.5%。来源：E:\科研_机器人\HM3D-OVON\HM3D_OVON_Papers\05_视觉语言动作决策与视频记忆\ICLR-2026-janusvln-decoupling-semantics-and-spatiality-with-dual-implicit-memory-for-vision-language-navigation-Paper-Conference.pdf，PDF第8页，Table 2。协议：额外数据版；单RGB。</a:t>
            </a:r>
          </a:p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mem_janus_ovon: JanusVLN，HM3D-OVON / Val-Unseen，SR=44.9%，SPL=31.7%。来源：E:\科研_机器人\HM3D-OVON\HM3D_OVON_Papers\05_视觉语言动作决策与视频记忆\ICLR-2026-janusvln-decoupling-semantics-and-spatiality-with-dual-implicit-memory-for-vision-language-navigation-Paper-Conference.pdf，PDF第19页，Table 6。协议：未完整披露该项评测细节，作附录补充报告。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VLFM与OpenFrontier是同一类语义引导前沿搜索的不同实现。OpenFrontier论文同表列出VLFM，在HM3D、MP3D与OVON Unseen的SR/SPL更高；其余划分不能外推。前沿相关性不是真实目标存在概率的保证，执行后还需要目标确认。</a:t>
            </a:r>
          </a:p>
          <a:p/>
          <a:p>
            <a:r>
              <a:t>exp_vlfm_gibson：VLFM；Gibson / Val；SR 84%，SPL 52.2%。E:\科研_机器人\HM3D-OVON\HM3D_OVON_Papers\02_语义地图与前沿探索\VLFM_Vision-Language_Frontier_Maps_for_Zero-Shot_Semantic_Navigation.pdf，PDF第5页，Table I。协议：VLFM原论文验证设置。</a:t>
            </a:r>
          </a:p>
          <a:p>
            <a:r>
              <a:t>exp_open_hm3d：OpenFrontier；HM3D ObjectNav / Val；SR 77.3%，SPL 35.6%。E:\科研_机器人\HM3D-OVON\HM3D_OVON_Papers\02_语义地图与前沿探索\2026_RSS_OpenFrontier.pdf，PDF第5页，Table I。协议：Gemini-2.5-Flash；同一套系统参数。</a:t>
            </a:r>
          </a:p>
          <a:p>
            <a:r>
              <a:t>exp_open_mp3d：OpenFrontier；MP3D ObjectNav / Val；SR 40.7%，SPL 17.8%。E:\科研_机器人\HM3D-OVON\HM3D_OVON_Papers\02_语义地图与前沿探索\2026_RSS_OpenFrontier.pdf，PDF第5页，Table I。协议：Gemini-2.5-Flash；同一套系统参数。</a:t>
            </a:r>
          </a:p>
          <a:p>
            <a:r>
              <a:t>exp_vlfm_ovon_S：VLFM；HM3D-OVON / Val-Seen；SR 35.2%，SPL 18.6%。E:\科研_机器人\HM3D-OVON\HM3D_OVON_Papers\00_数据集与任务基准\2024_IROS_HM3D_OVON.pdf，PDF第6页，HM3D-OVON Table III。协议：HM3D-OVON基准论文重评，来源为基准PDF。</a:t>
            </a:r>
          </a:p>
          <a:p>
            <a:r>
              <a:t>exp_vlfm_ovon_Y：VLFM；HM3D-OVON / Val-Seen-Synonyms；SR 32.4%，SPL 17.3%。E:\科研_机器人\HM3D-OVON\HM3D_OVON_Papers\00_数据集与任务基准\2024_IROS_HM3D_OVON.pdf，PDF第6页，HM3D-OVON Table III。协议：HM3D-OVON基准论文重评，来源为基准PDF。</a:t>
            </a:r>
          </a:p>
          <a:p>
            <a:r>
              <a:t>exp_open_ovon：OpenFrontier；HM3D-OVON / Val-Unseen；SR 39%，SPL 20.1%。E:\科研_机器人\HM3D-OVON\HM3D_OVON_Papers\02_语义地图与前沿探索\2026_RSS_OpenFrontier.pdf，PDF第5页，Table I。协议：Gemini-2.5-Flash；同一套系统参数。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语义前沿搜索把连续导航拆成候选位置选择与局部执行。寻找微波炉时，模型可以优先评价厨房相关前沿；这只是依据场景先验调整搜索顺序，并不能证明目标存在。VLFM把相关性投到二维价值地图并跨视角融合，OpenFrontier则直接评价图像标记的视觉前沿，再将其定位到三维并管理。两者都需要可达性、局部导航和最终目标确认，类内差异不必分别提升为一级方法。无需新增导航训练指复用已有组件，不代表组件没有预训练成本。</a:t>
            </a:r>
          </a:p>
          <a:p/>
          <a:p>
            <a:r>
              <a:t>资料来源：</a:t>
            </a:r>
          </a:p>
          <a:p>
            <a:r>
              <a:t>E:\科研_机器人\HM3D-OVON\HM3D_OVON_Papers\方法分类索引.md</a:t>
            </a:r>
          </a:p>
          <a:p>
            <a:r>
              <a:t>E:\科研_机器人\HM3D-OVON\HM3D_OVON_Papers\02_语义地图与前沿探索\read.md</a:t>
            </a:r>
          </a:p>
          <a:p>
            <a:r>
              <a:t>VLFM §IV；OpenFrontier §III，Algorithm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Frontier在RGB图像标记视觉前沿，FrontierNet预测潜在信息增益，视觉语言模型根据目标评价每个方向。深度与相机位姿将候选投到三维，全局前沿集合负责合并重复位置、移除已清空或不可达项。效用结合相关性、信息增益和距离。发现疑似目标后，分割与几何模块提出观察位姿，到达后再用VLM核验。其共同方法仍是语义前沿搜索，新增的接口主要是图像中的前沿候选与稀疏三维候选管理。</a:t>
            </a:r>
          </a:p>
          <a:p/>
          <a:p>
            <a:r>
              <a:t>资料来源：</a:t>
            </a:r>
          </a:p>
          <a:p>
            <a:r>
              <a:t>E:\科研_机器人\HM3D-OVON\HM3D_OVON_Papers\02_语义地图与前沿探索\read.md</a:t>
            </a:r>
          </a:p>
          <a:p>
            <a:r>
              <a:t>OpenFrontier Fig.2，§III，Algorithm 1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篇都先提出候选，再评价语义价值，但评价发生的位置不同。VLFM对整个观测计算图文相关性，并在二维地图中累积带置信度的价值，随后读取前沿区域的分数。OpenFrontier对图像中的每个视觉前沿打分，结合信息增益和距离，维护稀疏三维候选。后者无需把稠密三维语义地图作为语义决策的必要接口，但仍使用几何信息。两者的导航性能既受语义评价影响，也受候选覆盖、局部规划与目标核验影响。</a:t>
            </a:r>
          </a:p>
          <a:p/>
          <a:p>
            <a:r>
              <a:t>资料来源：</a:t>
            </a:r>
          </a:p>
          <a:p>
            <a:r>
              <a:t>E:\科研_机器人\HM3D-OVON\HM3D_OVON_Papers\方法分类索引.md</a:t>
            </a:r>
          </a:p>
          <a:p>
            <a:r>
              <a:t>E:\科研_机器人\HM3D-OVON\HM3D_OVON_Papers\02_语义地图与前沿探索\read.md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两篇都是示范信号和奖励信号结合的训练方法。OVSegDT连续调整BC和PPO权重，CompassNav先SFT再GRPO，不能据此当成两个互不相干的方法类别。CompassNav HM3D表1与表2的版本对应不充分，按原表设置保留，不把61.6视为56.6的同条件更新。OVSegDT为三种子均值，标准差在完整结果页展示。</a:t>
            </a:r>
          </a:p>
          <a:p/>
          <a:p>
            <a:r>
              <a:t>train_ovseg_U：OVSegDT；HM3D-OVON / Val-Unseen；SR 44.7%，SPL 20.6%。E:\科研_机器人\HM3D-OVON\HM3D_OVON_Papers\01_模仿学习与强化学习导航\2026_CVPR_OVSegDT.pdf，PDF第7页，Table 1。协议：预测YOLOE掩码；RGB策略；均值±标准差。</a:t>
            </a:r>
          </a:p>
          <a:p>
            <a:r>
              <a:t>train_compass_ovon：CompassNav；HM3D-OVON / Val-Unseen；SR 43.5%，SPL 21.6%。E:\科研_机器人\HM3D-OVON\HM3D_OVON_Papers\05_视觉语言动作决策与视频记忆\2026_ICLR_CompassNav.pdf，PDF第14页，Table 6。协议：沿Nav-R1评测设置；深度与位姿用于候选生成。</a:t>
            </a:r>
          </a:p>
          <a:p>
            <a:r>
              <a:t>train_compass_hm3d2：CompassNav；HM3D ObjectNav / Table 2 设置；SR 61.6%，SPL 27.8%。E:\科研_机器人\HM3D-OVON\HM3D_OVON_Papers\05_视觉语言动作决策与视频记忆\2026_ICLR_CompassNav.pdf，PDF第8页，Table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>
            <a:r>
              <a:t>train_compass_mp3d：CompassNav；MP3D ObjectNav / Val；SR 42%，SPL 17.5%。E:\科研_机器人\HM3D-OVON\HM3D_OVON_Papers\05_视觉语言动作决策与视频记忆\2026_ICLR_CompassNav.pdf，PDF第8页，Table 1。协议：最终SFT+RFT配置；1 m成功判据。HM3D表1/表2未完整对应v1/v2，保留原表设置</a:t>
            </a:r>
          </a:p>
          <a:p>
            <a:r>
              <a:t>train_compass_iin：CompassNav；Instance-ImageNav / Table 2 设置；SR 35.6%，SPL 14.8%。E:\科研_机器人\HM3D-OVON\HM3D_OVON_Papers\05_视觉语言动作决策与视频记忆\2026_ICLR_CompassNav.pdf，PDF第8页，Table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>
            <a:r>
              <a:t>train_compass_procthor：CompassNav；AI2-THOR / ProcTHOR / 未见合成环境；SR 58.1%，SPL 32.8%。E:\科研_机器人\HM3D-OVON\HM3D_OVON_Papers\05_视觉语言动作决策与视频记忆\2026_ICLR_CompassNav.pdf，PDF第14页，Table 7。协议：最终SFT+RFT配置；1 m成功判据。HM3D表1/表2未完整对应v1/v2，保留原表设置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仿学习降低初始探索难度，让模型先获得基本动作或回答格式；强化学习则通过奖励比较行动的后果。两篇的区别主要是信号如何组合。OVSegDT用策略熵的平滑统计动态调整行为克隆与PPO的混合权重，辅助分割保留目标相关特征。CompassNav先用教师分析与动作做SFT，再对同一观察采样多个候选回答，用GRPO优化到目标距离构造的奖励。奖励所用真实目标坐标只存在于训练标注，不向测试策略提供。</a:t>
            </a:r>
          </a:p>
          <a:p/>
          <a:p>
            <a:r>
              <a:t>资料来源：</a:t>
            </a:r>
          </a:p>
          <a:p>
            <a:r>
              <a:t>E:\科研_机器人\HM3D-OVON\HM3D_OVON_Papers\01_模仿学习与强化学习导航\read.md</a:t>
            </a:r>
          </a:p>
          <a:p>
            <a:r>
              <a:t>E:\科研_机器人\HM3D-OVON\HM3D_OVON_Papers\05_视觉语言动作决策与视频记忆\read-CompassNav.md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VSegDT将当前RGB、目标文本、上一动作和目标二值掩码编码，利用最近100步的Transformer上下文产生动作与价值，同时重建目标掩码。目标掩码提供定位线索，辅助分割损失约束状态保留目标信息。训练用策略熵的平滑统计调节BC与PPO权重：策略不确定时更多依靠示范，动作集中后提高奖励优化作用。真值掩码主训练之后，再使用YOLOE预测掩码适配，减少实际感知误差带来的分布差异。</a:t>
            </a:r>
          </a:p>
          <a:p/>
          <a:p>
            <a:r>
              <a:t>资料来源：</a:t>
            </a:r>
          </a:p>
          <a:p>
            <a:r>
              <a:t>E:\科研_机器人\HM3D-OVON\HM3D_OVON_Papers\01_模仿学习与强化学习导航\read.md</a:t>
            </a:r>
          </a:p>
          <a:p>
            <a:r>
              <a:t>OVSegDT Fig.2；§4.2–4.3，§5 Training details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ssNav先在RGB图像画出基于深度与几何后端生成的可行动作箭头。SFT学习成功教师的分析文本与动作编号，建立基本的决策与输出能力。RFT阶段对同一状态采样多个回答，以候选落点到目标的测地距离计算连续质量分数。最佳候选与次佳候选差距大时，增加最优动作奖励；差距小时保留接近的评分。奖励只验证选出的动作，不逐句验证分析文本。真实目标坐标和距离用于训练标签，推理输入只含目标与带候选箭头的观测。</a:t>
            </a:r>
          </a:p>
          <a:p/>
          <a:p>
            <a:r>
              <a:t>资料来源：</a:t>
            </a:r>
          </a:p>
          <a:p>
            <a:r>
              <a:t>E:\科研_机器人\HM3D-OVON\HM3D_OVON_Papers\05_视觉语言动作决策与视频记忆\read-CompassNav.md</a:t>
            </a:r>
          </a:p>
          <a:p>
            <a:r>
              <a:t>CompassNav §3–4，Figs.3–4，式(1)–(6)，Appendix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train_ovseg_S: OVSegDT，HM3D-OVON / Val-Seen，SR=43.6%，SPL=20.1%。来源：E:\科研_机器人\HM3D-OVON\HM3D_OVON_Papers\01_模仿学习与强化学习导航\2026_CVPR_OVSegDT.pdf，PDF第7页，Table 1。协议：预测YOLOE掩码；RGB策略；均值±标准差。</a:t>
            </a:r>
          </a:p>
          <a:p>
            <a:r>
              <a:t>train_ovseg_Y: OVSegDT，HM3D-OVON / Val-Seen-Synonyms，SR=40.1%，SPL=17.9%。来源：E:\科研_机器人\HM3D-OVON\HM3D_OVON_Papers\01_模仿学习与强化学习导航\2026_CVPR_OVSegDT.pdf，PDF第7页，Table 1。协议：预测YOLOE掩码；RGB策略；均值±标准差。</a:t>
            </a:r>
          </a:p>
          <a:p>
            <a:r>
              <a:t>train_ovseg_U: OVSegDT，HM3D-OVON / Val-Unseen，SR=44.7%，SPL=20.6%。来源：E:\科研_机器人\HM3D-OVON\HM3D_OVON_Papers\01_模仿学习与强化学习导航\2026_CVPR_OVSegDT.pdf，PDF第7页，Table 1。协议：预测YOLOE掩码；RGB策略；均值±标准差。</a:t>
            </a:r>
          </a:p>
          <a:p>
            <a:r>
              <a:t>train_compass_ovon: CompassNav，HM3D-OVON / Val-Unseen，SR=43.5%，SPL=21.6%。来源：E:\科研_机器人\HM3D-OVON\HM3D_OVON_Papers\05_视觉语言动作决策与视频记忆\2026_ICLR_CompassNav.pdf，PDF第14页，Table 6。协议：沿Nav-R1评测设置；深度与位姿用于候选生成。</a:t>
            </a:r>
          </a:p>
          <a:p>
            <a:r>
              <a:t>train_compass_hm3d1: CompassNav，HM3D ObjectNav / Table 1 设置，SR=56.6%，SPL=27.6%。来源：E:\科研_机器人\HM3D-OVON\HM3D_OVON_Papers\05_视觉语言动作决策与视频记忆\2026_ICLR_CompassNav.pdf，PDF第8页，Table 1。协议：最终SFT+RFT配置；1 m成功判据。HM3D表1/表2未完整对应v1/v2，保留原表设置</a:t>
            </a:r>
          </a:p>
          <a:p>
            <a:r>
              <a:t>train_compass_hm3d2: CompassNav，HM3D ObjectNav / Table 2 设置，SR=61.6%，SPL=27.8%。来源：E:\科研_机器人\HM3D-OVON\HM3D_OVON_Papers\05_视觉语言动作决策与视频记忆\2026_ICLR_CompassNav.pdf，PDF第8页，Table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>
            <a:r>
              <a:t>train_compass_mp3d: CompassNav，MP3D ObjectNav / Val，SR=42%，SPL=17.5%。来源：E:\科研_机器人\HM3D-OVON\HM3D_OVON_Papers\05_视觉语言动作决策与视频记忆\2026_ICLR_CompassNav.pdf，PDF第8页，Table 1。协议：最终SFT+RFT配置；1 m成功判据。HM3D表1/表2未完整对应v1/v2，保留原表设置</a:t>
            </a:r>
          </a:p>
          <a:p>
            <a:r>
              <a:t>train_compass_iin: CompassNav，Instance-ImageNav / Table 2 设置，SR=35.6%，SPL=14.8%。来源：E:\科研_机器人\HM3D-OVON\HM3D_OVON_Papers\05_视觉语言动作决策与视频记忆\2026_ICLR_CompassNav.pdf，PDF第8页，Table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>
            <a:r>
              <a:t>train_compass_procthor: CompassNav，AI2-THOR / ProcTHOR / 未见合成环境，SR=58.1%，SPL=32.8%。来源：E:\科研_机器人\HM3D-OVON\HM3D_OVON_Papers\05_视觉语言动作决策与视频记忆\2026_ICLR_CompassNav.pdf，PDF第14页，Table 7。协议：最终SFT+RFT配置；1 m成功判据。HM3D表1/表2未完整对应v1/v2，保留原表设置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个一级方向描述不同环节，因此一套系统可以同时采用多种方法。显式三维物体图可以附带连续特征，保存的图像也可以被压缩重放；分层系统可以使用统一多任务骨干。代表论文的主要归属用于组织文献，不是限制组件组合。讨论新研究时，应先指明改变的是哪一环节，再明确维度、传感器、任务与训练预算，最后在相同协议下验证改善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  <a:p>
            <a:r>
              <a:t>E:\科研_机器人\HM3D-OVON\HM3D_OVON_Papers\方法分类索引.md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这四项属于数据集与评测资源，独立于五个方法分支。HM3D Semantics主要提供室内三维语义标注。HM3D-OVON用已见、同义词和未见类别切分考查开放词汇目标泛化。GOAT-Bench把类别、图像及语言目标串成连续子任务，检验同一环境中历史经验的复用。SG3D侧重任务上下文中的顺序目标定位和导航，后续目标可能隐含引用前序对象；SG-LLM是其中的模型基线。不同基准的传感器、成功条件、划分和序列协议不同，结果不能直接作为统一排名。</a:t>
            </a:r>
          </a:p>
          <a:p/>
          <a:p>
            <a:r>
              <a:t>资料来源：</a:t>
            </a:r>
          </a:p>
          <a:p>
            <a:r>
              <a:t>E:\科研_机器人\HM3D-OVON\HM3D_OVON_Papers\00_数据集与任务基准\README.md</a:t>
            </a:r>
          </a:p>
          <a:p>
            <a:r>
              <a:t>E:\科研_机器人\HM3D-OVON\HM3D_OVON_Papers\00_数据集与任务基准\2024_SG3D_Sequential_Grounding_and_Navigation.pdf，第1–3节</a:t>
            </a:r>
          </a:p>
          <a:p>
            <a:r>
              <a:t>E:\科研_机器人\HM3D-OVON\HM3D_OVON_Papers\00_数据集与任务基准\2024_CVPR_GOAT_Bench.pdf，第3–4节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1例子从同一环境出发，依次寻找躺椅、图中的烤箱、客厅茶几上的白色书等目标。每个episode包含5至10个子任务，目标形式可为类别名称、参考图像或自然语言描述。一个子任务结束后继续给下一个目标，环境与智能体状态不重置，因此此前探索过的物体和空间可以帮助后续搜索。原始论文第3节规定每子任务最多500步，并在目标实例1米内调用STOP作为成功条件，实际复现实验应始终核对所用版本的评测配置。评价既包括成功率，也包括SPL等路径效率。该基准为历史记忆和统一目标接口提供验证场景，不保证任何特定记忆方案有效。</a:t>
            </a:r>
          </a:p>
          <a:p/>
          <a:p>
            <a:r>
              <a:t>资料来源：</a:t>
            </a:r>
          </a:p>
          <a:p>
            <a:r>
              <a:t>E:\科研_机器人\HM3D-OVON\HM3D_OVON_Papers\00_数据集与任务基准\2024_CVPR_GOAT_Bench.pdf，PDF第1页，图1；PDF第3页，第3节任务定义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程序与工具／技能编排、快慢系统分层协作，以及多任务或规划、定位、探索与导航能力的统一建模。</a:t>
            </a:r>
          </a:p>
          <a:p/>
          <a:p>
            <a:r>
              <a:t>TANGO：无需新增导航专项训练</a:t>
            </a:r>
          </a:p>
          <a:p>
            <a:r>
              <a:t>SuperNav：主模型与几何执行器无需；可选学习式执行器的 GPU 配置未报告</a:t>
            </a:r>
          </a:p>
          <a:p>
            <a:r>
              <a:t>OmniNav：阶段1 96×H20，120小时；阶段2 64×H20，48小时</a:t>
            </a:r>
          </a:p>
          <a:p>
            <a:r>
              <a:t>D3D-VLP：4×RTX 6000 Ada，约14天</a:t>
            </a:r>
          </a:p>
          <a:p>
            <a:r>
              <a:t>Uni-NaVid：40×H800，约35小时</a:t>
            </a:r>
          </a:p>
          <a:p>
            <a:r>
              <a:t>MTU3D：4×A100；约164 GPU·小时</a:t>
            </a:r>
          </a:p>
          <a:p>
            <a:r>
              <a:t>SuperNav执行器训练：https://arxiv.org/html/2610.12126v1，附录C.2。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用三维场景图组织物体、空间信息与视觉证据；将三维物体和前沿特征转换为视觉语言模型可使用的 soft tokens。</a:t>
            </a:r>
          </a:p>
          <a:p/>
          <a:p>
            <a:r>
              <a:t>MSGNav：无需新增导航专项训练</a:t>
            </a:r>
          </a:p>
          <a:p>
            <a:r>
              <a:t>SoftNav：1×RTX 4090；时长未报告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压缩长期视觉历史，维护语义与空间双分支记忆，并通过历史缓存和滑动窗口更新跨帧信息。</a:t>
            </a:r>
          </a:p>
          <a:p/>
          <a:p>
            <a:r>
              <a:t>AstraNav-Memory：32×H20；时长未报告</a:t>
            </a:r>
          </a:p>
          <a:p>
            <a:r>
              <a:t>JanusVLN：64×H20，约31小时；阅读笔记转引作者答复</a:t>
            </a:r>
          </a:p>
          <a:p>
            <a:r>
              <a:t>JanusVLN配置由源文档转引阅读笔记中的作者答复。本次未能加载评论正文，未独立复核。</a:t>
            </a:r>
          </a:p>
          <a:p>
            <a:r>
              <a:t>阅读笔记：E:\科研_机器人\HM3D-OVON\HM3D_OVON_Papers\05_视觉语言动作决策与视频记忆\read-JANUSVLN.md</a:t>
            </a:r>
          </a:p>
          <a:p>
            <a:r>
              <a:t>作者答复：https://github.com/MIV-XJTU/JanusVLN/issues/3#issuecomment-3375195701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构建语义价值地图或生成视觉前沿，利用目标相关性、信息增益和距离等评价探索位置，并进行目标确认。</a:t>
            </a:r>
          </a:p>
          <a:p/>
          <a:p>
            <a:r>
              <a:t>VLFM：无需新增导航专项训练</a:t>
            </a:r>
          </a:p>
          <a:p>
            <a:r>
              <a:t>OpenFrontier：无需新增导航专项训练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目标分割辅助监督、自适应 BC／PPO 联合优化，以及基于候选动作质量的 SFT／GRPO 与差距感知奖励设计。</a:t>
            </a:r>
          </a:p>
          <a:p/>
          <a:p>
            <a:r>
              <a:t>OVSegDT：2×A100；约2.15亿环境步，时长未报告</a:t>
            </a:r>
          </a:p>
          <a:p>
            <a:r>
              <a:t>CompassNav：SFT 8×A800，约12小时；RFT 8×H200，约56.7小时（估算）</a:t>
            </a:r>
          </a:p>
          <a:p>
            <a:r>
              <a:t>CompassNav RFT时长为源文档估算：170步×20分钟/步≈56.7小时。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场景语义标注、开放词汇与多模态目标构建、连续或顺序任务设计，以及评测协议和基线设计。</a:t>
            </a:r>
          </a:p>
          <a:p/>
          <a:p>
            <a:r>
              <a:t>HM3D Semantics：数据集本身不适用；导航基线另计</a:t>
            </a:r>
          </a:p>
          <a:p>
            <a:r>
              <a:t>HM3D-OVON：按各基线分别统计</a:t>
            </a:r>
          </a:p>
          <a:p>
            <a:r>
              <a:t>GOAT-Bench：按各基线分别统计</a:t>
            </a:r>
          </a:p>
          <a:p>
            <a:r>
              <a:t>SG3D / SG-LLM：按 SG-LLM 等基线分别统计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资料口径沿用源文档。GPU·小时表示GPU数量乘以训练小时数，不能把不同GPU型号的卡时直接视为等价算力。</a:t>
            </a:r>
          </a:p>
          <a:p>
            <a:r>
              <a:t>SuperNav学习式执行器训练见：https://arxiv.org/html/2610.12126v1，附录C.2。</a:t>
            </a:r>
          </a:p>
          <a:p>
            <a:r>
              <a:t>JanusVLN作者答复由源文档及阅读笔记转引，本次网页未加载评论正文。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4" Type="http://schemas.openxmlformats.org/officeDocument/2006/relationships/notesSlide" Target="../notesSlides/notesSlide13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4" Type="http://schemas.openxmlformats.org/officeDocument/2006/relationships/notesSlide" Target="../notesSlides/notesSlide21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开放词汇导航的方法分类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M3D-OVON-Papers"/>
          <p:cNvSpPr>
            <a:spLocks noGrp="1"/>
          </p:cNvSpPr>
          <p:nvPr/>
        </p:nvSpPr>
        <p:spPr>
          <a:xfrm>
            <a:off x="685800" y="1685925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0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700" b="0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0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HM3D-OVON-Papers</a:t>
            </a:r>
            <a:endParaRPr sz="2700" b="0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五个研究方向，八类方法范式"/>
          <p:cNvSpPr>
            <a:spLocks noGrp="1"/>
          </p:cNvSpPr>
          <p:nvPr/>
        </p:nvSpPr>
        <p:spPr>
          <a:xfrm>
            <a:off x="685800" y="2638425"/>
            <a:ext cx="1082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6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五个研究方向，八类方法范式</a:t>
            </a:r>
            <a:endParaRPr sz="36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方法机制、代表论文与评测结果"/>
          <p:cNvSpPr>
            <a:spLocks noGrp="1"/>
          </p:cNvSpPr>
          <p:nvPr/>
        </p:nvSpPr>
        <p:spPr>
          <a:xfrm>
            <a:off x="685800" y="376237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3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方法机制、代表论文与评测结果</a:t>
            </a:r>
            <a:endParaRPr sz="23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训练算力置于方法讲解之后"/>
          <p:cNvSpPr>
            <a:spLocks noGrp="1"/>
          </p:cNvSpPr>
          <p:nvPr/>
        </p:nvSpPr>
        <p:spPr>
          <a:xfrm>
            <a:off x="685800" y="4362450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训练算力置于方法讲解之后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依据本地已收录文献与阅读笔记"/>
          <p:cNvSpPr>
            <a:spLocks noGrp="1"/>
          </p:cNvSpPr>
          <p:nvPr/>
        </p:nvSpPr>
        <p:spPr>
          <a:xfrm>
            <a:off x="685800" y="560070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依据本地已收录文献与阅读笔记</a:t>
            </a:r>
            <a:endParaRPr sz="16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2026年10月17日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方法分类总览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504950"/>
          <a:ext cx="10820400" cy="4400550"/>
        </p:xfrm>
        <a:graphic>
          <a:graphicData uri="http://schemas.openxmlformats.org/drawingml/2006/table">
            <a:tbl>
              <a:tblPr firstRow="1"/>
              <a:tblGrid>
                <a:gridCol w="2362200"/>
                <a:gridCol w="4019550"/>
                <a:gridCol w="4438650"/>
              </a:tblGrid>
              <a:tr h="4667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一级方向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二级方法类别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主要归属文献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9239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系统组织架构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分层与模块化协作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多能力统一联合建模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TANGO、SuperNav、OmniNav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D3D-VLP、Uni-NaVid、MTU3D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环境表征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显式地图与场景结构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学习式连续空间特征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历史记忆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观察历史的压缩与重放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递归状态与缓存更新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探索与目标搜索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语义引导的前沿搜索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VLFM、OpenFrontier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导航策略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训练与优化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模仿学习与强化学习结合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OVSegDT、CompassNav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主要归属用于组织汇报。显式结构、连续特征、历史重放与缓存"/>
          <p:cNvSpPr>
            <a:spLocks noGrp="1"/>
          </p:cNvSpPr>
          <p:nvPr/>
        </p:nvSpPr>
        <p:spPr>
          <a:xfrm>
            <a:off x="685800" y="60960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主要归属用于组织汇报。显式结构、连续特征、历史重放与缓存可以组合。</a:t>
            </a:r>
            <a:endParaRPr sz="17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分类依据：一级分支分类.md。数据集与评测基准另列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92D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系统组织架构：方法与评测概览</a:t>
            </a:r>
            <a:endParaRPr sz="3450" b="1">
              <a:solidFill>
                <a:srgbClr val="92D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任务决策怎样与感知、规划和执行协作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研究问题：任务决策怎样与感知、规划和执行协作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分层与模块化协作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分层与模块化协作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通过工具或子目标接口，&#10;衔接高层决策与局部执行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通过工具或子目标接口，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衔接高层决策与局部执行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多能力统一联合建模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多能力统一联合建模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共享表示与决策接口，&#10;联合处理多种能力或任务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共享表示与决策接口，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联合处理多种能力或任务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3343275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R2R-CE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69.5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RxR-CE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SG3D-Nav / 子任务与整任务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33.7 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13.8 t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OmniNav OVON按1 m判据。SG3D给定真实计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OmniNav OVON按1 m判据。SG3D给定真实计划，s／t为子任务／整任务SR。其他结果见后续页。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分层与模块化协作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高层处理任务意图，通过明确接口调用专门的执行模块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高层处理任务意图，通过明确接口调用专门的执行模块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理解任务与当前状态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理解任务与当前状态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读取目标、当前观测和已完成进度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读取目标、当前观测和已完成进度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选择接口与子目标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选择接口与子目标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输出程序调用、工具参数或空间子目标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输出程序调用、工具参数或空间子目标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执行专门模块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415415" y="38608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执行专门模块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感知、局部规划或策略完成短程移动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感知、局部规划或策略完成短程移动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接收执行反馈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接收执行反馈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根据新观测更新任务状态与后续选择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根据新观测更新任务状态与后续选择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TANGO程序编排，SuperNav工具循环，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类内实现：TANGO程序编排，SuperNav工具循环，OmniNav快慢协作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模块可复用、可替换。限制：接口误差传递，高层证据可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收益：模块可复用、可替换。限制：接口误差传递，高层证据可能滞后。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OmniNav：快慢系统的接口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6478" y="1238250"/>
            <a:ext cx="9199044" cy="4819650"/>
          </a:xfrm>
          <a:prstGeom prst="rect">
            <a:avLst/>
          </a:prstGeom>
        </p:spPr>
      </p:pic>
      <p:sp>
        <p:nvSpPr>
          <p:cNvPr id="4" name="慢系统给出子目标，快系统生成连续航点，并根据新观测更新局部移"/>
          <p:cNvSpPr>
            <a:spLocks noGrp="1"/>
          </p:cNvSpPr>
          <p:nvPr/>
        </p:nvSpPr>
        <p:spPr>
          <a:xfrm>
            <a:off x="685800" y="6134100"/>
            <a:ext cx="1082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慢系统给出子目标，快系统生成连续航点，并根据新观测更新局部移动。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来源：OmniNav，图1（PDF第4页）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多能力统一联合建模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用共享表示或输出接口，让相关能力共同参与一次决策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用共享表示或输出接口，让相关能力共同参与一次决策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形成统一输入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形成统一输入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将指令、观测、空间与历史编码为模型输入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将指令、观测、空间与历史编码为模型输入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共享语义与空间理解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共享语义与空间理解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联合建模任务意图、目标实体和可行动位置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联合建模任务意图、目标实体和可行动位置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产生能力相关输出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产生能力相关输出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输出结构化决策、任务动作或候选评分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输出结构化决策、任务动作或候选评分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联合训练并更新决策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联合训练并更新决策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多源监督训练共享模型，执行后更新状态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多源监督训练共享模型，执行后更新状态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结构化决策链、多任务动作生成、物体与前沿统一评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类内实现：结构化决策链、多任务动作生成、物体与前沿统一评分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减少能力间表示割裂。限制：依赖任务对齐与数据覆盖，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收益：减少能力间表示割裂。限制：依赖任务对齐与数据覆盖，仍可保留执行器。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D3D-VLP：计划、目标定位与航点联合决策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25824"/>
            <a:ext cx="10820400" cy="3415852"/>
          </a:xfrm>
          <a:prstGeom prst="rect">
            <a:avLst/>
          </a:prstGeom>
        </p:spPr>
      </p:pic>
      <p:sp>
        <p:nvSpPr>
          <p:cNvPr id="4" name="环境记忆保存三维证据，决策记忆保存计划、目标与已执行轨迹"/>
          <p:cNvSpPr>
            <a:spLocks noGrp="1"/>
          </p:cNvSpPr>
          <p:nvPr/>
        </p:nvSpPr>
        <p:spPr>
          <a:xfrm>
            <a:off x="685800" y="5581650"/>
            <a:ext cx="10820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环境记忆保存三维证据，决策记忆保存计划、目标与已执行轨迹。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部分标注样本只对已有监督项计算损失。航点仍交由底层控制器"/>
          <p:cNvSpPr>
            <a:spLocks noGrp="1"/>
          </p:cNvSpPr>
          <p:nvPr/>
        </p:nvSpPr>
        <p:spPr>
          <a:xfrm>
            <a:off x="685800" y="6048375"/>
            <a:ext cx="10820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部分标注样本只对已有监督项计算损失。航点仍交由底层控制器执行。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来源：D3D-VLP 方法章节，原论文框架图。图号与裁剪记录见素材清单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同类架构的接口差异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85900"/>
          <a:ext cx="10820400" cy="4229100"/>
        </p:xfrm>
        <a:graphic>
          <a:graphicData uri="http://schemas.openxmlformats.org/drawingml/2006/table">
            <a:tbl>
              <a:tblPr firstRow="1"/>
              <a:tblGrid>
                <a:gridCol w="3095625"/>
                <a:gridCol w="2476500"/>
                <a:gridCol w="5248275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方法类别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论文例子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关键接口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分层与模块化协作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TANGO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程序与可调用原语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分层与模块化协作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SuperNav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技能指引、工具调用与图像点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分层与模块化协作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空间子目标与连续航点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多能力统一联合建模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计划、三维目标与航点决策链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多能力统一联合建模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Uni-NaVid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统一视频输入与任务标记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多能力统一联合建模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物体和探索前沿的统一评分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两类可以共存：OmniNav共享多任务骨干，D3D-VL"/>
          <p:cNvSpPr>
            <a:spLocks noGrp="1"/>
          </p:cNvSpPr>
          <p:nvPr/>
        </p:nvSpPr>
        <p:spPr>
          <a:xfrm>
            <a:off x="685800" y="6057900"/>
            <a:ext cx="10820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两类可以共存：OmniNav共享多任务骨干，D3D-VLP与MTU3D仍保留执行模块。</a:t>
            </a:r>
            <a:endParaRPr sz="17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论文作为同类方法的实现例子。主分类不替代二维／三维、任务范围或资源条件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系统组织架构：目标导航结果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85900"/>
          <a:ext cx="10820400" cy="4524375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38.8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48.4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30.3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Val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Uni-NaVid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37.1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OmniNav为慢系统+CoT；MTU3D使用RG"/>
          <p:cNvSpPr>
            <a:spLocks noGrp="1"/>
          </p:cNvSpPr>
          <p:nvPr/>
        </p:nvSpPr>
        <p:spPr>
          <a:xfrm>
            <a:off x="685800" y="607695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OmniNav为慢系统+CoT；MTU3D使用RGB-D与位姿；Uni-NaVid为单RGB。训练与传感器条件未统一。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来源：OmniNav 表2；MTU3D 表5；Uni-NaVid 表IV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系统组织架构：指令与顺序任务结果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657350"/>
          <a:ext cx="10820400" cy="3943350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69.5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REVERIE-CE / 论文验证设置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NavRAG-CE / 论文验证设置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31.1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23.9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SG3D-Nav / 导航任务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33.7 s / 13.8 t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自建人物跟随 / 默认验证配置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Uni-NaVid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61.21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其他评测采用不同指标：CityWalker使用MA"/>
          <p:cNvSpPr>
            <a:spLocks noGrp="1"/>
          </p:cNvSpPr>
          <p:nvPr/>
        </p:nvSpPr>
        <p:spPr>
          <a:xfrm>
            <a:off x="685800" y="58102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其他评测采用不同指标：CityWalker使用MAOE，问答任务使用ACC、Score或LLM-SR／LLM-SPL，均不充当导航SR／SPL。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来源：OmniNav 表1；D3D-VLP 表2–3；Uni-NaVid 表VII。—表示未报告SPL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SuperNav：子集、阈值与自建任务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09700"/>
          <a:ext cx="10820400" cy="4743450"/>
        </p:xfrm>
        <a:graphic>
          <a:graphicData uri="http://schemas.openxmlformats.org/drawingml/2006/table">
            <a:tbl>
              <a:tblPr firstRow="1"/>
              <a:tblGrid>
                <a:gridCol w="5619750"/>
                <a:gridCol w="2609850"/>
                <a:gridCol w="1295400"/>
                <a:gridCol w="12954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Val-Unseen，120子集，0.25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68.33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38.37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Val-Unseen，120子集，1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73.33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41.05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120子集，0.25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GPT-6 Astra*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71.67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45.79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120子集，1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GPT-6 Astra*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79.17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49.74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HM3Dv2 / 1000 episodes，0.2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80.3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33.38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HM3Dv2 / 1000 episodes，1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86.5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36.38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Habitat-GS / 单目标，150 tasks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41.27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Habitat-GS / 顺序多目标，150 tasks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13.88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Demand-Bench / 改编协议，200 tasks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18.01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* 模型替换配置。主模型为GPT-5.6 Terr"/>
          <p:cNvSpPr>
            <a:spLocks noGrp="1"/>
          </p:cNvSpPr>
          <p:nvPr/>
        </p:nvSpPr>
        <p:spPr>
          <a:xfrm>
            <a:off x="685800" y="6229350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 模型替换配置。主模型为GPT-5.6 Terra high。SPL已乘100；视点距离、子集与改编任务不与其他协议混排。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来源：SuperNav 表1–3。Geo表示几何执行器；严格距离定义见原论文附录B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环境表征：方法与评测概览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跨视角观测怎样形成可查询、可决策的环境状态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研究问题：跨视角观测怎样形成可查询、可决策的环境状态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显式地图与场景结构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显式地图与场景结构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用格子、实体与关系&#10;保存位置、语义和证据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用格子、实体与关系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保存位置、语义和证据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学习式连续空间特征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学习式连续空间特征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用空间向量表达实体，&#10;经投影或评分接入决策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用空间向量表达实体，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经投影或评分接入决策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3343275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Unseen，0.25 m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SoftNav（SR较高）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MSGNav（SPL较高）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HM3D-ObjNav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 / 子任务与整任务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47.2 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16.6 t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GOAT两篇评测子集规模不同，保留各自结果，不作严格排名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GOAT两篇评测子集规模不同，保留各自结果，不作严格排名。二维／三维与显式／连续属于不同属性。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显式地图与场景结构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把空间单元、实体及关系保存成可查询的环境记录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把空间单元、实体及关系保存成可查询的环境记录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建立空间记录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建立空间记录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对齐多帧观测，生成地图格子或物体节点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对齐多帧观测，生成地图格子或物体节点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合并重复观测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合并重复观测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维护位置、类别、对象身份与图像证据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维护位置、类别、对象身份与图像证据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按当前目标读取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按当前目标读取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查询相关区域、物体、关系或支持图像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查询相关区域、物体、关系或支持图像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转换为导航子目标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转换为导航子目标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选择探索前沿、目标位置或可见视点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选择探索前沿、目标位置或可见视点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二维语义价值地图、三维物体图与视觉证据索引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类内实现：二维语义价值地图、三维物体图与视觉证据索引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证据与位置易检查。限制：漏检、位姿误差与错误关联会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收益：证据与位置易检查。限制：漏检、位姿误差与错误关联会随记录积累。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MSGNav：三维场景图怎样用于导航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物体节点保留空间属性，图边保留共同观测的图像证据"/>
          <p:cNvSpPr>
            <a:spLocks noGrp="1"/>
          </p:cNvSpPr>
          <p:nvPr/>
        </p:nvSpPr>
        <p:spPr>
          <a:xfrm>
            <a:off x="685800" y="1200150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物体节点保留空间属性，图边保留共同观测的图像证据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798" y="1638300"/>
            <a:ext cx="10026404" cy="4362450"/>
          </a:xfrm>
          <a:prstGeom prst="rect">
            <a:avLst/>
          </a:prstGeom>
        </p:spPr>
      </p:pic>
      <p:sp>
        <p:nvSpPr>
          <p:cNvPr id="5" name="KSS筛选子图，AVU更新词汇，CLR读取决策反馈，VVD选"/>
          <p:cNvSpPr>
            <a:spLocks noGrp="1"/>
          </p:cNvSpPr>
          <p:nvPr/>
        </p:nvSpPr>
        <p:spPr>
          <a:xfrm>
            <a:off x="685800" y="6105525"/>
            <a:ext cx="10820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KSS筛选子图，AVU更新词汇，CLR读取决策反馈，VVD选择终点观察位置。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来源：MSGNav，图3（PDF第4页）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学习式连续空间特征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用特征向量传递外观与几何信息，学习目标与实体的决策关系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用特征向量传递外观与几何信息，学习目标与实体的决策关系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/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编码空间实体"/>
          <p:cNvSpPr>
            <a:spLocks noGrp="1"/>
          </p:cNvSpPr>
          <p:nvPr/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编码空间实体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把物体、区域与前沿表示成连续特征向量"/>
          <p:cNvSpPr>
            <a:spLocks noGrp="1"/>
          </p:cNvSpPr>
          <p:nvPr/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把物体、区域与前沿表示成连续特征向量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/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对齐目标与特征"/>
          <p:cNvSpPr>
            <a:spLocks noGrp="1"/>
          </p:cNvSpPr>
          <p:nvPr/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对齐目标与特征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通过投影、注意力或查询解码接入决策模型"/>
          <p:cNvSpPr>
            <a:spLocks noGrp="1"/>
          </p:cNvSpPr>
          <p:nvPr/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通过投影、注意力或查询解码接入决策模型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/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联合评分或生成"/>
          <p:cNvSpPr>
            <a:spLocks noGrp="1"/>
          </p:cNvSpPr>
          <p:nvPr/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联合评分或生成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对候选打分，或生成下一目标与移动位置"/>
          <p:cNvSpPr>
            <a:spLocks noGrp="1"/>
          </p:cNvSpPr>
          <p:nvPr/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对候选打分，或生成下一目标与移动位置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/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更新环境特征"/>
          <p:cNvSpPr>
            <a:spLocks noGrp="1"/>
          </p:cNvSpPr>
          <p:nvPr/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更新环境特征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执行后合并新观测，刷新对象库与前沿"/>
          <p:cNvSpPr>
            <a:spLocks noGrp="1"/>
          </p:cNvSpPr>
          <p:nvPr/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执行后合并新观测，刷新对象库与前沿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SoftNav空间soft tokens，MT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类内实现：SoftNav空间soft tokens，MTU3D查询评分，D3D-VLP三维tokens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保留丰富连续信息。限制：含义较难直接解释，依赖编码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收益：保留丰富连续信息。限制：含义较难直接解释，依赖编码器和训练分布。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SoftNav：三维特征的soft-token接口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95179"/>
            <a:ext cx="10820400" cy="3229493"/>
          </a:xfrm>
          <a:prstGeom prst="rect">
            <a:avLst/>
          </a:prstGeom>
        </p:spPr>
      </p:pic>
      <p:sp>
        <p:nvSpPr>
          <p:cNvPr id="4" name="PQ3D提供物体与前沿向量，MLP将768维特征投影到2"/>
          <p:cNvSpPr>
            <a:spLocks noGrp="1"/>
          </p:cNvSpPr>
          <p:nvPr/>
        </p:nvSpPr>
        <p:spPr>
          <a:xfrm>
            <a:off x="685800" y="5238750"/>
            <a:ext cx="108204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PQ3D提供物体与前沿向量，MLP将768维特征投影到2048维。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空间向量直接进入VLM。视觉分支另保留最近16帧的压缩历"/>
          <p:cNvSpPr>
            <a:spLocks noGrp="1"/>
          </p:cNvSpPr>
          <p:nvPr/>
        </p:nvSpPr>
        <p:spPr>
          <a:xfrm>
            <a:off x="685800" y="5829300"/>
            <a:ext cx="10820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空间向量直接进入VLM。视觉分支另保留最近16帧的压缩历史。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来源：SoftNav Fig.2上半部分。下页继续展示融合决策与执行，原图两部分均保留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SoftNav：空间、视觉历史与语言联合决策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0548"/>
            <a:ext cx="10820400" cy="3504479"/>
          </a:xfrm>
          <a:prstGeom prst="rect">
            <a:avLst/>
          </a:prstGeom>
        </p:spPr>
      </p:pic>
      <p:sp>
        <p:nvSpPr>
          <p:cNvPr id="4" name="视觉历史、三维实体tokens与指令共同参与注意力计算。"/>
          <p:cNvSpPr>
            <a:spLocks noGrp="1"/>
          </p:cNvSpPr>
          <p:nvPr/>
        </p:nvSpPr>
        <p:spPr>
          <a:xfrm>
            <a:off x="685800" y="54006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视觉历史、三维实体tokens与指令共同参与注意力计算。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输出二维探索坐标，再吸附到合法前沿并交由导航器执行。"/>
          <p:cNvSpPr>
            <a:spLocks noGrp="1"/>
          </p:cNvSpPr>
          <p:nvPr/>
        </p:nvSpPr>
        <p:spPr>
          <a:xfrm>
            <a:off x="685800" y="5905500"/>
            <a:ext cx="108204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输出二维探索坐标，再吸附到合法前沿并交由导航器执行。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来源：SoftNav Fig.2下半部分。二维坐标输出不改变三维环境表征的归属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环境表征：OVON与ObjectNav结果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2057400"/>
          <a:ext cx="10820400" cy="3810000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68.3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28.6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HM3D-ObjNav / Val，6类别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ftNav：每划分120 episodes、0"/>
          <p:cNvSpPr>
            <a:spLocks noGrp="1"/>
          </p:cNvSpPr>
          <p:nvPr/>
        </p:nvSpPr>
        <p:spPr>
          <a:xfrm>
            <a:off x="685800" y="600075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SoftNav：每划分120 episodes、0.25 m。MSGNav：HM3D-ObjNav为1000 episodes、1 m。两者属于不同任务设置。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来源：SoftNav 表II；MSGNav 表2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环境表征：GOAT与SG3D结果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885950"/>
          <a:ext cx="10820400" cy="4029075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67.2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63.2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2776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64.2</a:t>
                      </a:r>
                      <a:endParaRPr sz="1725" b="1">
                        <a:solidFill>
                          <a:srgbClr val="12776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2776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29.6</a:t>
                      </a:r>
                      <a:endParaRPr sz="1725" b="1">
                        <a:solidFill>
                          <a:srgbClr val="12776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 / 338 episodes / 1351子任务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47.2 s / 16.6 t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ftNav的GOAT每划分30 episode"/>
          <p:cNvSpPr>
            <a:spLocks noGrp="1"/>
          </p:cNvSpPr>
          <p:nvPr/>
        </p:nvSpPr>
        <p:spPr>
          <a:xfrm>
            <a:off x="685800" y="601980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SoftNav的GOAT每划分30 episodes，MSGNav为360 episodes。SG3D的s/t分别表示子任务／整任务SR。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来源：SoftNav 表III–IV；MSGNav 表1。SPL最高报告值与SR最高报告值分别保留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历史记忆：方法与评测概览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有限上下文中怎样利用过去见过的环境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研究问题：有限上下文中怎样利用过去见过的环境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观察历史的压缩与重放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观察历史的压缩与重放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保留图像或视觉tokens，&#10;本次决策重新读取历史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保留图像或视觉tokens，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本次决策重新读取历史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递归状态与缓存更新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递归状态与缓存更新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保留可更新的内部状态，&#10;新观测增量读写历史缓存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保留可更新的内部状态，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新观测增量读写历史缓存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276225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34.9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R2R-CE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RxR-CE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straNav按论文1 m判据；JanusVLN为额外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AstraNav按论文1 m判据；JanusVLN为额外数据版、单RGB。目标搜索与路线指令任务分别展示。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观察历史的压缩与重放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保存可再次读取的视觉经历，在当前决策中提供历史上下文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保存可再次读取的视觉经历，在当前决策中提供历史上下文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保存观察与位置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保存观察与位置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存储图像或已编码视觉tokens，必要时关联位姿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存储图像或已编码视觉tokens，必要时关联位姿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控制历史信息量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控制历史信息量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减少每帧tokens、分级压缩或合并相似观察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减少每帧tokens、分级压缩或合并相似观察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重放选取的历史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重放选取的历史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与当前观测及目标共同输入本次决策模型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与当前观测及目标共同输入本次决策模型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利用过去出现的目标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利用过去出现的目标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后续任务重读经历，减少重复探索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后续任务重读经历，减少重复探索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AstraNav每帧压缩，Uni-NaVid分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类内实现：AstraNav每帧压缩，Uni-NaVid分级历史，SoftNav近期窗口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可复用视觉经历。限制：历史越长成本越高，强压缩会损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收益：可复用视觉经历。限制：历史越长成本越高，强压缩会损失细节。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AstraNav：压缩后读取长期历史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主配置每帧视觉token：原始598个，压缩后30个"/>
          <p:cNvSpPr>
            <a:spLocks noGrp="1"/>
          </p:cNvSpPr>
          <p:nvPr/>
        </p:nvSpPr>
        <p:spPr>
          <a:xfrm>
            <a:off x="685800" y="1200150"/>
            <a:ext cx="10820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主配置每帧视觉token：原始598个，压缩后30个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100" y="1790700"/>
            <a:ext cx="9829800" cy="4191000"/>
          </a:xfrm>
          <a:prstGeom prst="rect">
            <a:avLst/>
          </a:prstGeom>
        </p:spPr>
      </p:pic>
      <p:sp>
        <p:nvSpPr>
          <p:cNvPr id="5" name="图像与位姿成对输入模型，用于预测目标位置或下一探索前沿坐标。"/>
          <p:cNvSpPr>
            <a:spLocks noGrp="1"/>
          </p:cNvSpPr>
          <p:nvPr/>
        </p:nvSpPr>
        <p:spPr>
          <a:xfrm>
            <a:off x="685800" y="6105525"/>
            <a:ext cx="10820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图像与位姿成对输入模型，用于预测目标位置或下一探索前沿坐标。</a:t>
            </a:r>
            <a:endParaRPr sz="180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来源：AstraNav-Memory，图2（PDF第4页）；压缩算子按正文第3.2节解释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递归状态与缓存更新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把历史保留在跨步更新的状态中，每次只增量处理新观察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把历史保留在跨步更新的状态中，每次只增量处理新观察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/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读取历史状态"/>
          <p:cNvSpPr>
            <a:spLocks noGrp="1"/>
          </p:cNvSpPr>
          <p:nvPr/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读取历史状态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当前帧查询已保存的几何特征或Key／Value"/>
          <p:cNvSpPr>
            <a:spLocks noGrp="1"/>
          </p:cNvSpPr>
          <p:nvPr/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当前帧查询已保存的几何特征或Key／Value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/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写入当前观察"/>
          <p:cNvSpPr>
            <a:spLocks noGrp="1"/>
          </p:cNvSpPr>
          <p:nvPr/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写入当前观察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新特征进入状态，供后续导航步使用"/>
          <p:cNvSpPr>
            <a:spLocks noGrp="1"/>
          </p:cNvSpPr>
          <p:nvPr/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新特征进入状态，供后续导航步使用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/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维护有限容量"/>
          <p:cNvSpPr>
            <a:spLocks noGrp="1"/>
          </p:cNvSpPr>
          <p:nvPr/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维护有限容量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保留初始锚点与近期窗口，移除中间历史"/>
          <p:cNvSpPr>
            <a:spLocks noGrp="1"/>
          </p:cNvSpPr>
          <p:nvPr/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保留初始锚点与近期窗口，移除中间历史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/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融合当前决策"/>
          <p:cNvSpPr>
            <a:spLocks noGrp="1"/>
          </p:cNvSpPr>
          <p:nvPr/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融合当前决策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将历史增强的空间特征与语义、指令结合"/>
          <p:cNvSpPr>
            <a:spLocks noGrp="1"/>
          </p:cNvSpPr>
          <p:nvPr/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将历史增强的空间特征与语义、指令结合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KV缓存是跨步状态的一种实现，视觉特征缓存与语言模型KV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KV缓存是跨步状态的一种实现，视觉特征缓存与语言模型KV需分别说明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减少旧观察的重复编码。限制：窗口会遗忘，旧状态误差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收益：减少旧观察的重复编码。限制：窗口会遗忘，旧状态误差可能继续传播。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JanusVLN：语义历史与流式几何缓存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3356" y="1257300"/>
            <a:ext cx="6585289" cy="3676650"/>
          </a:xfrm>
          <a:prstGeom prst="rect">
            <a:avLst/>
          </a:prstGeom>
        </p:spPr>
      </p:pic>
      <p:graphicFrame>
        <p:nvGraphicFramePr>
          <p:cNvPr id="4" name="表格 3"/>
          <p:cNvGraphicFramePr/>
          <p:nvPr/>
        </p:nvGraphicFramePr>
        <p:xfrm>
          <a:off x="685800" y="5095875"/>
          <a:ext cx="10820400" cy="1257300"/>
        </p:xfrm>
        <a:graphic>
          <a:graphicData uri="http://schemas.openxmlformats.org/drawingml/2006/table">
            <a:tbl>
              <a:tblPr firstRow="1"/>
              <a:tblGrid>
                <a:gridCol w="2238375"/>
                <a:gridCol w="8582025"/>
              </a:tblGrid>
              <a:tr h="3810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分支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公开评测路径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语义分支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重放采样历史图像，最多9张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几何分支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VGGT跨步KV，保留初始8帧与近期48帧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来源：JanusVLN Fig.2及官方实现核对。纯RGB输入仍可使用学习到的三维先验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历史记忆：各benchmark与划分结果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28750"/>
          <a:ext cx="10820400" cy="4648200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57.5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34.9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54.7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补充：JanusVLN另报OVON Val-Uns"/>
          <p:cNvSpPr>
            <a:spLocks noGrp="1"/>
          </p:cNvSpPr>
          <p:nvPr/>
        </p:nvSpPr>
        <p:spPr>
          <a:xfrm>
            <a:off x="685800" y="615315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补充：JanusVLN另报OVON Val-Unseen为44.9／31.7，评测细节披露有限，不与AstraNav作严格排名。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来源：AstraNav-Memory 表1–2；JanusVLN 表1–2及附录表6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探索与目标搜索：方法与评测概览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目标尚未出现时，下一探索位置怎样选择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研究问题：目标尚未出现时，下一探索位置怎样选择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语义引导的前沿搜索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语义引导的前沿搜索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以未知区域边界为候选，&#10;按目标相关性选择下一位置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以未知区域边界为候选，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按目标相关性选择下一位置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同类方法的实现差异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同类方法的实现差异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地图赋值或图像前沿评分，&#10;可再结合信息增益与距离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地图赋值或图像前沿评分，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可再结合信息增益与距离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392430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Gibson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VLFM†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77.3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MP3D ObjectNav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VLFM†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Synonyms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VLFM†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32.4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† 本方向仅一篇报告该benchmark或划分。VLFM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† 本方向仅一篇报告该benchmark或划分。VLFM的OVON结果来自基准论文重评，未报告项不补零。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语义引导的前沿搜索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先评价哪些未知区域值得探索，再将候选位置交给导航执行器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先评价哪些未知区域值得探索，再将候选位置交给导航执行器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/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产生探索候选"/>
          <p:cNvSpPr>
            <a:spLocks noGrp="1"/>
          </p:cNvSpPr>
          <p:nvPr/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产生探索候选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从占据地图或当前图像中识别探索前沿"/>
          <p:cNvSpPr>
            <a:spLocks noGrp="1"/>
          </p:cNvSpPr>
          <p:nvPr/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从占据地图或当前图像中识别探索前沿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/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评价目标相关性"/>
          <p:cNvSpPr>
            <a:spLocks noGrp="1"/>
          </p:cNvSpPr>
          <p:nvPr/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评价目标相关性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用图文相似度或视觉语言模型评价搜索方向"/>
          <p:cNvSpPr>
            <a:spLocks noGrp="1"/>
          </p:cNvSpPr>
          <p:nvPr/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用图文相似度或视觉语言模型评价搜索方向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/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权衡收益与代价"/>
          <p:cNvSpPr>
            <a:spLocks noGrp="1"/>
          </p:cNvSpPr>
          <p:nvPr/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权衡收益与代价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结合信息增益、置信度或到达距离选子目标"/>
          <p:cNvSpPr>
            <a:spLocks noGrp="1"/>
          </p:cNvSpPr>
          <p:nvPr/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结合信息增益、置信度或到达距离选子目标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/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移动后更新与核验"/>
          <p:cNvSpPr>
            <a:spLocks noGrp="1"/>
          </p:cNvSpPr>
          <p:nvPr/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移动后更新与核验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更新观察和候选，发现疑似目标后再次确认"/>
          <p:cNvSpPr>
            <a:spLocks noGrp="1"/>
          </p:cNvSpPr>
          <p:nvPr/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更新观察和候选，发现疑似目标后再次确认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VLFM与OpenFrontier共享“候选产生、语义评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VLFM与OpenFrontier共享“候选产生、语义评价、执行反馈”的方法链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复用预训练语义能力。限制：语义先验会误导，目标误检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收益：复用预训练语义能力。限制：语义先验会误导，目标误检与局部卡住仍会发生。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OpenFrontier：在图像中评价探索方向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标记候选前沿后，VLM根据周围场景判断哪个方向更可能通向目标"/>
          <p:cNvSpPr>
            <a:spLocks noGrp="1"/>
          </p:cNvSpPr>
          <p:nvPr/>
        </p:nvSpPr>
        <p:spPr>
          <a:xfrm>
            <a:off x="685800" y="12001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标记候选前沿后，VLM根据周围场景判断哪个方向更可能通向目标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78578"/>
            <a:ext cx="10820400" cy="3453319"/>
          </a:xfrm>
          <a:prstGeom prst="rect">
            <a:avLst/>
          </a:prstGeom>
        </p:spPr>
      </p:pic>
      <p:sp>
        <p:nvSpPr>
          <p:cNvPr id="5" name="FrontierNet提供探索先验，VLM提供目标相关概率，"/>
          <p:cNvSpPr>
            <a:spLocks noGrp="1"/>
          </p:cNvSpPr>
          <p:nvPr/>
        </p:nvSpPr>
        <p:spPr>
          <a:xfrm>
            <a:off x="685800" y="58102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FrontierNet提供探索先验，VLM提供目标相关概率，三维后端维护全局候选位置。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来源：OpenFrontier，图2（PDF第2页）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前沿搜索的两种实现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714500"/>
          <a:ext cx="10820400" cy="4076700"/>
        </p:xfrm>
        <a:graphic>
          <a:graphicData uri="http://schemas.openxmlformats.org/drawingml/2006/table">
            <a:tbl>
              <a:tblPr firstRow="1"/>
              <a:tblGrid>
                <a:gridCol w="2190750"/>
                <a:gridCol w="4314825"/>
                <a:gridCol w="4314825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比较环节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候选来源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二维占据地图的前沿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RGB图像中的视觉前沿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语义评价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图文相似度投影到价值地图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VLM直接评价标记的前沿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跨视角组织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地图价值与置信度融合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三维前沿集合合并与清理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子目标选择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读取高价值前沿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相关性、信息增益与距离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发现疑似目标后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检测、分割与深度定位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前往观察位姿后VLM核验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空间属性：VLFM为二维地图；OpenFrontier结"/>
          <p:cNvSpPr>
            <a:spLocks noGrp="1"/>
          </p:cNvSpPr>
          <p:nvPr/>
        </p:nvSpPr>
        <p:spPr>
          <a:xfrm>
            <a:off x="685800" y="6048375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空间属性：VLFM为二维地图；OpenFrontier结合二维图像候选与三维位置管理。</a:t>
            </a:r>
            <a:endParaRPr sz="17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整理自VLFM §IV和OpenFrontier §III。二者属于同一方法范式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导航策略训练与优化：方法与评测概览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示范监督与环境奖励怎样共同改进导航策略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研究问题：示范监督与环境奖励怎样共同改进导航策略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模仿学习与强化学习结合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模仿学习与强化学习结合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先从示范建立决策能力，&#10;再或同时用奖励改进策略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先从示范建立决策能力，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再或同时用奖励改进策略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类内训练设计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类内训练设计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C／SFT与PPO／GRPO，&#10;辅助监督、权重与奖励设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BC／SFT与PPO／GRPO，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辅助监督、权重与奖励设计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392430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44.7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43.5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表2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MP3D ObjectNav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Instance-ImageNav / 表2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ProcTHOR / 未见环境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58.1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OVON较高SR为OVSegDT，较高SPL为Compa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OVON较高SR为OVSegDT，较高SPL为CompassNav，分别保留整对数值。不同传感器与协议不作统一排名。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模仿学习与强化学习结合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示范告诉策略怎样行动，奖励让策略比较行动带来的后果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示范告诉策略怎样行动，奖励让策略比较行动带来的后果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/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从示范学习决策"/>
          <p:cNvSpPr>
            <a:spLocks noGrp="1"/>
          </p:cNvSpPr>
          <p:nvPr/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从示范学习决策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用专家动作或教师回答训练BC／SFT初始能力"/>
          <p:cNvSpPr>
            <a:spLocks noGrp="1"/>
          </p:cNvSpPr>
          <p:nvPr/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用专家动作或教师回答训练BC／SFT初始能力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/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构建策略优化信号"/>
          <p:cNvSpPr>
            <a:spLocks noGrp="1"/>
          </p:cNvSpPr>
          <p:nvPr/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构建策略优化信号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按导航进展、成功或候选动作质量给奖励"/>
          <p:cNvSpPr>
            <a:spLocks noGrp="1"/>
          </p:cNvSpPr>
          <p:nvPr/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按导航进展、成功或候选动作质量给奖励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/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联合或分阶段优化"/>
          <p:cNvSpPr>
            <a:spLocks noGrp="1"/>
          </p:cNvSpPr>
          <p:nvPr/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联合或分阶段优化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同时加权BC与PPO，或先SFT再GRPO"/>
          <p:cNvSpPr>
            <a:spLocks noGrp="1"/>
          </p:cNvSpPr>
          <p:nvPr/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同时加权BC与PPO，或先SFT再GRPO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/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适应部署时的输入"/>
          <p:cNvSpPr>
            <a:spLocks noGrp="1"/>
          </p:cNvSpPr>
          <p:nvPr/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适应部署时的输入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用预测掩码或可行动作候选缩小训练执行差异"/>
          <p:cNvSpPr>
            <a:spLocks noGrp="1"/>
          </p:cNvSpPr>
          <p:nvPr/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用预测掩码或可行动作候选缩小训练执行差异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共同范式：示范监督与奖励优化结合。配比策略和奖励形状属于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共同范式：示范监督与奖励优化结合。配比策略和奖励形状属于类内设计。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利用示范并改进决策质量。限制：依赖示范覆盖、奖励质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收益：利用示范并改进决策质量。限制：依赖示范覆盖、奖励质量与训练预算。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OVSegDT：目标掩码怎样进入策略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725" y="1457325"/>
            <a:ext cx="5998900" cy="4752975"/>
          </a:xfrm>
          <a:prstGeom prst="rect">
            <a:avLst/>
          </a:prstGeom>
        </p:spPr>
      </p:pic>
      <p:sp>
        <p:nvSpPr>
          <p:cNvPr id="4" name="输入"/>
          <p:cNvSpPr>
            <a:spLocks noGrp="1"/>
          </p:cNvSpPr>
          <p:nvPr/>
        </p:nvSpPr>
        <p:spPr>
          <a:xfrm>
            <a:off x="7381875" y="1466850"/>
            <a:ext cx="4124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当前RGB、目标文字、&#10;上一步动作、目标二值掩码。"/>
          <p:cNvSpPr>
            <a:spLocks noGrp="1"/>
          </p:cNvSpPr>
          <p:nvPr/>
        </p:nvSpPr>
        <p:spPr>
          <a:xfrm>
            <a:off x="7381875" y="1924050"/>
            <a:ext cx="41243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当前RGB、目标文字、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上一步动作、目标二值掩码。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时间建模"/>
          <p:cNvSpPr>
            <a:spLocks noGrp="1"/>
          </p:cNvSpPr>
          <p:nvPr/>
        </p:nvSpPr>
        <p:spPr>
          <a:xfrm>
            <a:off x="7381875" y="3057525"/>
            <a:ext cx="4124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时间建模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ransformer读取最近100步，&#10;预测动作分布与状态"/>
          <p:cNvSpPr>
            <a:spLocks noGrp="1"/>
          </p:cNvSpPr>
          <p:nvPr/>
        </p:nvSpPr>
        <p:spPr>
          <a:xfrm>
            <a:off x="7381875" y="3514725"/>
            <a:ext cx="41243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Transformer读取最近100步，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预测动作分布与状态价值。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辅助监督"/>
          <p:cNvSpPr>
            <a:spLocks noGrp="1"/>
          </p:cNvSpPr>
          <p:nvPr/>
        </p:nvSpPr>
        <p:spPr>
          <a:xfrm>
            <a:off x="7381875" y="4648200"/>
            <a:ext cx="41243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辅助监督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重建目标掩码，促使序列特征&#10;保留目标位置线索。"/>
          <p:cNvSpPr>
            <a:spLocks noGrp="1"/>
          </p:cNvSpPr>
          <p:nvPr/>
        </p:nvSpPr>
        <p:spPr>
          <a:xfrm>
            <a:off x="7381875" y="5105400"/>
            <a:ext cx="41243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重建目标掩码，促使序列特征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保留目标位置线索。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来源：OVSegDT，图2（PDF第4页）。图中分割头为训练辅助头，输入掩码由外部感知提供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CompassNav：SFT之后用GRPO比较动作质量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514475"/>
          <a:ext cx="10820400" cy="2171700"/>
        </p:xfrm>
        <a:graphic>
          <a:graphicData uri="http://schemas.openxmlformats.org/drawingml/2006/table">
            <a:tbl>
              <a:tblPr firstRow="1"/>
              <a:tblGrid>
                <a:gridCol w="1905000"/>
                <a:gridCol w="4667250"/>
                <a:gridCol w="424815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训练阶段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学习信号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作用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857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SFT初始化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教师分析与动作编号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建立基本决策能力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GRPO优化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候选动作的连续质量奖励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改进动作间的比较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差距感知奖励的作用"/>
          <p:cNvSpPr>
            <a:spLocks noGrp="1"/>
          </p:cNvSpPr>
          <p:nvPr/>
        </p:nvSpPr>
        <p:spPr>
          <a:xfrm>
            <a:off x="685800" y="4133850"/>
            <a:ext cx="108204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差距感知奖励的作用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85800" y="4591050"/>
          <a:ext cx="10820400" cy="1485900"/>
        </p:xfrm>
        <a:graphic>
          <a:graphicData uri="http://schemas.openxmlformats.org/drawingml/2006/table">
            <a:tbl>
              <a:tblPr firstRow="1"/>
              <a:tblGrid>
                <a:gridCol w="3476625"/>
                <a:gridCol w="7343775"/>
              </a:tblGrid>
              <a:tr h="419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候选动作关系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奖励倾向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334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最佳与次佳距离接近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给接近的连续评分，最优额外奖励较弱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最佳候选明显更好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加大最优候选的额外奖励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真实目标坐标仅用于训练标签；分析文字的正确性未被逐句监督"/>
          <p:cNvSpPr>
            <a:spLocks noGrp="1"/>
          </p:cNvSpPr>
          <p:nvPr/>
        </p:nvSpPr>
        <p:spPr>
          <a:xfrm>
            <a:off x="685800" y="6181725"/>
            <a:ext cx="10820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真实目标坐标仅用于训练标签；分析文字的正确性未被逐句监督验证。</a:t>
            </a:r>
            <a:endParaRPr sz="16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来源：CompassNav §3–4、Fig.4及奖励公式。训练与推理可见信息分别说明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策略训练与优化：完整结果与统计口径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09700"/>
          <a:ext cx="10820400" cy="4743450"/>
        </p:xfrm>
        <a:graphic>
          <a:graphicData uri="http://schemas.openxmlformats.org/drawingml/2006/table">
            <a:tbl>
              <a:tblPr firstRow="1"/>
              <a:tblGrid>
                <a:gridCol w="4171950"/>
                <a:gridCol w="2857500"/>
                <a:gridCol w="1895475"/>
                <a:gridCol w="1895475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43.6 ± 0.4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20.1 ± 0.2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40.1 ± 0.4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17.9 ± 0.1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44.7 ± 0.4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20.6 ± 0.2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43.5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表1设置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表2设置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MP3D ObjectNav / Val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Instance-ImageNav / 表2设置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ProcTHOR / 未见环境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58.1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HM3D保留原表1／表2设置，不自行对应v1／v2"/>
          <p:cNvSpPr>
            <a:spLocks noGrp="1"/>
          </p:cNvSpPr>
          <p:nvPr/>
        </p:nvSpPr>
        <p:spPr>
          <a:xfrm>
            <a:off x="685800" y="6229350"/>
            <a:ext cx="10820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HM3D保留原表1／表2设置，不自行对应v1／v2；±为三随机种子的标准差。仅比较主配置，不混入真值掩码消融。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来源：OVSegDT 表1；CompassNav 表1–2、附录表6–7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方法类别怎样组合成一个导航系统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619250"/>
          <a:ext cx="10820400" cy="4171950"/>
        </p:xfrm>
        <a:graphic>
          <a:graphicData uri="http://schemas.openxmlformats.org/drawingml/2006/table">
            <a:tbl>
              <a:tblPr firstRow="1"/>
              <a:tblGrid>
                <a:gridCol w="2238375"/>
                <a:gridCol w="4724400"/>
                <a:gridCol w="3857625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设计环节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方法选择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需要单独报告的条件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职责与接口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分层模块协作／统一联合建模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模块依赖与执行器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环境状态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显式地图结构／连续空间特征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二维或三维、深度与位姿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历史利用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压缩重放／递归缓存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历史长度、信息损失与更新方式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探索决策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语义引导的前沿搜索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候选覆盖、可达性与目标核验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策略学习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示范监督与奖励优化结合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数据规模、训练配置与奖励定义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比较新方法时，先对齐任务、传感器与评测协议，再讨论具体机"/>
          <p:cNvSpPr>
            <a:spLocks noGrp="1"/>
          </p:cNvSpPr>
          <p:nvPr/>
        </p:nvSpPr>
        <p:spPr>
          <a:xfrm>
            <a:off x="685800" y="600075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比较新方法时，先对齐任务、传感器与评测协议，再讨论具体机制的贡献。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方法可组合。文献主归属、表征维度和训练算力分别记录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评测基准：各自检验什么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务定义决定应验证哪一种能力"/>
          <p:cNvSpPr>
            <a:spLocks noGrp="1"/>
          </p:cNvSpPr>
          <p:nvPr/>
        </p:nvSpPr>
        <p:spPr>
          <a:xfrm>
            <a:off x="685800" y="12001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任务定义决定应验证哪一种能力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1971675"/>
          <a:ext cx="10820400" cy="3848100"/>
        </p:xfrm>
        <a:graphic>
          <a:graphicData uri="http://schemas.openxmlformats.org/drawingml/2006/table">
            <a:tbl>
              <a:tblPr firstRow="1"/>
              <a:tblGrid>
                <a:gridCol w="2762250"/>
                <a:gridCol w="4095750"/>
                <a:gridCol w="3962400"/>
              </a:tblGrid>
              <a:tr h="4953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基准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任务或资源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主要检验内容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8096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Semantics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室内三维场景语义标注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提供物体与空间语义基础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开放词汇类别目标导航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已见、同义词及未见类别泛化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多模态目标连续导航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历史积累与跨目标复用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 / SG-LLM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顺序目标定位与导航，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以及相应模型基线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任务上下文与跨步骤对象引用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整理自四篇基准论文。跨论文比较需对齐目标类型、传感器、划分及成功条件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GOAT-Bench：连续多模态目标任务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37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同一环境内依次完成5至10个子任务，环境与智能体状态持续保留"/>
          <p:cNvSpPr>
            <a:spLocks noGrp="1"/>
          </p:cNvSpPr>
          <p:nvPr/>
        </p:nvSpPr>
        <p:spPr>
          <a:xfrm>
            <a:off x="685800" y="12001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同一环境内依次完成5至10个子任务，环境与智能体状态持续保留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919"/>
            <a:ext cx="7905750" cy="4447936"/>
          </a:xfrm>
          <a:prstGeom prst="rect">
            <a:avLst/>
          </a:prstGeom>
        </p:spPr>
      </p:pic>
      <p:sp>
        <p:nvSpPr>
          <p:cNvPr id="5" name="目标形式"/>
          <p:cNvSpPr>
            <a:spLocks noGrp="1"/>
          </p:cNvSpPr>
          <p:nvPr/>
        </p:nvSpPr>
        <p:spPr>
          <a:xfrm>
            <a:off x="9029700" y="1990725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目标形式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类别名称&#10;参考图像&#10;语言描述"/>
          <p:cNvSpPr>
            <a:spLocks noGrp="1"/>
          </p:cNvSpPr>
          <p:nvPr/>
        </p:nvSpPr>
        <p:spPr>
          <a:xfrm>
            <a:off x="9029700" y="2447925"/>
            <a:ext cx="2476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类别名称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参考图像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语言描述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历史价值"/>
          <p:cNvSpPr>
            <a:spLocks noGrp="1"/>
          </p:cNvSpPr>
          <p:nvPr/>
        </p:nvSpPr>
        <p:spPr>
          <a:xfrm>
            <a:off x="9029700" y="3838575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历史价值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复用已见物体及位置，&#10;减少后续重复探索。"/>
          <p:cNvSpPr>
            <a:spLocks noGrp="1"/>
          </p:cNvSpPr>
          <p:nvPr/>
        </p:nvSpPr>
        <p:spPr>
          <a:xfrm>
            <a:off x="9029700" y="4295775"/>
            <a:ext cx="2476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复用已见物体及位置，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减少后续重复探索。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评测成功率与路径效率，检验跨目标经验复用。"/>
          <p:cNvSpPr>
            <a:spLocks noGrp="1"/>
          </p:cNvSpPr>
          <p:nvPr/>
        </p:nvSpPr>
        <p:spPr>
          <a:xfrm>
            <a:off x="9029700" y="5467350"/>
            <a:ext cx="2476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评测成功率与路径效率，检验跨目标经验复用。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来源：GOAT-Bench，图1与第3节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分层与模块化协作：TANGO、SuperNav、OmniNav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多能力统一联合建模：D3D-VLP、Uni-NaVid、MTU3D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095500"/>
          <a:ext cx="10820400" cy="3981450"/>
        </p:xfrm>
        <a:graphic>
          <a:graphicData uri="http://schemas.openxmlformats.org/drawingml/2006/table">
            <a:tbl>
              <a:tblPr firstRow="1"/>
              <a:tblGrid>
                <a:gridCol w="2057400"/>
                <a:gridCol w="4857750"/>
                <a:gridCol w="390525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时长与备注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TANGO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无需新增导航专项训练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复用预训练模型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SuperNav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主模型与几何执行器无需专项训练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学习式执行器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GPU 配置未报告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阶段1：96 × H20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阶段2：64 × H20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120小时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48小时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 × RTX 6000 Ada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约14天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Uni-NaVid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 × H800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约35小时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 × A100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约164 GPU·小时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315075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训练配置沿用源文档口径，基础模型与复用组件的预训练开销另计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显式地图与场景结构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学习式连续空间特征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571750"/>
          <a:ext cx="10820400" cy="295275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4667250"/>
                <a:gridCol w="320040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时长与备注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22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无需新增导航专项训练</a:t>
                      </a:r>
                      <a:endParaRPr sz="22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推理资源另计</a:t>
                      </a:r>
                      <a:endParaRPr sz="22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22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× RTX 4090</a:t>
                      </a:r>
                      <a:endParaRPr sz="22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时长未报告</a:t>
                      </a:r>
                      <a:endParaRPr sz="22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历史记忆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观察历史的压缩与重放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递归状态与缓存更新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571750"/>
          <a:ext cx="10820400" cy="2952750"/>
        </p:xfrm>
        <a:graphic>
          <a:graphicData uri="http://schemas.openxmlformats.org/drawingml/2006/table">
            <a:tbl>
              <a:tblPr firstRow="1"/>
              <a:tblGrid>
                <a:gridCol w="3429000"/>
                <a:gridCol w="3333750"/>
                <a:gridCol w="405765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时长与备注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21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 × H20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时长未报告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21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 × H20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约31小时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笔记转引作者答复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0769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JanusVLN 配置据阅读笔记转引作者答复，本次未能加载评论正文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探索与目标搜索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语义引导的前沿搜索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VLFM与OpenFrontier采用不同的语义评价接口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571750"/>
          <a:ext cx="10820400" cy="2952750"/>
        </p:xfrm>
        <a:graphic>
          <a:graphicData uri="http://schemas.openxmlformats.org/drawingml/2006/table">
            <a:tbl>
              <a:tblPr firstRow="1"/>
              <a:tblGrid>
                <a:gridCol w="2667000"/>
                <a:gridCol w="4191000"/>
                <a:gridCol w="396240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统计口径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无需新增导航专项训练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复用组件的预训练开销另计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无需新增导航专项训练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运行与推理仍需计算资源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0769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源文档未将运行显卡配置计作训练算力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导航策略训练与优化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模仿学习与强化学习结合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联合加权BC／PPO，或先SFT再GRPO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571750"/>
          <a:ext cx="10820400" cy="2952750"/>
        </p:xfrm>
        <a:graphic>
          <a:graphicData uri="http://schemas.openxmlformats.org/drawingml/2006/table">
            <a:tbl>
              <a:tblPr firstRow="1"/>
              <a:tblGrid>
                <a:gridCol w="2381250"/>
                <a:gridCol w="4000500"/>
                <a:gridCol w="443865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训练规模与时长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× A100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约2.15亿环境步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时长未报告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SFT：8 × A800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RFT：8 × H200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SFT：约12小时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RFT：约56.7小时（估算）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0769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CompassNav 的 RFT 时长按约170步、每步约20分钟换算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数据集与评测基准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场景语义标注、开放词汇与多模态目标构建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连续或顺序任务设计，以及评测协议和基线设计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266950"/>
          <a:ext cx="10820400" cy="3695700"/>
        </p:xfrm>
        <a:graphic>
          <a:graphicData uri="http://schemas.openxmlformats.org/drawingml/2006/table">
            <a:tbl>
              <a:tblPr firstRow="1"/>
              <a:tblGrid>
                <a:gridCol w="4095750"/>
                <a:gridCol w="6724650"/>
              </a:tblGrid>
              <a:tr h="4953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训练算力统计口径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Semantics</a:t>
                      </a:r>
                      <a:endParaRPr sz="21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数据集本身不适用，导航基线另计</a:t>
                      </a:r>
                      <a:endParaRPr sz="21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</a:t>
                      </a:r>
                      <a:endParaRPr sz="21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按各基线分别统计</a:t>
                      </a:r>
                      <a:endParaRPr sz="21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</a:t>
                      </a:r>
                      <a:endParaRPr sz="21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按各基线分别统计</a:t>
                      </a:r>
                      <a:endParaRPr sz="21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 / SG-LLM</a:t>
                      </a:r>
                      <a:endParaRPr sz="21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 SG-LLM 等基线分别统计</a:t>
                      </a:r>
                      <a:endParaRPr sz="21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训练算力统计口径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504950"/>
          <a:ext cx="10820400" cy="4324350"/>
        </p:xfrm>
        <a:graphic>
          <a:graphicData uri="http://schemas.openxmlformats.org/drawingml/2006/table">
            <a:tbl>
              <a:tblPr firstRow="1"/>
              <a:tblGrid>
                <a:gridCol w="2476500"/>
                <a:gridCol w="8343900"/>
              </a:tblGrid>
              <a:tr h="4953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统计项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口径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配置来源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各篇阅读笔记记录的论文或作者报告配置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成本范围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基础模型与复用组件的预训练开销另计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免训练方法仍需推理资源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时间与卡时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GPU·小时 = GPU 数量 × 训练小时数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不同型号 GPU 的卡时分别保留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缺失与估算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未报告的数据保留“未报告”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 RFT 的约56.7小时属于换算估计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urce-note"/>
          <p:cNvSpPr>
            <a:spLocks noGrp="1"/>
          </p:cNvSpPr>
          <p:nvPr/>
        </p:nvSpPr>
        <p:spPr>
          <a:xfrm>
            <a:off x="685800" y="61150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JanusVLN 的训练配置保留“阅读笔记转引作者答复”来源说明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9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0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9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0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9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0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9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0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heme/theme1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10993</Words>
  <Application>WPS 演示</Application>
  <PresentationFormat>Converted Presentation</PresentationFormat>
  <Paragraphs>1787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0" baseType="lpstr">
      <vt:lpstr>Arial</vt:lpstr>
      <vt:lpstr>宋体</vt:lpstr>
      <vt:lpstr>Wingdings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WPS_1674288765</cp:lastModifiedBy>
  <cp:revision>1</cp:revision>
  <dcterms:created xsi:type="dcterms:W3CDTF">2026-10-17T14:04:14Z</dcterms:created>
  <dcterms:modified xsi:type="dcterms:W3CDTF">2026-10-17T14:04:14Z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409202CDD2574359AFE74D973CF142D3_12</vt:lpwstr>
  </property>
</Properties>
</file>