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/>
          <a:p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/>
          <a:p>
            <a:r>
              <a:t>资料来源：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分层与模块化协作的一种实现。第一步，读取导航目标、当前图像、带位姿的历史图像及地图前沿，形成任务与环境状态。完整慢系统另外依赖深度与里程计构图。第二步，慢系统在目标尚未出现时选择值得探索的前沿，目标已在当前或历史观测中出现时确定目标位置；以空间坐标作为Point-Goal接口传给快系统。第三步，快系统结合子目标、当前及近期视觉观测，由连续策略头生成未来5个航点，底层控制器负责实际移动。图中标作Diffusion Policy Head，正文实现采用Flow Matching。第四步，执行后更新图像、位姿、地图与探索状态，快系统滚动调整局部航点，到达子目标或需要重规划时重新进行高层选择。快慢系统共享VLM参数，分层指职责与决策尺度，不意味着两个完全独立训练的大模型。</a:t>
            </a:r>
          </a:p>
          <a:p>
            <a:r>
              <a:t/>
            </a:r>
          </a:p>
          <a:p>
            <a:r>
              <a:t>例如寻找洗碗机：先判断当前和历史是否看见目标，未见则选择厨房方向的探索前沿，快系统生成局部航点；获得洗碗机的新观察后，将子目标更新为目标位置并继续接近。</a:t>
            </a:r>
          </a:p>
          <a:p>
            <a:r>
              <a:t/>
            </a:r>
          </a:p>
          <a:p>
            <a:r>
              <a:t>来源：05_视觉语言动作决策与视频记忆/read-OmniNav.md；OmniNav §3，Fig.1，式(1)–(4)。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D3D-VLP §3.1–3.3，Figs.2–3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/>
          <a:p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MSGNav §3.2–3.3，Fig.3，Algorithm 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§III，Fig.2上半部分，Table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/>
          <a:p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§III，Fig.2下半部分，Algorithm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/>
          <a:p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AstraNav-Memory §3，Fig.2，Tables 3–4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§3.2–3.3，Fig.2；笔记核对公开评测实现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/>
          <a:p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  <a:p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/>
          <a:p>
            <a:r>
              <a:t>资料来源：</a:t>
            </a:r>
          </a:p>
          <a:p>
            <a:r>
              <a:t>E:\科研_机器人\HM3D-OVON\HM3D_OVON_Papers\02_语义地图与前沿探索\read.md</a:t>
            </a:r>
          </a:p>
          <a:p>
            <a:r>
              <a:t>OpenFrontier Fig.2，§III，Algorithm 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/>
          <a:p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OVSegDT Fig.2；§4.2–4.3，§5 Training details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E:\科研_机器人\HM3D-OVON\HM3D_OVON_Papers\05_视觉语言动作决策与视频记忆\read-CompassNav.md</a:t>
            </a:r>
          </a:p>
          <a:p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开放词汇导航的方法分类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M3D-OVON-Papers"/>
          <p:cNvSpPr>
            <a:spLocks noGrp="1"/>
          </p:cNvSpPr>
          <p:nvPr/>
        </p:nvSpPr>
        <p:spPr>
          <a:xfrm>
            <a:off x="685800" y="1685925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HM3D-OVON-Papers</a:t>
            </a:r>
            <a:endParaRPr sz="2700" b="0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五个研究方向，八类方法范式"/>
          <p:cNvSpPr>
            <a:spLocks noGrp="1"/>
          </p:cNvSpPr>
          <p:nvPr/>
        </p:nvSpPr>
        <p:spPr>
          <a:xfrm>
            <a:off x="685800" y="2638425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五个研究方向，八类方法范式</a:t>
            </a:r>
            <a:endParaRPr sz="36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法机制、代表论文与评测结果"/>
          <p:cNvSpPr>
            <a:spLocks noGrp="1"/>
          </p:cNvSpPr>
          <p:nvPr/>
        </p:nvSpPr>
        <p:spPr>
          <a:xfrm>
            <a:off x="685800" y="376237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方法机制、代表论文与评测结果</a:t>
            </a:r>
            <a:endParaRPr sz="23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训练算力置于方法讲解之后"/>
          <p:cNvSpPr>
            <a:spLocks noGrp="1"/>
          </p:cNvSpPr>
          <p:nvPr/>
        </p:nvSpPr>
        <p:spPr>
          <a:xfrm>
            <a:off x="685800" y="4362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训练算力置于方法讲解之后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依据本地已收录文献与阅读笔记"/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依据本地已收录文献与阅读笔记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2026年10月17日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方法分类总览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400550"/>
        </p:xfrm>
        <a:graphic>
          <a:graphicData uri="http://schemas.openxmlformats.org/drawingml/2006/table">
            <a:tbl>
              <a:tblPr firstRow="1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一级方向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二级方法类别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主要归属文献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TANGO、SuperNav、OmniNav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D3D-VLP、Uni-NaVid、MTU3D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显式地图与场景结构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观察历史的压缩与重放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递归状态与缓存更新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VLFM、OpenFrontier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导航策略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训练与优化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模仿学习与强化学习结合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OVSegDT、CompassNav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/>
          <p:cNvSpPr>
            <a:spLocks noGrp="1"/>
          </p:cNvSpPr>
          <p:nvPr/>
        </p:nvSpPr>
        <p:spPr>
          <a:xfrm>
            <a:off x="685800" y="60960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主要归属用于组织汇报。显式结构、连续特征、历史重放与缓存可以组合。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分类依据：一级分支分类.md。数据集与评测基准另列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任务决策怎样与感知、规划和执行协作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研究问题：任务决策怎样与感知、规划和执行协作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分层与模块化协作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通过工具或子目标接口，&#10;衔接高层决策与局部执行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通过工具或子目标接口，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衔接高层决策与局部执行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多能力统一联合建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共享表示与决策接口，&#10;联合处理多种能力或任务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共享表示与决策接口，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联合处理多种能力或任务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 OVON按1 m判据。SG3D给定真实计划，s／t为子任务／整任务SR。其他结果见后续页。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高层处理任务意图，通过明确接口调用专门的执行模块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高层处理任务意图，通过明确接口调用专门的执行模块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理解任务与当前状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读取目标、当前观测和已完成进度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读取目标、当前观测和已完成进度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选择接口与子目标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输出程序调用、工具参数或空间子目标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输出程序调用、工具参数或空间子目标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专门模块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15415" y="38608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感知、局部规划或策略完成短程移动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感知、局部规划或策略完成短程移动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接收执行反馈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根据新观测更新任务状态与后续选择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根据新观测更新任务状态与后续选择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TANGO程序编排，SuperNav工具循环，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类内实现：TANGO程序编排，SuperNav工具循环，OmniNav快慢协作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模块可复用、可替换。限制：接口误差传递，高层证据可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收益：模块可复用、可替换。限制：接口误差传递，高层证据可能滞后。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6A47A404-6917-48D2-9B80-60729EE0B7A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OmniNav：快慢系统的接口</a:t>
            </a:r>
          </a:p>
        </p:txBody>
      </p:sp>
      <p:sp>
        <p:nvSpPr>
          <p:cNvPr id="2" name="以子目标坐标衔接全局规划与局部执行">
            <a:extLst>
              <a:ext uri="{FF2B5EF4-FFF2-40B4-BE49-F238E27FC236}">
                <ns2:creationId id="{A58A0E06-8C35-4A89-A34E-DB6C99A0E48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以子目标坐标衔接全局规划与局部执行</a:t>
            </a:r>
          </a:p>
        </p:txBody>
      </p:sp>
      <p:sp>
        <p:nvSpPr>
          <p:cNvPr id="3" name="快慢系统通过子目标坐标协作">
            <a:extLst>
              <a:ext uri="{FF2B5EF4-FFF2-40B4-BE49-F238E27FC236}">
                <ns2:creationId id="{54A3CDE2-C597-402E-AED4-16EE3DC399B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快慢系统通过子目标坐标协作</a:t>
            </a:r>
          </a:p>
        </p:txBody>
      </p:sp>
      <p:pic>
        <p:nvPicPr>
          <p:cNvPr id="4" name="">
            <a:extLst>
              <a:ext uri="{FF2B5EF4-FFF2-40B4-BE49-F238E27FC236}">
                <ns2:creationId id="{C3C5AE7C-A054-4DD0-823C-D47A14727271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270717"/>
            <a:ext cx="5257800" cy="2754716"/>
          </a:xfrm>
          <a:prstGeom prst="rect">
            <a:avLst/>
          </a:prstGeom>
        </p:spPr>
      </p:pic>
      <p:sp>
        <p:nvSpPr>
          <p:cNvPr id="5" name="慢系统确定下一探索点或目标位置。&#10;快系统把子目标转换为连续航">
            <a:extLst>
              <a:ext uri="{FF2B5EF4-FFF2-40B4-BE49-F238E27FC236}">
                <ns2:creationId id="{B4DC048B-86BE-4507-9691-917E26BBEE3F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慢系统确定下一探索点或目标位置。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快系统把子目标转换为连续航点。</a:t>
            </a:r>
          </a:p>
        </p:txBody>
      </p:sp>
      <p:sp>
        <p:nvSpPr>
          <p:cNvPr id="6" name="快慢系统共享 VLM 参数">
            <a:extLst>
              <a:ext uri="{FF2B5EF4-FFF2-40B4-BE49-F238E27FC236}">
                <ns2:creationId id="{59ADE319-A2F2-434C-B702-70FD5E8EBD4B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快慢系统共享 VLM 参数</a:t>
            </a:r>
          </a:p>
        </p:txBody>
      </p:sp>
      <p:sp>
        <p:nvSpPr>
          <p:cNvPr id="7" name="01">
            <a:extLst>
              <a:ext uri="{FF2B5EF4-FFF2-40B4-BE49-F238E27FC236}">
                <ns2:creationId id="{92046A24-8DA5-4831-830E-8E6E0960F55B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理解任务与当前状态">
            <a:extLst>
              <a:ext uri="{FF2B5EF4-FFF2-40B4-BE49-F238E27FC236}">
                <ns2:creationId id="{9309DA66-3ECC-4148-BCFF-0C29520FCBA8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理解任务与当前状态</a:t>
            </a:r>
          </a:p>
        </p:txBody>
      </p:sp>
      <p:sp>
        <p:nvSpPr>
          <p:cNvPr id="9" name="读取目标、当前与历史图像、位姿&#10;及探索前沿，判断目标是否出现">
            <a:extLst>
              <a:ext uri="{FF2B5EF4-FFF2-40B4-BE49-F238E27FC236}">
                <ns2:creationId id="{D0D0DCF7-7F5F-40C4-9397-38F8FD17696F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读取目标、当前与历史图像、位姿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及探索前沿，判断目标是否出现。</a:t>
            </a:r>
          </a:p>
        </p:txBody>
      </p:sp>
      <p:sp>
        <p:nvSpPr>
          <p:cNvPr id="10" name="02">
            <a:extLst>
              <a:ext uri="{FF2B5EF4-FFF2-40B4-BE49-F238E27FC236}">
                <ns2:creationId id="{40ADA02E-D8CB-477B-BA1F-3B42F109D389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选择接口与子目标">
            <a:extLst>
              <a:ext uri="{FF2B5EF4-FFF2-40B4-BE49-F238E27FC236}">
                <ns2:creationId id="{ED62E281-DB5E-40C9-9890-9D7C6B9C82E7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选择接口与子目标</a:t>
            </a:r>
          </a:p>
        </p:txBody>
      </p:sp>
      <p:sp>
        <p:nvSpPr>
          <p:cNvPr id="12" name="未见目标选前沿，已见目标选位置。&#10;慢系统将坐标以 Point">
            <a:extLst>
              <a:ext uri="{FF2B5EF4-FFF2-40B4-BE49-F238E27FC236}">
                <ns2:creationId id="{24AF9696-1630-4C09-9EAF-C30922DE16F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未见目标选前沿，已见目标选位置。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慢系统将坐标以 Point-Goal 传给快系统。</a:t>
            </a:r>
          </a:p>
        </p:txBody>
      </p:sp>
      <p:sp>
        <p:nvSpPr>
          <p:cNvPr id="13" name="03">
            <a:extLst>
              <a:ext uri="{FF2B5EF4-FFF2-40B4-BE49-F238E27FC236}">
                <ns2:creationId id="{F75A0D5E-8FF4-4E03-B024-29E9019E5D29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执行专门模块">
            <a:extLst>
              <a:ext uri="{FF2B5EF4-FFF2-40B4-BE49-F238E27FC236}">
                <ns2:creationId id="{46F1EA6A-9417-4F29-83BE-41D938A38987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执行专门模块</a:t>
            </a:r>
          </a:p>
        </p:txBody>
      </p:sp>
      <p:sp>
        <p:nvSpPr>
          <p:cNvPr id="15" name="快系统结合子目标和近期观测，&#10;生成未来5个连续航点，由控制器">
            <a:extLst>
              <a:ext uri="{FF2B5EF4-FFF2-40B4-BE49-F238E27FC236}">
                <ns2:creationId id="{F647B0BC-A709-481B-A626-947A2B61C279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快系统结合子目标和近期观测，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生成未来5个连续航点，由控制器执行。</a:t>
            </a:r>
          </a:p>
        </p:txBody>
      </p:sp>
      <p:sp>
        <p:nvSpPr>
          <p:cNvPr id="16" name="04">
            <a:extLst>
              <a:ext uri="{FF2B5EF4-FFF2-40B4-BE49-F238E27FC236}">
                <ns2:creationId id="{F93EC00B-0149-4DF8-BC37-3C02D5E39B6A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接收执行反馈">
            <a:extLst>
              <a:ext uri="{FF2B5EF4-FFF2-40B4-BE49-F238E27FC236}">
                <ns2:creationId id="{CB7210D3-4DB8-4D02-A562-C91C96FB755E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接收执行反馈</a:t>
            </a:r>
          </a:p>
        </p:txBody>
      </p:sp>
      <p:sp>
        <p:nvSpPr>
          <p:cNvPr id="18" name="移动后更新图像、位姿与探索状态。&#10;到达子目标或需重规划时，再">
            <a:extLst>
              <a:ext uri="{FF2B5EF4-FFF2-40B4-BE49-F238E27FC236}">
                <ns2:creationId id="{550D3E9F-28E3-4929-9682-F64DA1186E3E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移动后更新图像、位姿与探索状态。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到达子目标或需重规划时，再选下一处。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CB9B11B4-3454-46C2-9891-C924D67F681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来源：OmniNav，图1（PDF第4页）及第3节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F6526AC2-583E-4DC9-BE67-EFA3B8E60698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ns4:creationId val="2035915519"/>
      </p:ext>
    </p:extLst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共享表示或输出接口，让相关能力共同参与一次决策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用共享表示或输出接口，让相关能力共同参与一次决策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形成统一输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形成统一输入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将指令、观测、空间与历史编码为模型输入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将指令、观测、空间与历史编码为模型输入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共享语义与空间理解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共享语义与空间理解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联合建模任务意图、目标实体和可行动位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联合建模任务意图、目标实体和可行动位置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产生能力相关输出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产生能力相关输出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输出结构化决策、任务动作或候选评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输出结构化决策、任务动作或候选评分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联合训练并更新决策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联合训练并更新决策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多源监督训练共享模型，执行后更新状态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多源监督训练共享模型，执行后更新状态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结构化决策链、多任务动作生成、物体与前沿统一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类内实现：结构化决策链、多任务动作生成、物体与前沿统一评分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能力间表示割裂。限制：依赖任务对齐与数据覆盖，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收益：减少能力间表示割裂。限制：依赖任务对齐与数据覆盖，仍可保留执行器。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D3D-VLP：计划、目标定位与航点联合决策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5824"/>
            <a:ext cx="10820400" cy="3415852"/>
          </a:xfrm>
          <a:prstGeom prst="rect">
            <a:avLst/>
          </a:prstGeom>
        </p:spPr>
      </p:pic>
      <p:sp>
        <p:nvSpPr>
          <p:cNvPr id="4" name="环境记忆保存三维证据，决策记忆保存计划、目标与已执行轨迹"/>
          <p:cNvSpPr>
            <a:spLocks noGrp="1"/>
          </p:cNvSpPr>
          <p:nvPr/>
        </p:nvSpPr>
        <p:spPr>
          <a:xfrm>
            <a:off x="685800" y="55816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环境记忆保存三维证据，决策记忆保存计划、目标与已执行轨迹。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部分标注样本只对已有监督项计算损失。航点仍交由底层控制器"/>
          <p:cNvSpPr>
            <a:spLocks noGrp="1"/>
          </p:cNvSpPr>
          <p:nvPr/>
        </p:nvSpPr>
        <p:spPr>
          <a:xfrm>
            <a:off x="685800" y="6048375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部分标注样本只对已有监督项计算损失。航点仍交由底层控制器执行。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来源：D3D-VLP 方法章节，原论文框架图。图号与裁剪记录见素材清单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同类架构的接口差异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229100"/>
        </p:xfrm>
        <a:graphic>
          <a:graphicData uri="http://schemas.openxmlformats.org/drawingml/2006/table">
            <a:tbl>
              <a:tblPr firstRow="1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论文例子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关键接口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程序与可调用原语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技能指引、工具调用与图像点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空间子目标与连续航点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计划、三维目标与航点决策链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统一视频输入与任务标记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物体和探索前沿的统一评分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/>
          <p:cNvSpPr>
            <a:spLocks noGrp="1"/>
          </p:cNvSpPr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两类可以共存：OmniNav共享多任务骨干，D3D-VLP与MTU3D仍保留执行模块。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论文作为同类方法的实现例子。主分类不替代二维／三维、任务范围或资源条件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跨视角观测怎样形成可查询、可决策的环境状态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研究问题：跨视角观测怎样形成可查询、可决策的环境状态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显式地图与场景结构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格子、实体与关系&#10;保存位置、语义和证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用格子、实体与关系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保存位置、语义和证据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学习式连续空间特征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空间向量表达实体，&#10;经投影或评分接入决策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用空间向量表达实体，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经投影或评分接入决策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Unseen，0.25 m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GOAT两篇评测子集规模不同，保留各自结果，不作严格排名。二维／三维与显式／连续属于不同属性。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空间单元、实体及关系保存成可查询的环境记录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把空间单元、实体及关系保存成可查询的环境记录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建立空间记录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建立空间记录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对齐多帧观测，生成地图格子或物体节点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对齐多帧观测，生成地图格子或物体节点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合并重复观测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合并重复观测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维护位置、类别、对象身份与图像证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维护位置、类别、对象身份与图像证据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按当前目标读取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按当前目标读取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查询相关区域、物体、关系或支持图像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查询相关区域、物体、关系或支持图像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转换为导航子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转换为导航子目标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选择探索前沿、目标位置或可见视点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选择探索前沿、目标位置或可见视点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二维语义价值地图、三维物体图与视觉证据索引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类内实现：二维语义价值地图、三维物体图与视觉证据索引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证据与位置易检查。限制：漏检、位姿误差与错误关联会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收益：证据与位置易检查。限制：漏检、位姿误差与错误关联会随记录积累。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MSGNav：三维场景图怎样用于导航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物体节点保留空间属性，图边保留共同观测的图像证据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物体节点保留空间属性，图边保留共同观测的图像证据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798" y="1638300"/>
            <a:ext cx="10026404" cy="4362450"/>
          </a:xfrm>
          <a:prstGeom prst="rect">
            <a:avLst/>
          </a:prstGeom>
        </p:spPr>
      </p:pic>
      <p:sp>
        <p:nvSpPr>
          <p:cNvPr id="5" name="KSS筛选子图，AVU更新词汇，CLR读取决策反馈，VVD选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KSS筛选子图，AVU更新词汇，CLR读取决策反馈，VVD选择终点观察位置。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来源：MSGNav，图3（PDF第4页）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特征向量传递外观与几何信息，学习目标与实体的决策关系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用特征向量传递外观与几何信息，学习目标与实体的决策关系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编码空间实体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编码空间实体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把物体、区域与前沿表示成连续特征向量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把物体、区域与前沿表示成连续特征向量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齐目标与特征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对齐目标与特征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通过投影、注意力或查询解码接入决策模型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通过投影、注意力或查询解码接入决策模型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评分或生成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联合评分或生成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对候选打分，或生成下一目标与移动位置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对候选打分，或生成下一目标与移动位置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更新环境特征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更新环境特征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执行后合并新观测，刷新对象库与前沿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执行后合并新观测，刷新对象库与前沿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SoftNav空间soft tokens，MT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类内实现：SoftNav空间soft tokens，MTU3D查询评分，D3D-VLP三维tokens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保留丰富连续信息。限制：含义较难直接解释，依赖编码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收益：保留丰富连续信息。限制：含义较难直接解释，依赖编码器和训练分布。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SoftNav：三维特征的soft-token接口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5179"/>
            <a:ext cx="10820400" cy="3229493"/>
          </a:xfrm>
          <a:prstGeom prst="rect">
            <a:avLst/>
          </a:prstGeom>
        </p:spPr>
      </p:pic>
      <p:sp>
        <p:nvSpPr>
          <p:cNvPr id="4" name="PQ3D提供物体与前沿向量，MLP将768维特征投影到2"/>
          <p:cNvSpPr>
            <a:spLocks noGrp="1"/>
          </p:cNvSpPr>
          <p:nvPr/>
        </p:nvSpPr>
        <p:spPr>
          <a:xfrm>
            <a:off x="685800" y="5238750"/>
            <a:ext cx="108204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PQ3D提供物体与前沿向量，MLP将768维特征投影到2048维。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空间向量直接进入VLM。视觉分支另保留最近16帧的压缩历"/>
          <p:cNvSpPr>
            <a:spLocks noGrp="1"/>
          </p:cNvSpPr>
          <p:nvPr/>
        </p:nvSpPr>
        <p:spPr>
          <a:xfrm>
            <a:off x="685800" y="5829300"/>
            <a:ext cx="10820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空间向量直接进入VLM。视觉分支另保留最近16帧的压缩历史。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Fig.2上半部分。下页继续展示融合决策与执行，原图两部分均保留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SoftNav：空间、视觉历史与语言联合决策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0548"/>
            <a:ext cx="10820400" cy="3504479"/>
          </a:xfrm>
          <a:prstGeom prst="rect">
            <a:avLst/>
          </a:prstGeom>
        </p:spPr>
      </p:pic>
      <p:sp>
        <p:nvSpPr>
          <p:cNvPr id="4" name="视觉历史、三维实体tokens与指令共同参与注意力计算。"/>
          <p:cNvSpPr>
            <a:spLocks noGrp="1"/>
          </p:cNvSpPr>
          <p:nvPr/>
        </p:nvSpPr>
        <p:spPr>
          <a:xfrm>
            <a:off x="685800" y="54006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视觉历史、三维实体tokens与指令共同参与注意力计算。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输出二维探索坐标，再吸附到合法前沿并交由导航器执行。"/>
          <p:cNvSpPr>
            <a:spLocks noGrp="1"/>
          </p:cNvSpPr>
          <p:nvPr/>
        </p:nvSpPr>
        <p:spPr>
          <a:xfrm>
            <a:off x="685800" y="590550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输出二维探索坐标，再吸附到合法前沿并交由导航器执行。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Fig.2下半部分。二维坐标输出不改变三维环境表征的归属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有限上下文中怎样利用过去见过的环境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研究问题：有限上下文中怎样利用过去见过的环境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观察历史的压缩与重放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保留图像或视觉tokens，&#10;本次决策重新读取历史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保留图像或视觉tokens，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本次决策重新读取历史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递归状态与缓存更新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保留可更新的内部状态，&#10;新观测增量读写历史缓存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保留可更新的内部状态，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新观测增量读写历史缓存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27622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AstraNav按论文1 m判据；JanusVLN为额外数据版、单RGB。目标搜索与路线指令任务分别展示。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保存可再次读取的视觉经历，在当前决策中提供历史上下文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保存可再次读取的视觉经历，在当前决策中提供历史上下文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保存观察与位置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存储图像或已编码视觉tokens，必要时关联位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存储图像或已编码视觉tokens，必要时关联位姿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历史信息量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控制历史信息量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减少每帧tokens、分级压缩或合并相似观察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减少每帧tokens、分级压缩或合并相似观察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重放选取的历史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重放选取的历史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与当前观测及目标共同输入本次决策模型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与当前观测及目标共同输入本次决策模型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利用过去出现的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利用过去出现的目标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后续任务重读经历，减少重复探索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后续任务重读经历，减少重复探索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AstraNav每帧压缩，Uni-NaVid分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类内实现：AstraNav每帧压缩，Uni-NaVid分级历史，SoftNav近期窗口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可复用视觉经历。限制：历史越长成本越高，强压缩会损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收益：可复用视觉经历。限制：历史越长成本越高，强压缩会损失细节。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AstraNav：压缩后读取长期历史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主配置每帧视觉token：原始598个，压缩后30个"/>
          <p:cNvSpPr>
            <a:spLocks noGrp="1"/>
          </p:cNvSpPr>
          <p:nvPr/>
        </p:nvSpPr>
        <p:spPr>
          <a:xfrm>
            <a:off x="685800" y="120015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主配置每帧视觉token：原始598个，压缩后30个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1790700"/>
            <a:ext cx="9829800" cy="4191000"/>
          </a:xfrm>
          <a:prstGeom prst="rect">
            <a:avLst/>
          </a:prstGeom>
        </p:spPr>
      </p:pic>
      <p:sp>
        <p:nvSpPr>
          <p:cNvPr id="5" name="图像与位姿成对输入模型，用于预测目标位置或下一探索前沿坐标。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图像与位姿成对输入模型，用于预测目标位置或下一探索前沿坐标。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来源：AstraNav-Memory，图2（PDF第4页）；压缩算子按正文第3.2节解释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历史保留在跨步更新的状态中，每次只增量处理新观察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把历史保留在跨步更新的状态中，每次只增量处理新观察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读取历史状态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当前帧查询已保存的几何特征或Key／Value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当前帧查询已保存的几何特征或Key／Value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写入当前观察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写入当前观察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新特征进入状态，供后续导航步使用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新特征进入状态，供后续导航步使用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维护有限容量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维护有限容量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保留初始锚点与近期窗口，移除中间历史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保留初始锚点与近期窗口，移除中间历史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融合当前决策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融合当前决策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将历史增强的空间特征与语义、指令结合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将历史增强的空间特征与语义、指令结合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KV缓存是跨步状态的一种实现，视觉特征缓存与语言模型KV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KV缓存是跨步状态的一种实现，视觉特征缓存与语言模型KV需分别说明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旧观察的重复编码。限制：窗口会遗忘，旧状态误差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收益：减少旧观察的重复编码。限制：窗口会遗忘，旧状态误差可能继续传播。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JanusVLN：语义历史与流式几何缓存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3356" y="1257300"/>
            <a:ext cx="6585289" cy="367665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685800" y="5095875"/>
          <a:ext cx="10820400" cy="125730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8582025"/>
              </a:tblGrid>
              <a:tr h="3810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分支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公开评测路径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语义分支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重放采样历史图像，最多9张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几何分支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VGGT跨步KV，保留初始8帧与近期48帧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来源：JanusVLN Fig.2及官方实现核对。纯RGB输入仍可使用学习到的三维先验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目标尚未出现时，下一探索位置怎样选择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研究问题：目标尚未出现时，下一探索位置怎样选择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语义引导的前沿搜索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以未知区域边界为候选，&#10;按目标相关性选择下一位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以未知区域边界为候选，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按目标相关性选择下一位置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类方法的实现差异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同类方法的实现差异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地图赋值或图像前沿评分，&#10;可再结合信息增益与距离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地图赋值或图像前沿评分，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可再结合信息增益与距离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本方向仅一篇报告该benchmark或划分。VLFM的OVON结果来自基准论文重评，未报告项不补零。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先评价哪些未知区域值得探索，再将候选位置交给导航执行器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先评价哪些未知区域值得探索，再将候选位置交给导航执行器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产生探索候选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产生探索候选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从占据地图或当前图像中识别探索前沿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从占据地图或当前图像中识别探索前沿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评价目标相关性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评价目标相关性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图文相似度或视觉语言模型评价搜索方向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用图文相似度或视觉语言模型评价搜索方向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权衡收益与代价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权衡收益与代价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结合信息增益、置信度或到达距离选子目标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结合信息增益、置信度或到达距离选子目标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移动后更新与核验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移动后更新与核验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更新观察和候选，发现疑似目标后再次确认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更新观察和候选，发现疑似目标后再次确认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LFM与OpenFrontier共享“候选产生、语义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VLFM与OpenFrontier共享“候选产生、语义评价、执行反馈”的方法链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复用预训练语义能力。限制：语义先验会误导，目标误检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收益：复用预训练语义能力。限制：语义先验会误导，目标误检与局部卡住仍会发生。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OpenFrontier：在图像中评价探索方向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标记候选前沿后，VLM根据周围场景判断哪个方向更可能通向目标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标记候选前沿后，VLM根据周围场景判断哪个方向更可能通向目标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8578"/>
            <a:ext cx="10820400" cy="3453319"/>
          </a:xfrm>
          <a:prstGeom prst="rect">
            <a:avLst/>
          </a:prstGeom>
        </p:spPr>
      </p:pic>
      <p:sp>
        <p:nvSpPr>
          <p:cNvPr id="5" name="FrontierNet提供探索先验，VLM提供目标相关概率，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FrontierNet提供探索先验，VLM提供目标相关概率，三维后端维护全局候选位置。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来源：OpenFrontier，图2（PDF第2页）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前沿搜索的两种实现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714500"/>
          <a:ext cx="10820400" cy="4076700"/>
        </p:xfrm>
        <a:graphic>
          <a:graphicData uri="http://schemas.openxmlformats.org/drawingml/2006/table">
            <a:tbl>
              <a:tblPr firstRow="1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候选来源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二维占据地图的前沿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RGB图像中的视觉前沿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语义评价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图文相似度投影到价值地图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VLM直接评价标记的前沿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跨视角组织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地图价值与置信度融合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三维前沿集合合并与清理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子目标选择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读取高价值前沿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相关性、信息增益与距离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发现疑似目标后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检测、分割与深度定位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前往观察位姿后VLM核验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/>
          <p:cNvSpPr>
            <a:spLocks noGrp="1"/>
          </p:cNvSpPr>
          <p:nvPr/>
        </p:nvSpPr>
        <p:spPr>
          <a:xfrm>
            <a:off x="685800" y="60483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空间属性：VLFM为二维地图；OpenFrontier结合二维图像候选与三维位置管理。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整理自VLFM §IV和OpenFrontier §III。二者属于同一方法范式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示范监督与环境奖励怎样共同改进导航策略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研究问题：示范监督与环境奖励怎样共同改进导航策略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模仿学习与强化学习结合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先从示范建立决策能力，&#10;再或同时用奖励改进策略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先从示范建立决策能力，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再或同时用奖励改进策略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类内训练设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类内训练设计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C／SFT与PPO／GRPO，&#10;辅助监督、权重与奖励设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BC／SFT与PPO／GRPO，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辅助监督、权重与奖励设计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OVON较高SR为OVSegDT，较高SPL为CompassNav，分别保留整对数值。不同传感器与协议不作统一排名。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示范告诉策略怎样行动，奖励让策略比较行动带来的后果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示范告诉策略怎样行动，奖励让策略比较行动带来的后果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从示范学习决策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从示范学习决策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用专家动作或教师回答训练BC／SFT初始能力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用专家动作或教师回答训练BC／SFT初始能力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构建策略优化信号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构建策略优化信号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按导航进展、成功或候选动作质量给奖励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按导航进展、成功或候选动作质量给奖励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或分阶段优化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联合或分阶段优化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同时加权BC与PPO，或先SFT再GRPO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同时加权BC与PPO，或先SFT再GRPO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适应部署时的输入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适应部署时的输入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用预测掩码或可行动作候选缩小训练执行差异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用预测掩码或可行动作候选缩小训练执行差异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共同范式：示范监督与奖励优化结合。配比策略和奖励形状属于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共同范式：示范监督与奖励优化结合。配比策略和奖励形状属于类内设计。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利用示范并改进决策质量。限制：依赖示范覆盖、奖励质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收益：利用示范并改进决策质量。限制：依赖示范覆盖、奖励质量与训练预算。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OVSegDT：目标掩码怎样进入策略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25" y="1457325"/>
            <a:ext cx="5998900" cy="4752975"/>
          </a:xfrm>
          <a:prstGeom prst="rect">
            <a:avLst/>
          </a:prstGeom>
        </p:spPr>
      </p:pic>
      <p:sp>
        <p:nvSpPr>
          <p:cNvPr id="4" name="输入"/>
          <p:cNvSpPr>
            <a:spLocks noGrp="1"/>
          </p:cNvSpPr>
          <p:nvPr/>
        </p:nvSpPr>
        <p:spPr>
          <a:xfrm>
            <a:off x="7381875" y="146685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当前RGB、目标文字、&#10;上一步动作、目标二值掩码。"/>
          <p:cNvSpPr>
            <a:spLocks noGrp="1"/>
          </p:cNvSpPr>
          <p:nvPr/>
        </p:nvSpPr>
        <p:spPr>
          <a:xfrm>
            <a:off x="7381875" y="192405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当前RGB、目标文字、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上一步动作、目标二值掩码。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时间建模"/>
          <p:cNvSpPr>
            <a:spLocks noGrp="1"/>
          </p:cNvSpPr>
          <p:nvPr/>
        </p:nvSpPr>
        <p:spPr>
          <a:xfrm>
            <a:off x="7381875" y="3057525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时间建模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ransformer读取最近100步，&#10;预测动作分布与状态"/>
          <p:cNvSpPr>
            <a:spLocks noGrp="1"/>
          </p:cNvSpPr>
          <p:nvPr/>
        </p:nvSpPr>
        <p:spPr>
          <a:xfrm>
            <a:off x="7381875" y="3514725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Transformer读取最近100步，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预测动作分布与状态价值。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辅助监督"/>
          <p:cNvSpPr>
            <a:spLocks noGrp="1"/>
          </p:cNvSpPr>
          <p:nvPr/>
        </p:nvSpPr>
        <p:spPr>
          <a:xfrm>
            <a:off x="7381875" y="464820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重建目标掩码，促使序列特征&#10;保留目标位置线索。"/>
          <p:cNvSpPr>
            <a:spLocks noGrp="1"/>
          </p:cNvSpPr>
          <p:nvPr/>
        </p:nvSpPr>
        <p:spPr>
          <a:xfrm>
            <a:off x="7381875" y="510540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重建目标掩码，促使序列特征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保留目标位置线索。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来源：OVSegDT，图2（PDF第4页）。图中分割头为训练辅助头，输入掩码由外部感知提供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CompassNav：SFT之后用GRPO比较动作质量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144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学习信号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SFT初始化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教师分析与动作编号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建立基本决策能力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GRPO优化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候选动作的连续质量奖励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改进动作间的比较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/>
          <p:cNvSpPr>
            <a:spLocks noGrp="1"/>
          </p:cNvSpPr>
          <p:nvPr/>
        </p:nvSpPr>
        <p:spPr>
          <a:xfrm>
            <a:off x="685800" y="413385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差距感知奖励的作用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4591050"/>
          <a:ext cx="10820400" cy="1485900"/>
        </p:xfrm>
        <a:graphic>
          <a:graphicData uri="http://schemas.openxmlformats.org/drawingml/2006/table">
            <a:tbl>
              <a:tblPr firstRow="1"/>
              <a:tblGrid>
                <a:gridCol w="3476625"/>
                <a:gridCol w="7343775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候选动作关系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奖励倾向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最佳与次佳距离接近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给接近的连续评分，最优额外奖励较弱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最佳候选明显更好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加大最优候选的额外奖励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/>
          <p:cNvSpPr>
            <a:spLocks noGrp="1"/>
          </p:cNvSpPr>
          <p:nvPr/>
        </p:nvSpPr>
        <p:spPr>
          <a:xfrm>
            <a:off x="685800" y="618172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真实目标坐标仅用于训练标签；分析文字的正确性未被逐句监督验证。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来源：CompassNav §3–4、Fig.4及奖励公式。训练与推理可见信息分别说明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方法类别怎样组合成一个导航系统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19250"/>
          <a:ext cx="10820400" cy="417195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方法选择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需要单独报告的条件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职责与接口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分层模块协作／统一联合建模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模块依赖与执行器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环境状态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显式地图结构／连续空间特征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二维或三维、深度与位姿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历史利用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压缩重放／递归缓存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历史长度、信息损失与更新方式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探索决策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候选覆盖、可达性与目标核验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策略学习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示范监督与奖励优化结合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数据规模、训练配置与奖励定义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/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比较新方法时，先对齐任务、传感器与评测协议，再讨论具体机制的贡献。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方法可组合。文献主归属、表征维度和训练算力分别记录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10993</Words>
  <Application>WPS 演示</Application>
  <PresentationFormat>Converted Presentation</PresentationFormat>
  <Paragraphs>1787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1</cp:revision>
  <dcterms:created xsi:type="dcterms:W3CDTF">2026-10-17T14:04:14Z</dcterms:created>
  <dcterms:modified xsi:type="dcterms:W3CDTF">2026-10-17T14:04:14Z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409202CDD2574359AFE74D973CF142D3_12</vt:lpwstr>
  </property>
</Properties>
</file>