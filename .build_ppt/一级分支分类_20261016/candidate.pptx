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945ff59f5f4110" /><Relationship Type="http://schemas.openxmlformats.org/officeDocument/2006/relationships/extended-properties" Target="/docProps/app.xml" Id="R64933dd076d14315" /><Relationship Type="http://schemas.openxmlformats.org/officeDocument/2006/relationships/officeDocument" Target="/ppt/presentation.xml" Id="Rb52658cab44348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25986d4ab242fc"/>
  </p:sldMasterIdLst>
  <p:notesMasterIdLst>
    <p:notesMasterId xmlns:r="http://schemas.openxmlformats.org/officeDocument/2006/relationships" r:id="R3c4979f2a7cc4b20"/>
  </p:notesMasterIdLst>
  <p:sldIdLst>
    <p:sldId xmlns:r="http://schemas.openxmlformats.org/officeDocument/2006/relationships" id="256" r:id="R3e30253e9f7f4f5c"/>
    <p:sldId xmlns:r="http://schemas.openxmlformats.org/officeDocument/2006/relationships" id="257" r:id="Ra410e558c47b45d6"/>
    <p:sldId xmlns:r="http://schemas.openxmlformats.org/officeDocument/2006/relationships" id="258" r:id="Rfb98c39489694722"/>
    <p:sldId xmlns:r="http://schemas.openxmlformats.org/officeDocument/2006/relationships" id="259" r:id="R30ddcd9b4db54b74"/>
    <p:sldId xmlns:r="http://schemas.openxmlformats.org/officeDocument/2006/relationships" id="260" r:id="Re4e60e3dac2f4c2f"/>
    <p:sldId xmlns:r="http://schemas.openxmlformats.org/officeDocument/2006/relationships" id="261" r:id="Rc4e6c1dc32814c10"/>
    <p:sldId xmlns:r="http://schemas.openxmlformats.org/officeDocument/2006/relationships" id="262" r:id="R2d997992de344702"/>
    <p:sldId xmlns:r="http://schemas.openxmlformats.org/officeDocument/2006/relationships" id="263" r:id="R0c263285ecf74706"/>
    <p:sldId xmlns:r="http://schemas.openxmlformats.org/officeDocument/2006/relationships" id="264" r:id="R1cca22f1a4f843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ca9424afdc47d0" /><Relationship Type="http://schemas.openxmlformats.org/officeDocument/2006/relationships/slideMaster" Target="/ppt/slideMasters/slideMaster1.xml" Id="R8a25986d4ab242fc" /><Relationship Type="http://schemas.openxmlformats.org/officeDocument/2006/relationships/notesMaster" Target="/ppt/notesMasters/notesMaster1.xml" Id="R3c4979f2a7cc4b20" /><Relationship Type="http://schemas.openxmlformats.org/officeDocument/2006/relationships/presProps" Target="/ppt/presProps.xml" Id="Rc4d98db021554231" /><Relationship Type="http://schemas.openxmlformats.org/officeDocument/2006/relationships/tableStyles" Target="/ppt/tableStyles.xml" Id="R69b004f0343c496a" /><Relationship Type="http://schemas.openxmlformats.org/officeDocument/2006/relationships/slide" Target="/ppt/slides/slide1.xml" Id="R3e30253e9f7f4f5c" /><Relationship Type="http://schemas.openxmlformats.org/officeDocument/2006/relationships/slide" Target="/ppt/slides/slide2.xml" Id="Ra410e558c47b45d6" /><Relationship Type="http://schemas.openxmlformats.org/officeDocument/2006/relationships/slide" Target="/ppt/slides/slide3.xml" Id="Rfb98c39489694722" /><Relationship Type="http://schemas.openxmlformats.org/officeDocument/2006/relationships/slide" Target="/ppt/slides/slide4.xml" Id="R30ddcd9b4db54b74" /><Relationship Type="http://schemas.openxmlformats.org/officeDocument/2006/relationships/slide" Target="/ppt/slides/slide5.xml" Id="Re4e60e3dac2f4c2f" /><Relationship Type="http://schemas.openxmlformats.org/officeDocument/2006/relationships/slide" Target="/ppt/slides/slide6.xml" Id="Rc4e6c1dc32814c10" /><Relationship Type="http://schemas.openxmlformats.org/officeDocument/2006/relationships/slide" Target="/ppt/slides/slide7.xml" Id="R2d997992de344702" /><Relationship Type="http://schemas.openxmlformats.org/officeDocument/2006/relationships/slide" Target="/ppt/slides/slide8.xml" Id="R0c263285ecf74706" /><Relationship Type="http://schemas.openxmlformats.org/officeDocument/2006/relationships/slide" Target="/ppt/slides/slide9.xml" Id="R1cca22f1a4f843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15b966e70a4b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2b176dda9040f8" /><Relationship Type="http://schemas.openxmlformats.org/officeDocument/2006/relationships/notesMaster" Target="/ppt/notesMasters/notesMaster1.xml" Id="R0b1e589ab3e543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c1b8b6b28f4d4f" /><Relationship Type="http://schemas.openxmlformats.org/officeDocument/2006/relationships/notesMaster" Target="/ppt/notesMasters/notesMaster1.xml" Id="R490fea4273d14e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ca0febd4b5458a" /><Relationship Type="http://schemas.openxmlformats.org/officeDocument/2006/relationships/notesMaster" Target="/ppt/notesMasters/notesMaster1.xml" Id="Re9af97a817fc42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e59735a71e4413" /><Relationship Type="http://schemas.openxmlformats.org/officeDocument/2006/relationships/notesMaster" Target="/ppt/notesMasters/notesMaster1.xml" Id="Rb8b46f89ed6d40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e0b851483c4620" /><Relationship Type="http://schemas.openxmlformats.org/officeDocument/2006/relationships/notesMaster" Target="/ppt/notesMasters/notesMaster1.xml" Id="R7f9ad3aaec2a49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d08266a1094ff3" /><Relationship Type="http://schemas.openxmlformats.org/officeDocument/2006/relationships/notesMaster" Target="/ppt/notesMasters/notesMaster1.xml" Id="R30d4a352cb684b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bb6ca13cdb435c" /><Relationship Type="http://schemas.openxmlformats.org/officeDocument/2006/relationships/notesMaster" Target="/ppt/notesMasters/notesMaster1.xml" Id="R5b7aa1f9b35e4b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966454bb574a8a" /><Relationship Type="http://schemas.openxmlformats.org/officeDocument/2006/relationships/notesMaster" Target="/ppt/notesMasters/notesMaster1.xml" Id="Rcdbb53ebdbd14b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881f5d30664ccb" /><Relationship Type="http://schemas.openxmlformats.org/officeDocument/2006/relationships/notesMaster" Target="/ppt/notesMasters/notesMaster1.xml" Id="Rfb44007f5d7645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文献范围：14篇方法论文，4篇数据集与评测基准。分类及训练配置均采用源文档口径。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HM3D-OVON-Papers</a:t>
            </a:r>
          </a:p>
          <a:p xmlns:a="http://schemas.openxmlformats.org/drawingml/2006/main">
            <a:r>
              <a:t>├── 方法论文</a:t>
            </a:r>
          </a:p>
          <a:p xmlns:a="http://schemas.openxmlformats.org/drawingml/2006/main">
            <a:r>
              <a:t>│   ├── 系统组织架构</a:t>
            </a:r>
          </a:p>
          <a:p xmlns:a="http://schemas.openxmlformats.org/drawingml/2006/main">
            <a:r>
              <a:t>│   │   ├── TANGO【训练：无需新增导航专项训练】</a:t>
            </a:r>
          </a:p>
          <a:p xmlns:a="http://schemas.openxmlformats.org/drawingml/2006/main">
            <a:r>
              <a:t>│   │   ├── SuperNav【训练：主模型与几何执行器无需；可选学习式执行器的 GPU 配置未报告】</a:t>
            </a:r>
          </a:p>
          <a:p xmlns:a="http://schemas.openxmlformats.org/drawingml/2006/main">
            <a:r>
              <a:t>│   │   ├── OmniNav【训练：阶段1 96×H20，120小时；阶段2 64×H20，48小时】</a:t>
            </a:r>
          </a:p>
          <a:p xmlns:a="http://schemas.openxmlformats.org/drawingml/2006/main">
            <a:r>
              <a:t>│   │   ├── D3D-VLP【训练：4×RTX 6000 Ada，约14天】</a:t>
            </a:r>
          </a:p>
          <a:p xmlns:a="http://schemas.openxmlformats.org/drawingml/2006/main">
            <a:r>
              <a:t>│   │   ├── Uni-NaVid【训练：40×H800，约35小时】</a:t>
            </a:r>
          </a:p>
          <a:p xmlns:a="http://schemas.openxmlformats.org/drawingml/2006/main">
            <a:r>
              <a:t>│   │   └── MTU3D【训练：4×A100；约164 GPU·小时】</a:t>
            </a:r>
          </a:p>
          <a:p xmlns:a="http://schemas.openxmlformats.org/drawingml/2006/main">
            <a:r>
              <a:t>│   ├── 环境表征</a:t>
            </a:r>
          </a:p>
          <a:p xmlns:a="http://schemas.openxmlformats.org/drawingml/2006/main">
            <a:r>
              <a:t>│   │   ├── MSGNav【训练：无需新增导航专项训练】</a:t>
            </a:r>
          </a:p>
          <a:p xmlns:a="http://schemas.openxmlformats.org/drawingml/2006/main">
            <a:r>
              <a:t>│   │   └── SoftNav【训练：1×RTX 4090；时长未报告】</a:t>
            </a:r>
          </a:p>
          <a:p xmlns:a="http://schemas.openxmlformats.org/drawingml/2006/main">
            <a:r>
              <a:t>│   ├── 历史记忆</a:t>
            </a:r>
          </a:p>
          <a:p xmlns:a="http://schemas.openxmlformats.org/drawingml/2006/main">
            <a:r>
              <a:t>│   │   ├── AstraNav-Memory【训练：32×H20；时长未报告】</a:t>
            </a:r>
          </a:p>
          <a:p xmlns:a="http://schemas.openxmlformats.org/drawingml/2006/main">
            <a:r>
              <a:t>│   │   └── JanusVLN【训练：64×H20，约31小时；阅读笔记转引作者答复】</a:t>
            </a:r>
          </a:p>
          <a:p xmlns:a="http://schemas.openxmlformats.org/drawingml/2006/main">
            <a:r>
              <a:t>│   ├── 探索与目标搜索</a:t>
            </a:r>
          </a:p>
          <a:p xmlns:a="http://schemas.openxmlformats.org/drawingml/2006/main">
            <a:r>
              <a:t>│   │   ├── VLFM【训练：无需新增导航专项训练】</a:t>
            </a:r>
          </a:p>
          <a:p xmlns:a="http://schemas.openxmlformats.org/drawingml/2006/main">
            <a:r>
              <a:t>│   │   └── OpenFrontier【训练：无需新增导航专项训练】</a:t>
            </a:r>
          </a:p>
          <a:p xmlns:a="http://schemas.openxmlformats.org/drawingml/2006/main">
            <a:r>
              <a:t>│   └── 导航策略训练与优化</a:t>
            </a:r>
          </a:p>
          <a:p xmlns:a="http://schemas.openxmlformats.org/drawingml/2006/main">
            <a:r>
              <a:t>│       ├── OVSegDT【训练：2×A100；约2.15亿环境步，时长未报告】</a:t>
            </a:r>
          </a:p>
          <a:p xmlns:a="http://schemas.openxmlformats.org/drawingml/2006/main">
            <a:r>
              <a:t>│       └── CompassNav【训练：SFT 8×A800，约12小时；RFT 8×H200，约56.7小时（估算）】</a:t>
            </a:r>
          </a:p>
          <a:p xmlns:a="http://schemas.openxmlformats.org/drawingml/2006/main">
            <a:r>
              <a:t>└── 数据集与评测基准</a:t>
            </a:r>
          </a:p>
          <a:p xmlns:a="http://schemas.openxmlformats.org/drawingml/2006/main">
            <a:r>
              <a:t>    ├── HM3D Semantics【训练：数据集本身不适用；导航基线另计】</a:t>
            </a:r>
          </a:p>
          <a:p xmlns:a="http://schemas.openxmlformats.org/drawingml/2006/main">
            <a:r>
              <a:t>    ├── HM3D-OVON【训练：按各基线分别统计】</a:t>
            </a:r>
          </a:p>
          <a:p xmlns:a="http://schemas.openxmlformats.org/drawingml/2006/main">
            <a:r>
              <a:t>    ├── GOAT-Bench【训练：按各基线分别统计】</a:t>
            </a:r>
          </a:p>
          <a:p xmlns:a="http://schemas.openxmlformats.org/drawingml/2006/main">
            <a:r>
              <a:t>    └── SG3D / SG-LLM【训练：按 SG-LLM 等基线分别统计】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程序与工具／技能编排、快慢系统分层协作，以及多任务或规划、定位、探索与导航能力的统一建模。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TANGO：无需新增导航专项训练</a:t>
            </a:r>
          </a:p>
          <a:p xmlns:a="http://schemas.openxmlformats.org/drawingml/2006/main">
            <a:r>
              <a:t>SuperNav：主模型与几何执行器无需；可选学习式执行器的 GPU 配置未报告</a:t>
            </a:r>
          </a:p>
          <a:p xmlns:a="http://schemas.openxmlformats.org/drawingml/2006/main">
            <a:r>
              <a:t>OmniNav：阶段1 96×H20，120小时；阶段2 64×H20，48小时</a:t>
            </a:r>
          </a:p>
          <a:p xmlns:a="http://schemas.openxmlformats.org/drawingml/2006/main">
            <a:r>
              <a:t>D3D-VLP：4×RTX 6000 Ada，约14天</a:t>
            </a:r>
          </a:p>
          <a:p xmlns:a="http://schemas.openxmlformats.org/drawingml/2006/main">
            <a:r>
              <a:t>Uni-NaVid：40×H800，约35小时</a:t>
            </a:r>
          </a:p>
          <a:p xmlns:a="http://schemas.openxmlformats.org/drawingml/2006/main">
            <a:r>
              <a:t>MTU3D：4×A100；约164 GPU·小时</a:t>
            </a:r>
          </a:p>
          <a:p xmlns:a="http://schemas.openxmlformats.org/drawingml/2006/main">
            <a:r>
              <a:t>SuperNav执行器训练：https://arxiv.org/html/2610.12126v1，附录C.2。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用三维场景图组织物体、空间信息与视觉证据；将三维物体和前沿特征转换为视觉语言模型可使用的 soft tokens。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MSGNav：无需新增导航专项训练</a:t>
            </a:r>
          </a:p>
          <a:p xmlns:a="http://schemas.openxmlformats.org/drawingml/2006/main">
            <a:r>
              <a:t>SoftNav：1×RTX 4090；时长未报告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压缩长期视觉历史，维护语义与空间双分支记忆，并通过历史缓存和滑动窗口更新跨帧信息。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AstraNav-Memory：32×H20；时长未报告</a:t>
            </a:r>
          </a:p>
          <a:p xmlns:a="http://schemas.openxmlformats.org/drawingml/2006/main">
            <a:r>
              <a:t>JanusVLN：64×H20，约31小时；阅读笔记转引作者答复</a:t>
            </a:r>
          </a:p>
          <a:p xmlns:a="http://schemas.openxmlformats.org/drawingml/2006/main">
            <a:r>
              <a:t>JanusVLN配置由源文档转引阅读笔记中的作者答复。本次未能加载评论正文，未独立复核。</a:t>
            </a:r>
          </a:p>
          <a:p xmlns:a="http://schemas.openxmlformats.org/drawingml/2006/main">
            <a:r>
              <a:t>阅读笔记：E:\科研_机器人\HM3D-OVON\HM3D_OVON_Papers\05_视觉语言动作决策与视频记忆\read-JANUSVLN.md</a:t>
            </a:r>
          </a:p>
          <a:p xmlns:a="http://schemas.openxmlformats.org/drawingml/2006/main">
            <a:r>
              <a:t>作者答复：https://github.com/MIV-XJTU/JanusVLN/issues/3#issuecomment-3375195701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构建语义价值地图或生成视觉前沿，利用目标相关性、信息增益和距离等评价探索位置，并进行目标确认。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VLFM：无需新增导航专项训练</a:t>
            </a:r>
          </a:p>
          <a:p xmlns:a="http://schemas.openxmlformats.org/drawingml/2006/main">
            <a:r>
              <a:t>OpenFrontier：无需新增导航专项训练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目标分割辅助监督、自适应 BC／PPO 联合优化，以及基于候选动作质量的 SFT／GRPO 与差距感知奖励设计。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OVSegDT：2×A100；约2.15亿环境步，时长未报告</a:t>
            </a:r>
          </a:p>
          <a:p xmlns:a="http://schemas.openxmlformats.org/drawingml/2006/main">
            <a:r>
              <a:t>CompassNav：SFT 8×A800，约12小时；RFT 8×H200，约56.7小时（估算）</a:t>
            </a:r>
          </a:p>
          <a:p xmlns:a="http://schemas.openxmlformats.org/drawingml/2006/main">
            <a:r>
              <a:t>CompassNav RFT时长为源文档估算：170步×20分钟/步≈56.7小时。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场景语义标注、开放词汇与多模态目标构建、连续或顺序任务设计，以及评测协议和基线设计。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HM3D Semantics：数据集本身不适用；导航基线另计</a:t>
            </a:r>
          </a:p>
          <a:p xmlns:a="http://schemas.openxmlformats.org/drawingml/2006/main">
            <a:r>
              <a:t>HM3D-OVON：按各基线分别统计</a:t>
            </a:r>
          </a:p>
          <a:p xmlns:a="http://schemas.openxmlformats.org/drawingml/2006/main">
            <a:r>
              <a:t>GOAT-Bench：按各基线分别统计</a:t>
            </a:r>
          </a:p>
          <a:p xmlns:a="http://schemas.openxmlformats.org/drawingml/2006/main">
            <a:r>
              <a:t>SG3D / SG-LLM：按 SG-LLM 等基线分别统计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资料口径沿用源文档。GPU·小时表示GPU数量乘以训练小时数，不能把不同GPU型号的卡时直接视为等价算力。</a:t>
            </a:r>
          </a:p>
          <a:p xmlns:a="http://schemas.openxmlformats.org/drawingml/2006/main">
            <a:r>
              <a:t>SuperNav学习式执行器训练见：https://arxiv.org/html/2610.12126v1，附录C.2。</a:t>
            </a:r>
          </a:p>
          <a:p xmlns:a="http://schemas.openxmlformats.org/drawingml/2006/main">
            <a:r>
              <a:t>JanusVLN作者答复由源文档及阅读笔记转引，本次网页未加载评论正文。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f663b58fa54d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f9dec10df643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714da375a742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11c2cbf4bb43e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329f426a3a46c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0624c7c3d40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9FAB89-A233-4052-9DAC-6C3F470F90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3F654B1-812F-482D-8BEB-66DBC85B2F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8024725-568D-46FD-9785-403FE474B2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67CCDF-837F-4F9F-A83E-B106A8EBB3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0548FE1-E22E-49FC-AB73-FB3AF78AEE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38174F-699E-48FD-A22A-9E65C7A6AA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C9C280-8C99-4A28-99CD-635A44EBC9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5B1EBF0-62BF-4400-B2CA-989ECBA1BB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BACF42-A135-48E6-8FB0-5588C5219D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850C7F-33E6-48E9-AE67-D636B697DA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47ab81d67a4b8e" /><Relationship Type="http://schemas.openxmlformats.org/officeDocument/2006/relationships/slideLayout" Target="/ppt/slideLayouts/slideLayout1.xml" Id="R669e06fca78d414f" /><Relationship Type="http://schemas.openxmlformats.org/officeDocument/2006/relationships/slideLayout" Target="/ppt/slideLayouts/slideLayout2.xml" Id="R977bcefba6634d67" /><Relationship Type="http://schemas.openxmlformats.org/officeDocument/2006/relationships/slideLayout" Target="/ppt/slideLayouts/slideLayout3.xml" Id="R180500ebffb94fa8" /><Relationship Type="http://schemas.openxmlformats.org/officeDocument/2006/relationships/slideLayout" Target="/ppt/slideLayouts/slideLayout4.xml" Id="Rf812b52e01f44eb8" /><Relationship Type="http://schemas.openxmlformats.org/officeDocument/2006/relationships/slideLayout" Target="/ppt/slideLayouts/slideLayout5.xml" Id="Reaf02aaa29b24009" /><Relationship Type="http://schemas.openxmlformats.org/officeDocument/2006/relationships/slideLayout" Target="/ppt/slideLayouts/slideLayout6.xml" Id="Rce322f7058854a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9e06fca78d414f"/>
    <p:sldLayoutId xmlns:r="http://schemas.openxmlformats.org/officeDocument/2006/relationships" id="2147483650" r:id="R977bcefba6634d67"/>
    <p:sldLayoutId xmlns:r="http://schemas.openxmlformats.org/officeDocument/2006/relationships" id="2147483651" r:id="R180500ebffb94fa8"/>
    <p:sldLayoutId xmlns:r="http://schemas.openxmlformats.org/officeDocument/2006/relationships" id="2147483652" r:id="Rf812b52e01f44eb8"/>
    <p:sldLayoutId xmlns:r="http://schemas.openxmlformats.org/officeDocument/2006/relationships" id="2147483653" r:id="Reaf02aaa29b24009"/>
    <p:sldLayoutId xmlns:r="http://schemas.openxmlformats.org/officeDocument/2006/relationships" id="2147483654" r:id="Rce322f7058854a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d1e19a92c64c87" /><Relationship Type="http://schemas.openxmlformats.org/officeDocument/2006/relationships/notesSlide" Target="/ppt/notesSlides/notesSlide1.xml" Id="R5692a562a4b74f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837543305e4fbb" /><Relationship Type="http://schemas.openxmlformats.org/officeDocument/2006/relationships/notesSlide" Target="/ppt/notesSlides/notesSlide2.xml" Id="R0e30f6576c9040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089956fc5449d2" /><Relationship Type="http://schemas.openxmlformats.org/officeDocument/2006/relationships/notesSlide" Target="/ppt/notesSlides/notesSlide3.xml" Id="Rbc72a3d4743641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07f7e0df5f403f" /><Relationship Type="http://schemas.openxmlformats.org/officeDocument/2006/relationships/notesSlide" Target="/ppt/notesSlides/notesSlide4.xml" Id="R1b8a8a8b7a454e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b5118af18e4134" /><Relationship Type="http://schemas.openxmlformats.org/officeDocument/2006/relationships/notesSlide" Target="/ppt/notesSlides/notesSlide5.xml" Id="R744bdf05291c45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d4bc1e8a0e47ae" /><Relationship Type="http://schemas.openxmlformats.org/officeDocument/2006/relationships/notesSlide" Target="/ppt/notesSlides/notesSlide6.xml" Id="R64e3b492c29a4e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ffea676e164a97" /><Relationship Type="http://schemas.openxmlformats.org/officeDocument/2006/relationships/notesSlide" Target="/ppt/notesSlides/notesSlide7.xml" Id="Re5a73e3a67f642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f2a06e464143fc" /><Relationship Type="http://schemas.openxmlformats.org/officeDocument/2006/relationships/notesSlide" Target="/ppt/notesSlides/notesSlide8.xml" Id="Rc422c2549d8f4c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c951eb1ebf448b" /><Relationship Type="http://schemas.openxmlformats.org/officeDocument/2006/relationships/notesSlide" Target="/ppt/notesSlides/notesSlide9.xml" Id="Rbf81cf9ebbcc4f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2BFACDC-C642-4C59-AF0D-C1962F9A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HM3D-OVON">
            <a:extLst xmlns:a="http://schemas.openxmlformats.org/drawingml/2006/main">
              <a:ext uri="{FF2B5EF4-FFF2-40B4-BE49-F238E27FC236}">
                <a16:creationId xmlns:a16="http://schemas.microsoft.com/office/drawing/2014/main" id="{EBFFF0FD-1442-43E8-AD7E-F58BF56E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668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HM3D-OVON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5853138-D002-4C5F-BD06-99467B1E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57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论文方法一级分类</a:t>
            </a:r>
          </a:p>
        </p:txBody>
      </p:sp>
      <p:sp>
        <p:nvSpPr>
          <p:cNvPr id="4" name="对应文献与训练算力">
            <a:extLst xmlns:a="http://schemas.openxmlformats.org/drawingml/2006/main">
              <a:ext uri="{FF2B5EF4-FFF2-40B4-BE49-F238E27FC236}">
                <a16:creationId xmlns:a16="http://schemas.microsoft.com/office/drawing/2014/main" id="{A02818A5-3320-4D21-B9D1-8E8CFAAC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5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对应文献与训练算力</a:t>
            </a:r>
          </a:p>
        </p:txBody>
      </p:sp>
      <p:sp>
        <p:nvSpPr>
          <p:cNvPr id="5" name="5 个一级分支">
            <a:extLst xmlns:a="http://schemas.openxmlformats.org/drawingml/2006/main">
              <a:ext uri="{FF2B5EF4-FFF2-40B4-BE49-F238E27FC236}">
                <a16:creationId xmlns:a16="http://schemas.microsoft.com/office/drawing/2014/main" id="{C1B2911A-6C33-4355-B7DA-4DCF06C2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5 个一级分支</a:t>
            </a:r>
          </a:p>
        </p:txBody>
      </p:sp>
      <p:sp>
        <p:nvSpPr>
          <p:cNvPr id="6" name="14 篇方法论文">
            <a:extLst xmlns:a="http://schemas.openxmlformats.org/drawingml/2006/main">
              <a:ext uri="{FF2B5EF4-FFF2-40B4-BE49-F238E27FC236}">
                <a16:creationId xmlns:a16="http://schemas.microsoft.com/office/drawing/2014/main" id="{25A42890-83B9-45B7-93A6-B2A712E5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720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14 篇方法论文</a:t>
            </a:r>
          </a:p>
        </p:txBody>
      </p:sp>
      <p:sp>
        <p:nvSpPr>
          <p:cNvPr id="7" name="4 篇基准文章">
            <a:extLst xmlns:a="http://schemas.openxmlformats.org/drawingml/2006/main">
              <a:ext uri="{FF2B5EF4-FFF2-40B4-BE49-F238E27FC236}">
                <a16:creationId xmlns:a16="http://schemas.microsoft.com/office/drawing/2014/main" id="{065981C7-271B-47B4-A006-D7111875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720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4 篇基准文章</a:t>
            </a:r>
          </a:p>
        </p:txBody>
      </p:sp>
      <p:sp>
        <p:nvSpPr>
          <p:cNvPr id="8" name="2026年10月">
            <a:extLst xmlns:a="http://schemas.openxmlformats.org/drawingml/2006/main">
              <a:ext uri="{FF2B5EF4-FFF2-40B4-BE49-F238E27FC236}">
                <a16:creationId xmlns:a16="http://schemas.microsoft.com/office/drawing/2014/main" id="{D170F9AF-1999-4AE5-8E1D-95005191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2026年10月</a:t>
            </a:r>
          </a:p>
        </p:txBody>
      </p:sp>
    </p:spTree>
    <p:extLst>
      <p:ext uri="{BB962C8B-B14F-4D97-AF65-F5344CB8AC3E}">
        <p14:creationId xmlns:p14="http://schemas.microsoft.com/office/powerpoint/2010/main" val="1182798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33F400-060F-4748-A822-74FE18A3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一级分支总览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4B7B686-BDB5-4F07-93BF-A57E297A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方法论文">
            <a:extLst xmlns:a="http://schemas.openxmlformats.org/drawingml/2006/main">
              <a:ext uri="{FF2B5EF4-FFF2-40B4-BE49-F238E27FC236}">
                <a16:creationId xmlns:a16="http://schemas.microsoft.com/office/drawing/2014/main" id="{363DE363-8A88-48BF-8C1E-279BB956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28587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25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方法论文</a:t>
            </a:r>
          </a:p>
        </p:txBody>
      </p:sp>
      <p:sp>
        <p:nvSpPr>
          <p:cNvPr id="4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1DBD1581-FC70-48BF-B9C3-7F258815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5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C492B937-26C8-4652-8FF4-78991CD9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47875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6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B3E30AD4-4FF1-4859-8F53-21234F40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4787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7" name="系统组织架构">
            <a:extLst xmlns:a="http://schemas.openxmlformats.org/drawingml/2006/main">
              <a:ext uri="{FF2B5EF4-FFF2-40B4-BE49-F238E27FC236}">
                <a16:creationId xmlns:a16="http://schemas.microsoft.com/office/drawing/2014/main" id="{1B82066C-42E3-4641-9F55-859E28F9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系统组织架构</a:t>
            </a:r>
          </a:p>
        </p:txBody>
      </p:sp>
      <p:sp>
        <p:nvSpPr>
          <p:cNvPr id="8" name="6 篇">
            <a:extLst xmlns:a="http://schemas.openxmlformats.org/drawingml/2006/main">
              <a:ext uri="{FF2B5EF4-FFF2-40B4-BE49-F238E27FC236}">
                <a16:creationId xmlns:a16="http://schemas.microsoft.com/office/drawing/2014/main" id="{BFEC7673-288E-4822-8A8B-7BCCCEF8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6 篇</a:t>
            </a:r>
          </a:p>
        </p:txBody>
      </p:sp>
      <p:sp>
        <p:nvSpPr>
          <p:cNvPr id="9" name="TANGO">
            <a:extLst xmlns:a="http://schemas.openxmlformats.org/drawingml/2006/main">
              <a:ext uri="{FF2B5EF4-FFF2-40B4-BE49-F238E27FC236}">
                <a16:creationId xmlns:a16="http://schemas.microsoft.com/office/drawing/2014/main" id="{4531C4CF-0170-4F78-82BC-0E3A6673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TANGO</a:t>
            </a:r>
          </a:p>
        </p:txBody>
      </p:sp>
      <p:sp>
        <p:nvSpPr>
          <p:cNvPr id="10" name="SuperNav">
            <a:extLst xmlns:a="http://schemas.openxmlformats.org/drawingml/2006/main">
              <a:ext uri="{FF2B5EF4-FFF2-40B4-BE49-F238E27FC236}">
                <a16:creationId xmlns:a16="http://schemas.microsoft.com/office/drawing/2014/main" id="{D55256F9-3242-4CCD-8637-D4F5A9A4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SuperNav</a:t>
            </a:r>
          </a:p>
        </p:txBody>
      </p:sp>
      <p:sp>
        <p:nvSpPr>
          <p:cNvPr id="11" name="OmniNav">
            <a:extLst xmlns:a="http://schemas.openxmlformats.org/drawingml/2006/main">
              <a:ext uri="{FF2B5EF4-FFF2-40B4-BE49-F238E27FC236}">
                <a16:creationId xmlns:a16="http://schemas.microsoft.com/office/drawing/2014/main" id="{664B8EAC-1768-42B8-9333-7B6CA35F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OmniNav</a:t>
            </a:r>
          </a:p>
        </p:txBody>
      </p:sp>
      <p:sp>
        <p:nvSpPr>
          <p:cNvPr id="12" name="D3D-VLP">
            <a:extLst xmlns:a="http://schemas.openxmlformats.org/drawingml/2006/main">
              <a:ext uri="{FF2B5EF4-FFF2-40B4-BE49-F238E27FC236}">
                <a16:creationId xmlns:a16="http://schemas.microsoft.com/office/drawing/2014/main" id="{499EF13A-EBBD-4D42-AB86-A666D053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D3D-VLP</a:t>
            </a:r>
          </a:p>
        </p:txBody>
      </p:sp>
      <p:sp>
        <p:nvSpPr>
          <p:cNvPr id="13" name="Uni-NaVid">
            <a:extLst xmlns:a="http://schemas.openxmlformats.org/drawingml/2006/main">
              <a:ext uri="{FF2B5EF4-FFF2-40B4-BE49-F238E27FC236}">
                <a16:creationId xmlns:a16="http://schemas.microsoft.com/office/drawing/2014/main" id="{452F8DCA-9C7F-4151-AE93-5B60CF8A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Uni-NaVid</a:t>
            </a:r>
          </a:p>
        </p:txBody>
      </p:sp>
      <p:sp>
        <p:nvSpPr>
          <p:cNvPr id="14" name="MTU3D">
            <a:extLst xmlns:a="http://schemas.openxmlformats.org/drawingml/2006/main">
              <a:ext uri="{FF2B5EF4-FFF2-40B4-BE49-F238E27FC236}">
                <a16:creationId xmlns:a16="http://schemas.microsoft.com/office/drawing/2014/main" id="{8EBC972A-77C1-4E2E-BD2E-B0EBAD8E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MTU3D</a:t>
            </a:r>
          </a:p>
        </p:txBody>
      </p:sp>
      <p:sp>
        <p:nvSpPr>
          <p:cNvPr id="15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E298D16D-2708-4ABC-8187-80C15549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4787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16" name="环境表征">
            <a:extLst xmlns:a="http://schemas.openxmlformats.org/drawingml/2006/main">
              <a:ext uri="{FF2B5EF4-FFF2-40B4-BE49-F238E27FC236}">
                <a16:creationId xmlns:a16="http://schemas.microsoft.com/office/drawing/2014/main" id="{E7D7C3CC-F858-4512-B0FF-437D0E61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90775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环境表征</a:t>
            </a:r>
          </a:p>
        </p:txBody>
      </p:sp>
      <p:sp>
        <p:nvSpPr>
          <p:cNvPr id="17" name="2 篇">
            <a:extLst xmlns:a="http://schemas.openxmlformats.org/drawingml/2006/main">
              <a:ext uri="{FF2B5EF4-FFF2-40B4-BE49-F238E27FC236}">
                <a16:creationId xmlns:a16="http://schemas.microsoft.com/office/drawing/2014/main" id="{75E7FCD1-E2EB-4EA5-B769-6C43B65F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 篇</a:t>
            </a:r>
          </a:p>
        </p:txBody>
      </p:sp>
      <p:sp>
        <p:nvSpPr>
          <p:cNvPr id="18" name="MSGNav">
            <a:extLst xmlns:a="http://schemas.openxmlformats.org/drawingml/2006/main">
              <a:ext uri="{FF2B5EF4-FFF2-40B4-BE49-F238E27FC236}">
                <a16:creationId xmlns:a16="http://schemas.microsoft.com/office/drawing/2014/main" id="{27C62DB7-7C2F-4FF4-B987-A9ABF639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38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MSGNav</a:t>
            </a:r>
          </a:p>
        </p:txBody>
      </p:sp>
      <p:sp>
        <p:nvSpPr>
          <p:cNvPr id="19" name="SoftNav">
            <a:extLst xmlns:a="http://schemas.openxmlformats.org/drawingml/2006/main">
              <a:ext uri="{FF2B5EF4-FFF2-40B4-BE49-F238E27FC236}">
                <a16:creationId xmlns:a16="http://schemas.microsoft.com/office/drawing/2014/main" id="{D063C816-FA05-4ABD-AC07-8E917162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19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SoftNav</a:t>
            </a:r>
          </a:p>
        </p:txBody>
      </p:sp>
      <p:sp>
        <p:nvSpPr>
          <p:cNvPr id="20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F950F8DF-EC39-4307-A425-92AA70AE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21" name="历史记忆">
            <a:extLst xmlns:a="http://schemas.openxmlformats.org/drawingml/2006/main">
              <a:ext uri="{FF2B5EF4-FFF2-40B4-BE49-F238E27FC236}">
                <a16:creationId xmlns:a16="http://schemas.microsoft.com/office/drawing/2014/main" id="{A370201A-DDE5-4080-9F6C-57B82474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90775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历史记忆</a:t>
            </a:r>
          </a:p>
        </p:txBody>
      </p:sp>
      <p:sp>
        <p:nvSpPr>
          <p:cNvPr id="22" name="2 篇">
            <a:extLst xmlns:a="http://schemas.openxmlformats.org/drawingml/2006/main">
              <a:ext uri="{FF2B5EF4-FFF2-40B4-BE49-F238E27FC236}">
                <a16:creationId xmlns:a16="http://schemas.microsoft.com/office/drawing/2014/main" id="{86E5ABD8-29DB-4DB1-96E2-51BCF82D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432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 篇</a:t>
            </a:r>
          </a:p>
        </p:txBody>
      </p:sp>
      <p:sp>
        <p:nvSpPr>
          <p:cNvPr id="23" name="AstraNav-Memory">
            <a:extLst xmlns:a="http://schemas.openxmlformats.org/drawingml/2006/main">
              <a:ext uri="{FF2B5EF4-FFF2-40B4-BE49-F238E27FC236}">
                <a16:creationId xmlns:a16="http://schemas.microsoft.com/office/drawing/2014/main" id="{2FF0D51E-8E1B-4EC7-99B6-9F82BFA3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38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AstraNav-Memory</a:t>
            </a:r>
          </a:p>
        </p:txBody>
      </p:sp>
      <p:sp>
        <p:nvSpPr>
          <p:cNvPr id="24" name="JanusVLN">
            <a:extLst xmlns:a="http://schemas.openxmlformats.org/drawingml/2006/main">
              <a:ext uri="{FF2B5EF4-FFF2-40B4-BE49-F238E27FC236}">
                <a16:creationId xmlns:a16="http://schemas.microsoft.com/office/drawing/2014/main" id="{B5BFD43D-4BA2-4BDE-984A-64AF0EE8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19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JanusVLN</a:t>
            </a:r>
          </a:p>
        </p:txBody>
      </p:sp>
      <p:sp>
        <p:nvSpPr>
          <p:cNvPr id="25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0622CC03-F29C-4BFB-80E3-6421A1A3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26" name="探索与目标搜索">
            <a:extLst xmlns:a="http://schemas.openxmlformats.org/drawingml/2006/main">
              <a:ext uri="{FF2B5EF4-FFF2-40B4-BE49-F238E27FC236}">
                <a16:creationId xmlns:a16="http://schemas.microsoft.com/office/drawing/2014/main" id="{14E42F99-D4AC-45F0-81F7-458F8502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90775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探索与目标搜索</a:t>
            </a:r>
          </a:p>
        </p:txBody>
      </p:sp>
      <p:sp>
        <p:nvSpPr>
          <p:cNvPr id="27" name="2 篇">
            <a:extLst xmlns:a="http://schemas.openxmlformats.org/drawingml/2006/main">
              <a:ext uri="{FF2B5EF4-FFF2-40B4-BE49-F238E27FC236}">
                <a16:creationId xmlns:a16="http://schemas.microsoft.com/office/drawing/2014/main" id="{8D925475-5DB6-4766-B28C-47190F2E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432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 篇</a:t>
            </a:r>
          </a:p>
        </p:txBody>
      </p:sp>
      <p:sp>
        <p:nvSpPr>
          <p:cNvPr id="28" name="VLFM">
            <a:extLst xmlns:a="http://schemas.openxmlformats.org/drawingml/2006/main">
              <a:ext uri="{FF2B5EF4-FFF2-40B4-BE49-F238E27FC236}">
                <a16:creationId xmlns:a16="http://schemas.microsoft.com/office/drawing/2014/main" id="{75DB43D3-196F-4575-87F1-E0D7EB32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38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VLFM</a:t>
            </a:r>
          </a:p>
        </p:txBody>
      </p:sp>
      <p:sp>
        <p:nvSpPr>
          <p:cNvPr id="29" name="OpenFrontier">
            <a:extLst xmlns:a="http://schemas.openxmlformats.org/drawingml/2006/main">
              <a:ext uri="{FF2B5EF4-FFF2-40B4-BE49-F238E27FC236}">
                <a16:creationId xmlns:a16="http://schemas.microsoft.com/office/drawing/2014/main" id="{EE5BAEF8-A370-4F66-AAE3-673D4791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19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OpenFrontier</a:t>
            </a:r>
          </a:p>
        </p:txBody>
      </p:sp>
      <p:sp>
        <p:nvSpPr>
          <p:cNvPr id="30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D3DCA9C9-D20C-4BDE-8414-A67C0704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4787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31" name="导航策略&#10;训练与优化">
            <a:extLst xmlns:a="http://schemas.openxmlformats.org/drawingml/2006/main">
              <a:ext uri="{FF2B5EF4-FFF2-40B4-BE49-F238E27FC236}">
                <a16:creationId xmlns:a16="http://schemas.microsoft.com/office/drawing/2014/main" id="{4BBE2B49-B0EF-4D14-AF7A-B82FE3FC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90775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导航策略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训练与优化</a:t>
            </a:r>
          </a:p>
        </p:txBody>
      </p:sp>
      <p:sp>
        <p:nvSpPr>
          <p:cNvPr id="32" name="2 篇">
            <a:extLst xmlns:a="http://schemas.openxmlformats.org/drawingml/2006/main">
              <a:ext uri="{FF2B5EF4-FFF2-40B4-BE49-F238E27FC236}">
                <a16:creationId xmlns:a16="http://schemas.microsoft.com/office/drawing/2014/main" id="{C13D4264-AA99-41DF-B263-526DB1A4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 篇</a:t>
            </a:r>
          </a:p>
        </p:txBody>
      </p:sp>
      <p:sp>
        <p:nvSpPr>
          <p:cNvPr id="33" name="OVSegDT">
            <a:extLst xmlns:a="http://schemas.openxmlformats.org/drawingml/2006/main">
              <a:ext uri="{FF2B5EF4-FFF2-40B4-BE49-F238E27FC236}">
                <a16:creationId xmlns:a16="http://schemas.microsoft.com/office/drawing/2014/main" id="{C3D8501E-6F9A-4877-8D81-2CC1AD71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38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OVSegDT</a:t>
            </a:r>
          </a:p>
        </p:txBody>
      </p:sp>
      <p:sp>
        <p:nvSpPr>
          <p:cNvPr id="34" name="CompassNav">
            <a:extLst xmlns:a="http://schemas.openxmlformats.org/drawingml/2006/main">
              <a:ext uri="{FF2B5EF4-FFF2-40B4-BE49-F238E27FC236}">
                <a16:creationId xmlns:a16="http://schemas.microsoft.com/office/drawing/2014/main" id="{EED67CDA-3D70-4917-87FD-B84F2335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19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CompassNav</a:t>
            </a:r>
          </a:p>
        </p:txBody>
      </p:sp>
      <p:sp>
        <p:nvSpPr>
          <p:cNvPr id="3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4EA1B56C-9672-479F-8965-DEF805FB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另列数据集与评测基准：HM3D Semantics、HM3D-OVON、GOAT-Bench、SG3D / SG-LLM</a:t>
            </a:r>
          </a:p>
        </p:txBody>
      </p:sp>
    </p:spTree>
    <p:extLst>
      <p:ext uri="{BB962C8B-B14F-4D97-AF65-F5344CB8AC3E}">
        <p14:creationId xmlns:p14="http://schemas.microsoft.com/office/powerpoint/2010/main" val="10316778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568735-3743-4D38-91F8-654AC26E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系统组织架构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59C5F03-8B4B-444C-BD62-C1435ACD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FBA8C70D-78D0-4984-AC66-57817911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程序与工具／技能编排、快慢系统分层协作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多任务及规划、定位、探索与导航能力的统一建模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00649-96BB-4770-936B-BF914B2AC204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39814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057400"/>
                <a:gridCol w="4857750"/>
                <a:gridCol w="3905250"/>
              </a:tblGrid>
              <a:tr h="4381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GPU 配置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时长与备注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5715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TANGO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无需新增导航专项训练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复用预训练模型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SuperNav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主模型与几何执行器无需专项训练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学习式执行器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GPU 配置未报告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OmniNav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阶段1：96 × H20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阶段2：64 × H20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48小时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D3D-VLP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× RTX 6000 Ada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约14天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Uni-NaVid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 × H800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约35小时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MTU3D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× A100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约164 GPU·小时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BD7D1ABE-44FF-4CA7-B7DA-6D495DAD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训练配置沿用源文档口径，基础模型与复用组件的预训练开销另计</a:t>
            </a:r>
          </a:p>
        </p:txBody>
      </p:sp>
    </p:spTree>
    <p:extLst>
      <p:ext uri="{BB962C8B-B14F-4D97-AF65-F5344CB8AC3E}">
        <p14:creationId xmlns:p14="http://schemas.microsoft.com/office/powerpoint/2010/main" val="4807863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A738A8-84E6-4898-A544-8DF13C2B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环境表征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220681-2320-4177-9861-D874AF55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44E5735A-0FBF-45E1-93F0-A64AFD2D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三维场景图组织物体、空间信息与视觉证据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三维物体和前沿特征的 soft-token 表示接口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2DF62-2322-425A-8AF6-FE94CDFCB4AF}"/>
              </a:ext>
            </a:extLst>
          </p:cNvPr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952750"/>
                <a:gridCol w="4667250"/>
                <a:gridCol w="3200400"/>
              </a:tblGrid>
              <a:tr h="5143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GPU 配置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时长与备注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MSGNav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无需新增导航专项训练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推理资源另计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SoftNav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× RTX 4090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时长未报告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7931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CDE9EB-0A50-45A2-97C9-EC6DDE77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历史记忆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065CFE9-FB6A-4230-8C15-CC8147A9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3562E04E-273B-4710-8C68-5EFE7321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长期视觉历史压缩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语义与空间双分支记忆、历史缓存与滑动窗口更新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FD601-2297-47A5-95B9-3B916BA31254}"/>
              </a:ext>
            </a:extLst>
          </p:cNvPr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3429000"/>
                <a:gridCol w="3333750"/>
                <a:gridCol w="4057650"/>
              </a:tblGrid>
              <a:tr h="5143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GPU 配置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时长与备注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AstraNav-Memory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 × H20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时长未报告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JanusVLN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 × H20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约31小时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笔记转引作者答复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1471F2ED-B048-4757-8142-512EA640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JanusVLN 配置据阅读笔记转引作者答复，本次未能加载评论正文</a:t>
            </a:r>
          </a:p>
        </p:txBody>
      </p:sp>
    </p:spTree>
    <p:extLst>
      <p:ext uri="{BB962C8B-B14F-4D97-AF65-F5344CB8AC3E}">
        <p14:creationId xmlns:p14="http://schemas.microsoft.com/office/powerpoint/2010/main" val="5022313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460842-3884-4C29-8304-3A24F178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探索与目标搜索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AA9858-DF8F-4EE2-B343-A2630C38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197D1851-AC8C-4AF3-9D02-C9389799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语义价值地图与视觉前沿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结合目标相关性、信息增益和距离选择探索位置，并确认目标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D6CDB-3B82-4208-B238-4AEBFF87D796}"/>
              </a:ext>
            </a:extLst>
          </p:cNvPr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667000"/>
                <a:gridCol w="4191000"/>
                <a:gridCol w="3962400"/>
              </a:tblGrid>
              <a:tr h="5143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训练配置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统计口径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VLFM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无需新增导航专项训练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复用组件的预训练开销另计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OpenFrontier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无需新增导航专项训练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运行与推理仍需计算资源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55DCB2E7-4A8B-42F1-972C-57A254CD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源文档未将运行显卡配置计作训练算力</a:t>
            </a:r>
          </a:p>
        </p:txBody>
      </p:sp>
    </p:spTree>
    <p:extLst>
      <p:ext uri="{BB962C8B-B14F-4D97-AF65-F5344CB8AC3E}">
        <p14:creationId xmlns:p14="http://schemas.microsoft.com/office/powerpoint/2010/main" val="8258584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0F419B-4AE5-4BA5-91C4-C434FA59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导航策略训练与优化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628252D-A178-4FD0-A6E4-AA9B3D0C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B806E84A-783B-40E2-B58C-ECA14C28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目标分割辅助监督与自适应 BC／PPO 联合优化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基于候选动作质量的 SFT／GRPO 与差距感知奖励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4F6DE-4614-45E8-B08E-D32DF6BA38CD}"/>
              </a:ext>
            </a:extLst>
          </p:cNvPr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381250"/>
                <a:gridCol w="4000500"/>
                <a:gridCol w="4438650"/>
              </a:tblGrid>
              <a:tr h="5143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GPU 配置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训练规模与时长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OVSegDT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× A100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约2.15亿环境步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时长未报告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CompassNav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SFT：8 × A800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RFT：8 × H200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SFT：约12小时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RFT：约56.7小时（估算）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7DD8A187-0815-412C-92A9-AEE7C56F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CompassNav 的 RFT 时长按约170步、每步约20分钟换算</a:t>
            </a:r>
          </a:p>
        </p:txBody>
      </p:sp>
    </p:spTree>
    <p:extLst>
      <p:ext uri="{BB962C8B-B14F-4D97-AF65-F5344CB8AC3E}">
        <p14:creationId xmlns:p14="http://schemas.microsoft.com/office/powerpoint/2010/main" val="6877378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65B535-FB0C-493F-8F1E-D658E6BD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数据集与评测基准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030FD52-FEDB-4028-99EC-1A45BE1B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F84F9CDD-65D5-4C15-A99F-390F2A8C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场景语义标注、开放词汇与多模态目标构建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连续或顺序任务设计，以及评测协议和基线设计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99601-ED80-434C-AA11-57DF900A7D83}"/>
              </a:ext>
            </a:extLst>
          </p:cNvPr>
          <p:cNvGraphicFramePr/>
          <p:nvPr/>
        </p:nvGraphicFramePr>
        <p:xfrm>
          <a:off xmlns:a="http://schemas.openxmlformats.org/drawingml/2006/main" x="685800" y="2266950"/>
          <a:ext xmlns:a="http://schemas.openxmlformats.org/drawingml/2006/main" cx="10820400" cy="36957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4095750"/>
                <a:gridCol w="6724650"/>
              </a:tblGrid>
              <a:tr h="4953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训练算力统计口径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8001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 Semantics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数据集本身不适用，导航基线另计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按各基线分别统计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GOAT-Bench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按各基线分别统计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SG3D / SG-LLM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SG-LLM 等基线分别统计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7341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44C877-481C-4111-B108-12012318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训练算力统计口径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89D53B-DAF3-4E31-8FC7-61DF641E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64054-F32D-487C-AD92-6AFBD7AAD1B8}"/>
              </a:ext>
            </a:extLst>
          </p:cNvPr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820400" cy="43243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476500"/>
                <a:gridCol w="8343900"/>
              </a:tblGrid>
              <a:tr h="4953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统计项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口径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8001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配置来源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各篇阅读笔记记录的论文或作者报告配置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成本范围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基础模型与复用组件的预训练开销另计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免训练方法仍需推理资源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时间与卡时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GPU·小时 = GPU 数量 × 训练小时数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不同型号 GPU 的卡时分别保留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缺失与估算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未报告的数据保留“未报告”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CompassNav RFT 的约56.7小时属于换算估计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78B48EC-1762-4918-889C-BC4548D1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JanusVLN 的训练配置保留“阅读笔记转引作者答复”来源说明</a:t>
            </a:r>
          </a:p>
        </p:txBody>
      </p:sp>
    </p:spTree>
    <p:extLst>
      <p:ext uri="{BB962C8B-B14F-4D97-AF65-F5344CB8AC3E}">
        <p14:creationId xmlns:p14="http://schemas.microsoft.com/office/powerpoint/2010/main" val="1985172583"/>
      </p:ext>
    </p:extLst>
  </p:cSld>
</p:sld>
</file>

<file path=ppt/theme/theme1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2026-10-16T13:44:38.7730000Z</dcterms:created>
  <dcterms:modified xsi:type="dcterms:W3CDTF">2026-10-16T13:44:38.7730000Z</dcterms:modified>
</coreProperties>
</file>