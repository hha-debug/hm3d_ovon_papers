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b7246ce9974fdc" /><Relationship Type="http://schemas.openxmlformats.org/officeDocument/2006/relationships/extended-properties" Target="/docProps/app.xml" Id="R6989e37476cf456c" /><Relationship Type="http://schemas.openxmlformats.org/officeDocument/2006/relationships/officeDocument" Target="/ppt/presentation.xml" Id="R5c2db51e87044d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14c6b388144e42"/>
  </p:sldMasterIdLst>
  <p:notesMasterIdLst>
    <p:notesMasterId xmlns:r="http://schemas.openxmlformats.org/officeDocument/2006/relationships" r:id="R9c5f8c3911d84743"/>
  </p:notesMasterIdLst>
  <p:sldIdLst>
    <p:sldId xmlns:r="http://schemas.openxmlformats.org/officeDocument/2006/relationships" id="256" r:id="R415a5c2b7da248e8"/>
    <p:sldId xmlns:r="http://schemas.openxmlformats.org/officeDocument/2006/relationships" id="257" r:id="Rca7780a61744444e"/>
    <p:sldId xmlns:r="http://schemas.openxmlformats.org/officeDocument/2006/relationships" id="258" r:id="R66054f95db4f4ace"/>
    <p:sldId xmlns:r="http://schemas.openxmlformats.org/officeDocument/2006/relationships" id="259" r:id="R52b340d5e4c24149"/>
    <p:sldId xmlns:r="http://schemas.openxmlformats.org/officeDocument/2006/relationships" id="260" r:id="R4e0fb470bfd34a34"/>
    <p:sldId xmlns:r="http://schemas.openxmlformats.org/officeDocument/2006/relationships" id="261" r:id="Rf156853a638c4888"/>
    <p:sldId xmlns:r="http://schemas.openxmlformats.org/officeDocument/2006/relationships" id="262" r:id="Rb48cdcef7dc24fad"/>
    <p:sldId xmlns:r="http://schemas.openxmlformats.org/officeDocument/2006/relationships" id="263" r:id="R93df1a4ae9174ad4"/>
    <p:sldId xmlns:r="http://schemas.openxmlformats.org/officeDocument/2006/relationships" id="264" r:id="Rce0a260e606348f7"/>
    <p:sldId xmlns:r="http://schemas.openxmlformats.org/officeDocument/2006/relationships" id="265" r:id="R30e45e95103c476e"/>
    <p:sldId xmlns:r="http://schemas.openxmlformats.org/officeDocument/2006/relationships" id="266" r:id="R8fb5764ceacd44a7"/>
    <p:sldId xmlns:r="http://schemas.openxmlformats.org/officeDocument/2006/relationships" id="267" r:id="R6a4a54a9d8534dd4"/>
    <p:sldId xmlns:r="http://schemas.openxmlformats.org/officeDocument/2006/relationships" id="268" r:id="R21cc3a8b1c524a91"/>
    <p:sldId xmlns:r="http://schemas.openxmlformats.org/officeDocument/2006/relationships" id="269" r:id="R251d09fd189443f1"/>
    <p:sldId xmlns:r="http://schemas.openxmlformats.org/officeDocument/2006/relationships" id="270" r:id="R6d1f5179e184454b"/>
    <p:sldId xmlns:r="http://schemas.openxmlformats.org/officeDocument/2006/relationships" id="271" r:id="Rfe38ba52fe34402b"/>
    <p:sldId xmlns:r="http://schemas.openxmlformats.org/officeDocument/2006/relationships" id="272" r:id="R3f81f2a0ffa147ec"/>
    <p:sldId xmlns:r="http://schemas.openxmlformats.org/officeDocument/2006/relationships" id="273" r:id="R7b08d7d6ef0a40e4"/>
    <p:sldId xmlns:r="http://schemas.openxmlformats.org/officeDocument/2006/relationships" id="274" r:id="R96b38775bd454047"/>
    <p:sldId xmlns:r="http://schemas.openxmlformats.org/officeDocument/2006/relationships" id="275" r:id="R0defb6e7c368404b"/>
    <p:sldId xmlns:r="http://schemas.openxmlformats.org/officeDocument/2006/relationships" id="276" r:id="Re9b3918b06b34d5c"/>
    <p:sldId xmlns:r="http://schemas.openxmlformats.org/officeDocument/2006/relationships" id="277" r:id="R427561a836224c36"/>
    <p:sldId xmlns:r="http://schemas.openxmlformats.org/officeDocument/2006/relationships" id="278" r:id="R7f10fef456714326"/>
    <p:sldId xmlns:r="http://schemas.openxmlformats.org/officeDocument/2006/relationships" id="279" r:id="R94fbcef2718e46e7"/>
    <p:sldId xmlns:r="http://schemas.openxmlformats.org/officeDocument/2006/relationships" id="280" r:id="R72ea44614e1345f2"/>
    <p:sldId xmlns:r="http://schemas.openxmlformats.org/officeDocument/2006/relationships" id="281" r:id="R29a81b91be7b4ba1"/>
    <p:sldId xmlns:r="http://schemas.openxmlformats.org/officeDocument/2006/relationships" id="282" r:id="R540e842d04944298"/>
    <p:sldId xmlns:r="http://schemas.openxmlformats.org/officeDocument/2006/relationships" id="283" r:id="R50cc629a574941f5"/>
    <p:sldId xmlns:r="http://schemas.openxmlformats.org/officeDocument/2006/relationships" id="284" r:id="R66914adf073d48ad"/>
    <p:sldId xmlns:r="http://schemas.openxmlformats.org/officeDocument/2006/relationships" id="285" r:id="Rf48189688e254fe5"/>
    <p:sldId xmlns:r="http://schemas.openxmlformats.org/officeDocument/2006/relationships" id="286" r:id="R43b00f4454474b2e"/>
    <p:sldId xmlns:r="http://schemas.openxmlformats.org/officeDocument/2006/relationships" id="287" r:id="R417904f283dc4dbe"/>
    <p:sldId xmlns:r="http://schemas.openxmlformats.org/officeDocument/2006/relationships" id="288" r:id="Ra8cdd5360de341b5"/>
    <p:sldId xmlns:r="http://schemas.openxmlformats.org/officeDocument/2006/relationships" id="289" r:id="R3e4fe42618b74ed6"/>
    <p:sldId xmlns:r="http://schemas.openxmlformats.org/officeDocument/2006/relationships" id="290" r:id="R72cf45bc98484d71"/>
    <p:sldId xmlns:r="http://schemas.openxmlformats.org/officeDocument/2006/relationships" id="291" r:id="R5956024649dc40fe"/>
    <p:sldId xmlns:r="http://schemas.openxmlformats.org/officeDocument/2006/relationships" id="292" r:id="Rf951b55521b94f81"/>
    <p:sldId xmlns:r="http://schemas.openxmlformats.org/officeDocument/2006/relationships" id="293" r:id="R1b3eac8d3c1a432c"/>
    <p:sldId xmlns:r="http://schemas.openxmlformats.org/officeDocument/2006/relationships" id="294" r:id="Rf4843d25a7d94ede"/>
    <p:sldId xmlns:r="http://schemas.openxmlformats.org/officeDocument/2006/relationships" id="295" r:id="Rfa1228d1c9ee4450"/>
    <p:sldId xmlns:r="http://schemas.openxmlformats.org/officeDocument/2006/relationships" id="296" r:id="R5d31d54452d64867"/>
    <p:sldId xmlns:r="http://schemas.openxmlformats.org/officeDocument/2006/relationships" id="297" r:id="Rcfec2c8ed17a4351"/>
    <p:sldId xmlns:r="http://schemas.openxmlformats.org/officeDocument/2006/relationships" id="298" r:id="R481fd4fb07ba44ef"/>
    <p:sldId xmlns:r="http://schemas.openxmlformats.org/officeDocument/2006/relationships" id="299" r:id="R77e339698b654742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a6440369bd4f28" /><Relationship Type="http://schemas.openxmlformats.org/officeDocument/2006/relationships/slideMaster" Target="/ppt/slideMasters/slideMaster1.xml" Id="Rb314c6b388144e42" /><Relationship Type="http://schemas.openxmlformats.org/officeDocument/2006/relationships/notesMaster" Target="/ppt/notesMasters/notesMaster1.xml" Id="R9c5f8c3911d84743" /><Relationship Type="http://schemas.openxmlformats.org/officeDocument/2006/relationships/presProps" Target="/ppt/presProps.xml" Id="R924de2d2e8c34d27" /><Relationship Type="http://schemas.openxmlformats.org/officeDocument/2006/relationships/viewProps" Target="/ppt/viewProps.xml" Id="R486affa4c5674d96" /><Relationship Type="http://schemas.openxmlformats.org/officeDocument/2006/relationships/tableStyles" Target="/ppt/tableStyles.xml" Id="R76369a216fc84b5a" /><Relationship Type="http://schemas.openxmlformats.org/officeDocument/2006/relationships/slide" Target="/ppt/slides/slide1.xml" Id="R415a5c2b7da248e8" /><Relationship Type="http://schemas.openxmlformats.org/officeDocument/2006/relationships/slide" Target="/ppt/slides/slide2.xml" Id="Rca7780a61744444e" /><Relationship Type="http://schemas.openxmlformats.org/officeDocument/2006/relationships/slide" Target="/ppt/slides/slide3.xml" Id="R66054f95db4f4ace" /><Relationship Type="http://schemas.openxmlformats.org/officeDocument/2006/relationships/slide" Target="/ppt/slides/slide4.xml" Id="R52b340d5e4c24149" /><Relationship Type="http://schemas.openxmlformats.org/officeDocument/2006/relationships/slide" Target="/ppt/slides/slide5.xml" Id="R4e0fb470bfd34a34" /><Relationship Type="http://schemas.openxmlformats.org/officeDocument/2006/relationships/slide" Target="/ppt/slides/slide6.xml" Id="Rf156853a638c4888" /><Relationship Type="http://schemas.openxmlformats.org/officeDocument/2006/relationships/slide" Target="/ppt/slides/slide7.xml" Id="Rb48cdcef7dc24fad" /><Relationship Type="http://schemas.openxmlformats.org/officeDocument/2006/relationships/slide" Target="/ppt/slides/slide8.xml" Id="R93df1a4ae9174ad4" /><Relationship Type="http://schemas.openxmlformats.org/officeDocument/2006/relationships/slide" Target="/ppt/slides/slide9.xml" Id="Rce0a260e606348f7" /><Relationship Type="http://schemas.openxmlformats.org/officeDocument/2006/relationships/slide" Target="/ppt/slides/slide10.xml" Id="R30e45e95103c476e" /><Relationship Type="http://schemas.openxmlformats.org/officeDocument/2006/relationships/slide" Target="/ppt/slides/slide11.xml" Id="R8fb5764ceacd44a7" /><Relationship Type="http://schemas.openxmlformats.org/officeDocument/2006/relationships/slide" Target="/ppt/slides/slide12.xml" Id="R6a4a54a9d8534dd4" /><Relationship Type="http://schemas.openxmlformats.org/officeDocument/2006/relationships/slide" Target="/ppt/slides/slide13.xml" Id="R21cc3a8b1c524a91" /><Relationship Type="http://schemas.openxmlformats.org/officeDocument/2006/relationships/slide" Target="/ppt/slides/slide14.xml" Id="R251d09fd189443f1" /><Relationship Type="http://schemas.openxmlformats.org/officeDocument/2006/relationships/slide" Target="/ppt/slides/slide15.xml" Id="R6d1f5179e184454b" /><Relationship Type="http://schemas.openxmlformats.org/officeDocument/2006/relationships/slide" Target="/ppt/slides/slide16.xml" Id="Rfe38ba52fe34402b" /><Relationship Type="http://schemas.openxmlformats.org/officeDocument/2006/relationships/slide" Target="/ppt/slides/slide17.xml" Id="R3f81f2a0ffa147ec" /><Relationship Type="http://schemas.openxmlformats.org/officeDocument/2006/relationships/slide" Target="/ppt/slides/slide18.xml" Id="R7b08d7d6ef0a40e4" /><Relationship Type="http://schemas.openxmlformats.org/officeDocument/2006/relationships/slide" Target="/ppt/slides/slide19.xml" Id="R96b38775bd454047" /><Relationship Type="http://schemas.openxmlformats.org/officeDocument/2006/relationships/slide" Target="/ppt/slides/slide20.xml" Id="R0defb6e7c368404b" /><Relationship Type="http://schemas.openxmlformats.org/officeDocument/2006/relationships/slide" Target="/ppt/slides/slide21.xml" Id="Re9b3918b06b34d5c" /><Relationship Type="http://schemas.openxmlformats.org/officeDocument/2006/relationships/slide" Target="/ppt/slides/slide22.xml" Id="R427561a836224c36" /><Relationship Type="http://schemas.openxmlformats.org/officeDocument/2006/relationships/slide" Target="/ppt/slides/slide23.xml" Id="R7f10fef456714326" /><Relationship Type="http://schemas.openxmlformats.org/officeDocument/2006/relationships/slide" Target="/ppt/slides/slide24.xml" Id="R94fbcef2718e46e7" /><Relationship Type="http://schemas.openxmlformats.org/officeDocument/2006/relationships/slide" Target="/ppt/slides/slide25.xml" Id="R72ea44614e1345f2" /><Relationship Type="http://schemas.openxmlformats.org/officeDocument/2006/relationships/slide" Target="/ppt/slides/slide26.xml" Id="R29a81b91be7b4ba1" /><Relationship Type="http://schemas.openxmlformats.org/officeDocument/2006/relationships/slide" Target="/ppt/slides/slide27.xml" Id="R540e842d04944298" /><Relationship Type="http://schemas.openxmlformats.org/officeDocument/2006/relationships/slide" Target="/ppt/slides/slide28.xml" Id="R50cc629a574941f5" /><Relationship Type="http://schemas.openxmlformats.org/officeDocument/2006/relationships/slide" Target="/ppt/slides/slide29.xml" Id="R66914adf073d48ad" /><Relationship Type="http://schemas.openxmlformats.org/officeDocument/2006/relationships/slide" Target="/ppt/slides/slide30.xml" Id="Rf48189688e254fe5" /><Relationship Type="http://schemas.openxmlformats.org/officeDocument/2006/relationships/slide" Target="/ppt/slides/slide31.xml" Id="R43b00f4454474b2e" /><Relationship Type="http://schemas.openxmlformats.org/officeDocument/2006/relationships/slide" Target="/ppt/slides/slide32.xml" Id="R417904f283dc4dbe" /><Relationship Type="http://schemas.openxmlformats.org/officeDocument/2006/relationships/slide" Target="/ppt/slides/slide33.xml" Id="Ra8cdd5360de341b5" /><Relationship Type="http://schemas.openxmlformats.org/officeDocument/2006/relationships/slide" Target="/ppt/slides/slide34.xml" Id="R3e4fe42618b74ed6" /><Relationship Type="http://schemas.openxmlformats.org/officeDocument/2006/relationships/slide" Target="/ppt/slides/slide35.xml" Id="R72cf45bc98484d71" /><Relationship Type="http://schemas.openxmlformats.org/officeDocument/2006/relationships/slide" Target="/ppt/slides/slide36.xml" Id="R5956024649dc40fe" /><Relationship Type="http://schemas.openxmlformats.org/officeDocument/2006/relationships/slide" Target="/ppt/slides/slide37.xml" Id="Rf951b55521b94f81" /><Relationship Type="http://schemas.openxmlformats.org/officeDocument/2006/relationships/slide" Target="/ppt/slides/slide38.xml" Id="R1b3eac8d3c1a432c" /><Relationship Type="http://schemas.openxmlformats.org/officeDocument/2006/relationships/slide" Target="/ppt/slides/slide39.xml" Id="Rf4843d25a7d94ede" /><Relationship Type="http://schemas.openxmlformats.org/officeDocument/2006/relationships/slide" Target="/ppt/slides/slide40.xml" Id="Rfa1228d1c9ee4450" /><Relationship Type="http://schemas.openxmlformats.org/officeDocument/2006/relationships/slide" Target="/ppt/slides/slide41.xml" Id="R5d31d54452d64867" /><Relationship Type="http://schemas.openxmlformats.org/officeDocument/2006/relationships/slide" Target="/ppt/slides/slide42.xml" Id="Rcfec2c8ed17a4351" /><Relationship Type="http://schemas.openxmlformats.org/officeDocument/2006/relationships/slide" Target="/ppt/slides/slide43.xml" Id="R481fd4fb07ba44ef" /><Relationship Type="http://schemas.openxmlformats.org/officeDocument/2006/relationships/slide" Target="/ppt/slides/slide44.xml" Id="R77e339698b6547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4fd7dd30d349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7ae4573d794196" /><Relationship Type="http://schemas.openxmlformats.org/officeDocument/2006/relationships/notesMaster" Target="/ppt/notesMasters/notesMaster1.xml" Id="R79680da05a9847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dcc1be474c4bab" /><Relationship Type="http://schemas.openxmlformats.org/officeDocument/2006/relationships/notesMaster" Target="/ppt/notesMasters/notesMaster1.xml" Id="Rcad9c8c1e28c49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45b909543c4421" /><Relationship Type="http://schemas.openxmlformats.org/officeDocument/2006/relationships/notesMaster" Target="/ppt/notesMasters/notesMaster1.xml" Id="R28ea148d201741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2b0503b9e44752" /><Relationship Type="http://schemas.openxmlformats.org/officeDocument/2006/relationships/notesMaster" Target="/ppt/notesMasters/notesMaster1.xml" Id="R659f46344b524d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7fa96ed9df4580" /><Relationship Type="http://schemas.openxmlformats.org/officeDocument/2006/relationships/notesMaster" Target="/ppt/notesMasters/notesMaster1.xml" Id="R7ed10f55b91f4f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bdae61d2924d78" /><Relationship Type="http://schemas.openxmlformats.org/officeDocument/2006/relationships/notesMaster" Target="/ppt/notesMasters/notesMaster1.xml" Id="R96068f186f1a48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6d43192fb449e3" /><Relationship Type="http://schemas.openxmlformats.org/officeDocument/2006/relationships/notesMaster" Target="/ppt/notesMasters/notesMaster1.xml" Id="R0e03fb3eeddd48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c08e44380543db" /><Relationship Type="http://schemas.openxmlformats.org/officeDocument/2006/relationships/notesMaster" Target="/ppt/notesMasters/notesMaster1.xml" Id="Rf21b26c0fb6a43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9c596771374f72" /><Relationship Type="http://schemas.openxmlformats.org/officeDocument/2006/relationships/notesMaster" Target="/ppt/notesMasters/notesMaster1.xml" Id="Rf6c511c8f7ab47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baae3fae024a1d" /><Relationship Type="http://schemas.openxmlformats.org/officeDocument/2006/relationships/notesMaster" Target="/ppt/notesMasters/notesMaster1.xml" Id="Rbc35051ba8814d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b7b013f3754185" /><Relationship Type="http://schemas.openxmlformats.org/officeDocument/2006/relationships/notesMaster" Target="/ppt/notesMasters/notesMaster1.xml" Id="R2e7ea45d87214d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ea14fcd2a14fb1" /><Relationship Type="http://schemas.openxmlformats.org/officeDocument/2006/relationships/notesMaster" Target="/ppt/notesMasters/notesMaster1.xml" Id="R411233756da740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9a706ff2a44e87" /><Relationship Type="http://schemas.openxmlformats.org/officeDocument/2006/relationships/notesMaster" Target="/ppt/notesMasters/notesMaster1.xml" Id="R7e7700f476244b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78ce6821ec4fbc" /><Relationship Type="http://schemas.openxmlformats.org/officeDocument/2006/relationships/notesMaster" Target="/ppt/notesMasters/notesMaster1.xml" Id="Rbc2bc4856d6b4a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9e8cfb936a43dc" /><Relationship Type="http://schemas.openxmlformats.org/officeDocument/2006/relationships/notesMaster" Target="/ppt/notesMasters/notesMaster1.xml" Id="R4229eb74efc542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d91c71b5f14c20" /><Relationship Type="http://schemas.openxmlformats.org/officeDocument/2006/relationships/notesMaster" Target="/ppt/notesMasters/notesMaster1.xml" Id="Re9b8d7bd69f143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4820e0c12f4387" /><Relationship Type="http://schemas.openxmlformats.org/officeDocument/2006/relationships/notesMaster" Target="/ppt/notesMasters/notesMaster1.xml" Id="Rb852aa82e18847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0e8c5d91874782" /><Relationship Type="http://schemas.openxmlformats.org/officeDocument/2006/relationships/notesMaster" Target="/ppt/notesMasters/notesMaster1.xml" Id="R3ae3dcc885c44c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c7ab405347f4f0d" /><Relationship Type="http://schemas.openxmlformats.org/officeDocument/2006/relationships/notesMaster" Target="/ppt/notesMasters/notesMaster1.xml" Id="R61864ae1d7334f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75f63e9ec84c80" /><Relationship Type="http://schemas.openxmlformats.org/officeDocument/2006/relationships/notesMaster" Target="/ppt/notesMasters/notesMaster1.xml" Id="R0ebc99d690e947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25fd67535d41f1" /><Relationship Type="http://schemas.openxmlformats.org/officeDocument/2006/relationships/notesMaster" Target="/ppt/notesMasters/notesMaster1.xml" Id="Rc3448d8881bd45e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3fb2ac6d99d4638" /><Relationship Type="http://schemas.openxmlformats.org/officeDocument/2006/relationships/notesMaster" Target="/ppt/notesMasters/notesMaster1.xml" Id="R857858ffe9844d0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0f24e5466cf4a05" /><Relationship Type="http://schemas.openxmlformats.org/officeDocument/2006/relationships/notesMaster" Target="/ppt/notesMasters/notesMaster1.xml" Id="R6e055f1f6b23454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e7db251e1ef4556" /><Relationship Type="http://schemas.openxmlformats.org/officeDocument/2006/relationships/notesMaster" Target="/ppt/notesMasters/notesMaster1.xml" Id="R4f30f493aafc416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3976966053c4ee5" /><Relationship Type="http://schemas.openxmlformats.org/officeDocument/2006/relationships/notesMaster" Target="/ppt/notesMasters/notesMaster1.xml" Id="R82fcb71a0379448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84fd7afc0664a30" /><Relationship Type="http://schemas.openxmlformats.org/officeDocument/2006/relationships/notesMaster" Target="/ppt/notesMasters/notesMaster1.xml" Id="R0758eb6b66e74ef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cd014a9f83a4c97" /><Relationship Type="http://schemas.openxmlformats.org/officeDocument/2006/relationships/notesMaster" Target="/ppt/notesMasters/notesMaster1.xml" Id="R8d623026605f4bb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40ed8ab48ac4086" /><Relationship Type="http://schemas.openxmlformats.org/officeDocument/2006/relationships/notesMaster" Target="/ppt/notesMasters/notesMaster1.xml" Id="Rdcec5b9852f2490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d3deb1877984c56" /><Relationship Type="http://schemas.openxmlformats.org/officeDocument/2006/relationships/notesMaster" Target="/ppt/notesMasters/notesMaster1.xml" Id="Rf99f942561d747b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f8f1bd28f564caa" /><Relationship Type="http://schemas.openxmlformats.org/officeDocument/2006/relationships/notesMaster" Target="/ppt/notesMasters/notesMaster1.xml" Id="Refb320c1a11b403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41cc20936c842cb" /><Relationship Type="http://schemas.openxmlformats.org/officeDocument/2006/relationships/notesMaster" Target="/ppt/notesMasters/notesMaster1.xml" Id="Rccd9528eae5a460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1122c14c48f4f22" /><Relationship Type="http://schemas.openxmlformats.org/officeDocument/2006/relationships/notesMaster" Target="/ppt/notesMasters/notesMaster1.xml" Id="R23a9bfec18784f6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0431be61c7d4f92" /><Relationship Type="http://schemas.openxmlformats.org/officeDocument/2006/relationships/notesMaster" Target="/ppt/notesMasters/notesMaster1.xml" Id="R25fad2641de644c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38a22f58c1e4d26" /><Relationship Type="http://schemas.openxmlformats.org/officeDocument/2006/relationships/notesMaster" Target="/ppt/notesMasters/notesMaster1.xml" Id="Rcfcec29be67d4b3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ef0a5825e9848ee" /><Relationship Type="http://schemas.openxmlformats.org/officeDocument/2006/relationships/notesMaster" Target="/ppt/notesMasters/notesMaster1.xml" Id="Rf0f6ff20ce5440c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a6a5fb6344a4fc6" /><Relationship Type="http://schemas.openxmlformats.org/officeDocument/2006/relationships/notesMaster" Target="/ppt/notesMasters/notesMaster1.xml" Id="Ra12135112002408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fb94bfe2342432c" /><Relationship Type="http://schemas.openxmlformats.org/officeDocument/2006/relationships/notesMaster" Target="/ppt/notesMasters/notesMaster1.xml" Id="Re783768f341e43d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4df1bd1a8dd401e" /><Relationship Type="http://schemas.openxmlformats.org/officeDocument/2006/relationships/notesMaster" Target="/ppt/notesMasters/notesMaster1.xml" Id="R30ca831a4dee4e9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ed961fb12544073" /><Relationship Type="http://schemas.openxmlformats.org/officeDocument/2006/relationships/notesMaster" Target="/ppt/notesMasters/notesMaster1.xml" Id="R01b91073765d420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694695b1ce84e1a" /><Relationship Type="http://schemas.openxmlformats.org/officeDocument/2006/relationships/notesMaster" Target="/ppt/notesMasters/notesMaster1.xml" Id="R29f902ee69df4c4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77df8fcbe6b4d90" /><Relationship Type="http://schemas.openxmlformats.org/officeDocument/2006/relationships/notesMaster" Target="/ppt/notesMasters/notesMaster1.xml" Id="R0c4cb5f21df7497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6f0b1775fd749b7" /><Relationship Type="http://schemas.openxmlformats.org/officeDocument/2006/relationships/notesMaster" Target="/ppt/notesMasters/notesMaster1.xml" Id="Rd59f0f859a86405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52f0f613d1e479c" /><Relationship Type="http://schemas.openxmlformats.org/officeDocument/2006/relationships/notesMaster" Target="/ppt/notesMasters/notesMaster1.xml" Id="R351cfd4ffad0489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726c371678646d4" /><Relationship Type="http://schemas.openxmlformats.org/officeDocument/2006/relationships/notesMaster" Target="/ppt/notesMasters/notesMaster1.xml" Id="Rffee75d1d40142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依照最新版一级分支分类，先按论文主要贡献划分五个方向，再按可复用的方法机制归并为八类。重点解释每类如何处理输入、维护状态并形成决策，再用代表论文展示具体实现。方法类别可组合，一篇论文的主归属不排除其采用其他类别的组件。指标范围仅限已收录的十四篇方法论文，数据集和基准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组织架构关注职责和接口，环境表征关注空间信息怎样组织，历史记忆关注过去信息怎样保留与读取，探索与目标搜索关注未知目标出现前怎样选择位置，训练与优化关注策略从什么学习信号改进。二级分类概括可复用机制，而具体模型与算法是类内差异。图表按主要贡献列出论文。二维和三维属于表征属性，任务数量与训练算力另外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范围为本方向六篇已收录方法论文。OmniNav采用完整慢系统与CoT配置，MTU3D为物体与前沿统一决策。D3D-VLP的SG3D结果使用给定真实计划的评测设置，不能据此推断完整任务规划性能。两类组织机制可以组合，不以任务数、传感器或算力决定归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arch_omni_U：OmniNav；HM3D-OVON / Val-Unseen；SR 59.2%，SPL 33.2%。E:\科研_机器人\HM3D-OVON\HM3D_OVON_Papers\05_视觉语言动作决策与视频记忆\2026_ICLR_OmniNav.pdf，PDF第8页，Table 2。协议：慢系统+CoT；RGB-D与里程计；1 m口径。</a:t>
            </a:r>
          </a:p>
          <a:p xmlns:a="http://schemas.openxmlformats.org/drawingml/2006/main">
            <a:r>
              <a:t>arch_mtu_goat_U：MTU3D；GOAT-Bench / Val-Unseen；SR 47.2%，SPL 27.7%。E:\科研_机器人\HM3D-OVON\HM3D_OVON_Papers\04_三维空间表征与目标推理\2025_ICCV_MTU3D_Move_to_Understand_a_3D_Scene.pdf，PDF第7页，Table 5。协议：跨子任务记忆。</a:t>
            </a:r>
          </a:p>
          <a:p xmlns:a="http://schemas.openxmlformats.org/drawingml/2006/main">
            <a:r>
              <a:t>arch_omni_r2r：OmniNav；R2R-CE / Val-Unseen；SR 69.5%，SPL 66.1%。E:\科研_机器人\HM3D-OVON\HM3D_OVON_Papers\05_视觉语言动作决策与视频记忆\2026_ICLR_OmniNav.pdf，PDF第8页，Table 1。协议：三视角快系统；不使用慢系统。</a:t>
            </a:r>
          </a:p>
          <a:p xmlns:a="http://schemas.openxmlformats.org/drawingml/2006/main">
            <a:r>
              <a:t>arch_omni_rxr：OmniNav；RxR-CE / Val-Unseen；SR 73.6%，SPL 62%。E:\科研_机器人\HM3D-OVON\HM3D_OVON_Papers\05_视觉语言动作决策与视频记忆\2026_ICLR_OmniNav.pdf，PDF第8页，Table 1。协议：三视角快系统；不使用慢系统。</a:t>
            </a:r>
          </a:p>
          <a:p xmlns:a="http://schemas.openxmlformats.org/drawingml/2006/main">
            <a:r>
              <a:t>arch_d3d_sg3d：D3D-VLP；SG3D-Nav / 导航任务；SR 33.7%，SPL 21.6%。E:\科研_机器人\HM3D-OVON\HM3D_OVON_Papers\04_三维空间表征与目标推理\2026_CVPR_D3D-VLP.pdf，PDF第7页，Table 3。协议：给定GT计划；s-SR=33.7；t-SR=13.8。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这一类的共同点是决策层与执行层通过明确接口协作。TANGO 先把请求组织成可解释的程序，再由解释器调用具体模块；SuperNav 更强调每轮查看工具返回的视觉与诊断信息，继续调用工具；OmniNav 则让慢系统选择空间子目标，快系统持续更新局部航点。它们都可以处理多种任务，因此“分层”不能等同于“单任务”。优势是可以复用成熟执行器，定位错误也较方便；局限是模块间可能存在坐标、语义和状态不一致，高层看到的证据也可能滞后。这里概括的是组织方式，不能据此推断训练算力必然较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E:\科研_机器人\HM3D-OVON\HM3D_OVON_Papers\03_大模型规划与工具调用\read-Tango.md</a:t>
            </a:r>
          </a:p>
          <a:p xmlns:a="http://schemas.openxmlformats.org/drawingml/2006/main">
            <a:r>
              <a:t>E:\科研_机器人\HM3D-OVON\HM3D_OVON_Papers\03_大模型规划与工具调用\read-SuperNav.md</a:t>
            </a:r>
          </a:p>
          <a:p xmlns:a="http://schemas.openxmlformats.org/drawingml/2006/main">
            <a:r>
              <a:t>E:\科研_机器人\HM3D-OVON\HM3D_OVON_Papers\05_视觉语言动作决策与视频记忆\read-OmniNav.md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OmniNav 说明了分层并不必然意味着使用两个独立大模型。它的快慢系统共享视觉语言骨干，区别主要在决策尺度与输出接口。慢系统利用任务、历史和空间候选判断下一步去哪，快系统把坐标子目标变成可执行的航点序列；航点还需要底层控制器转换成运动。论文两阶段训练分别处理离散输出与连续航点，不能解释成分别训练慢、快两个独立模型。报告效果时应区分纯视觉快系统和增加深度、里程计的完整系统；实机超过 5 Hz 的披露主要对应快系统，不能直接外推到完整快慢系统。该例强调子目标协作，不把成功归因于某一个模块。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E:\科研_机器人\HM3D-OVON\HM3D_OVON_Papers\05_视觉语言动作决策与视频记忆\read-OmniNav.md</a:t>
            </a:r>
          </a:p>
          <a:p xmlns:a="http://schemas.openxmlformats.org/drawingml/2006/main">
            <a:r>
              <a:t>OmniNav §3，Fig.1，式(1)–(4)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这一类统一的对象并不相同。D3D-VLP 让规划、三维定位与导航处于同一自回归序列，并共享环境和进度记忆；Uni-NaVid 让视觉语言导航、物体导航、具身问答和人物跟随共用视频语言接口，通过标记切换动作或文字；MTU3D 则把已观察对象与待探索前沿一起打分，从而决定现在接近目标，还是继续找目标。这里的“统一”描述学习与决策接口，不能泛化为从传感器到电机的完全端到端系统。三者仍保留不同程度的执行模块。多任务训练和分层协作可以同时存在，一级归属依据论文最突出的主要贡献，而不是排除其他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E:\科研_机器人\HM3D-OVON\HM3D_OVON_Papers\04_三维空间表征与目标推理\read-D3D.md</a:t>
            </a:r>
          </a:p>
          <a:p xmlns:a="http://schemas.openxmlformats.org/drawingml/2006/main">
            <a:r>
              <a:t>E:\科研_机器人\HM3D-OVON\HM3D_OVON_Papers\05_视觉语言动作决策与视频记忆\read-UniNavid.md</a:t>
            </a:r>
          </a:p>
          <a:p xmlns:a="http://schemas.openxmlformats.org/drawingml/2006/main">
            <a:r>
              <a:t>E:\科研_机器人\HM3D-OVON\HM3D_OVON_Papers\04_三维空间表征与目标推理\read-MTU.md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D3D-VLP 的“统一”发生在决策链内部：模型不能只写一个与执行脱节的静态计划，还要结合三维证据定位目标并决定下一航点。执行以后，历史计划、已定位目标和经过的轨迹被重新放回上下文，因此后续决策可以感知任务进度。三维记忆与 CoT 记忆作用不同，前者描述环境，后者描述决策和进展。SLFS 使只有导航标注或只有定位标注的样本也能参与共享模型训练，但并不等于缺失的中间步骤都有真实标签。该方法仍需要候选航点与底层控制，三维建图或定位发生错误时，统一生成本身不能自动保证安全与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E:\科研_机器人\HM3D-OVON\HM3D_OVON_Papers\04_三维空间表征与目标推理\read-D3D.md</a:t>
            </a:r>
          </a:p>
          <a:p xmlns:a="http://schemas.openxmlformats.org/drawingml/2006/main">
            <a:r>
              <a:t>D3D-VLP §3.1–3.3，Figs.2–3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比较用于解释分类口径。分层协作关注系统内部如何分工，统一建模关注不同能力如何共享表示和训练，两者不是严格互斥的系统属性。把每篇文章放在一个主要分支，是为了讲清它最突出的研究贡献，并不意味着其他方法特征不存在。因此，OmniNav 虽然有统一多任务骨干，仍以快慢协作为这里的主线；MTU3D 虽然有独立规划器，仍以对象定位和探索统一为主线。二维与三维属于表征形式，算力属于资源条件，均应在相应页面单独注明，不能替代方法分类。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  <a:p xmlns:a="http://schemas.openxmlformats.org/drawingml/2006/main"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arch_omni_S: OmniNav，HM3D-OVON / Val-Seen，SR=56.1%，SPL=30%。来源：E:\科研_机器人\HM3D-OVON\HM3D_OVON_Papers\05_视觉语言动作决策与视频记忆\2026_ICLR_OmniNav.pdf，PDF第8页，Table 2。协议：慢系统+CoT；RGB-D与里程计；1 m口径。</a:t>
            </a:r>
          </a:p>
          <a:p xmlns:a="http://schemas.openxmlformats.org/drawingml/2006/main">
            <a:r>
              <a:t>arch_omni_Y: OmniNav，HM3D-OVON / Val-Seen-Synonyms，SR=68.6%，SPL=38.8%。来源：E:\科研_机器人\HM3D-OVON\HM3D_OVON_Papers\05_视觉语言动作决策与视频记忆\2026_ICLR_OmniNav.pdf，PDF第8页，Table 2。协议：慢系统+CoT；RGB-D与里程计；1 m口径。</a:t>
            </a:r>
          </a:p>
          <a:p xmlns:a="http://schemas.openxmlformats.org/drawingml/2006/main">
            <a:r>
              <a:t>arch_omni_U: OmniNav，HM3D-OVON / Val-Unseen，SR=59.2%，SPL=33.2%。来源：E:\科研_机器人\HM3D-OVON\HM3D_OVON_Papers\05_视觉语言动作决策与视频记忆\2026_ICLR_OmniNav.pdf，PDF第8页，Table 2。协议：慢系统+CoT；RGB-D与里程计；1 m口径。</a:t>
            </a:r>
          </a:p>
          <a:p xmlns:a="http://schemas.openxmlformats.org/drawingml/2006/main">
            <a:r>
              <a:t>arch_mtu_goat_S: MTU3D，GOAT-Bench / Val-Seen，SR=52.2%，SPL=30.5%。来源：E:\科研_机器人\HM3D-OVON\HM3D_OVON_Papers\04_三维空间表征与目标推理\2025_ICCV_MTU3D_Move_to_Understand_a_3D_Scene.pdf，PDF第7页，Table 5。协议：跨子任务记忆。</a:t>
            </a:r>
          </a:p>
          <a:p xmlns:a="http://schemas.openxmlformats.org/drawingml/2006/main">
            <a:r>
              <a:t>arch_mtu_goat_Y: MTU3D，GOAT-Bench / Val-Seen-Synonyms，SR=48.4%，SPL=30.3%。来源：E:\科研_机器人\HM3D-OVON\HM3D_OVON_Papers\04_三维空间表征与目标推理\2025_ICCV_MTU3D_Move_to_Understand_a_3D_Scene.pdf，PDF第7页，Table 5。协议：跨子任务记忆。</a:t>
            </a:r>
          </a:p>
          <a:p xmlns:a="http://schemas.openxmlformats.org/drawingml/2006/main">
            <a:r>
              <a:t>arch_mtu_goat_U: MTU3D，GOAT-Bench / Val-Unseen，SR=47.2%，SPL=27.7%。来源：E:\科研_机器人\HM3D-OVON\HM3D_OVON_Papers\04_三维空间表征与目标推理\2025_ICCV_MTU3D_Move_to_Understand_a_3D_Scene.pdf，PDF第7页，Table 5。协议：跨子任务记忆。</a:t>
            </a:r>
          </a:p>
          <a:p xmlns:a="http://schemas.openxmlformats.org/drawingml/2006/main">
            <a:r>
              <a:t>arch_uni_obj: Uni-NaVid，HM3D ObjectNav / Val，SR=73.7%，SPL=37.1%。来源：E:\科研_机器人\HM3D-OVON\HM3D_OVON_Papers\05_视觉语言动作决策与视频记忆\2025_RSS_Uni-NaVid.pdf，PDF第8页，Table IV。协议：原论文验证集；单RGB；与SuperNav重评协议分列。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arch_omni_r2r: OmniNav，R2R-CE / Val-Unseen，SR=69.5%，SPL=66.1%。来源：E:\科研_机器人\HM3D-OVON\HM3D_OVON_Papers\05_视觉语言动作决策与视频记忆\2026_ICLR_OmniNav.pdf，PDF第8页，Table 1。协议：三视角快系统；不使用慢系统。</a:t>
            </a:r>
          </a:p>
          <a:p xmlns:a="http://schemas.openxmlformats.org/drawingml/2006/main">
            <a:r>
              <a:t>arch_omni_rxr: OmniNav，RxR-CE / Val-Unseen，SR=73.6%，SPL=62%。来源：E:\科研_机器人\HM3D-OVON\HM3D_OVON_Papers\05_视觉语言动作决策与视频记忆\2026_ICLR_OmniNav.pdf，PDF第8页，Table 1。协议：三视角快系统；不使用慢系统。</a:t>
            </a:r>
          </a:p>
          <a:p xmlns:a="http://schemas.openxmlformats.org/drawingml/2006/main">
            <a:r>
              <a:t>arch_d3d_reverie: D3D-VLP，REVERIE-CE / 论文验证设置，SR=47.5%，SPL=34.7%。来源：E:\科研_机器人\HM3D-OVON\HM3D_OVON_Papers\04_三维空间表征与目标推理\2026_CVPR_D3D-VLP.pdf，PDF第7页，Table 2。协议：单摄像头RGB-D流与位姿。</a:t>
            </a:r>
          </a:p>
          <a:p xmlns:a="http://schemas.openxmlformats.org/drawingml/2006/main">
            <a:r>
              <a:t>arch_d3d_navrag: D3D-VLP，NavRAG-CE / 论文验证设置，SR=31.1%，SPL=23.9%。来源：E:\科研_机器人\HM3D-OVON\HM3D_OVON_Papers\04_三维空间表征与目标推理\2026_CVPR_D3D-VLP.pdf，PDF第7页，Table 2。协议：单摄像头RGB-D流与位姿。</a:t>
            </a:r>
          </a:p>
          <a:p xmlns:a="http://schemas.openxmlformats.org/drawingml/2006/main">
            <a:r>
              <a:t>arch_d3d_sg3d: D3D-VLP，SG3D-Nav / 导航任务，SR=33.7%，SPL=21.6%。来源：E:\科研_机器人\HM3D-OVON\HM3D_OVON_Papers\04_三维空间表征与目标推理\2026_CVPR_D3D-VLP.pdf，PDF第7页，Table 3。协议：给定GT计划；s-SR=33.7；t-SR=13.8。</a:t>
            </a:r>
          </a:p>
          <a:p xmlns:a="http://schemas.openxmlformats.org/drawingml/2006/main">
            <a:r>
              <a:t>arch_uni_follow: Uni-NaVid，自建人物跟随 / 默认验证配置，SR=61.21%，SPL=未报告%。来源：E:\科研_机器人\HM3D-OVON\HM3D_OVON_Papers\05_视觉语言动作决策与视频记忆\2025_RSS_Uni-NaVid.pdf，PDF第9页，Table VII。协议：无SPL；FR=71.93%，CR=2.07%。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super_ovon025: SuperNav，HM3D-OVON / Val-Unseen 120子集，0.25 m，SR=68.33%，SPL=38.37%。来源：E:\科研_机器人\HM3D-OVON\HM3D_OVON_Papers\03_大模型规划与工具调用\SuperNav.pdf，PDF第8页，Table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 xmlns:a="http://schemas.openxmlformats.org/drawingml/2006/main">
            <a:r>
              <a:t>super_ovon1: SuperNav，HM3D-OVON / Val-Unseen 120子集，1 m，SR=73.33%，SPL=41.05%。来源：E:\科研_机器人\HM3D-OVON\HM3D_OVON_Papers\03_大模型规划与工具调用\SuperNav.pdf，PDF第8页，Table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 xmlns:a="http://schemas.openxmlformats.org/drawingml/2006/main">
            <a:r>
              <a:t>super_astra025: SuperNav，HM3D-OVON / 120子集，0.25 m；模型替换，SR=71.67%，SPL=45.79%。来源：E:\科研_机器人\HM3D-OVON\HM3D_OVON_Papers\03_大模型规划与工具调用\SuperNav.pdf，PDF第8页，Table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 xmlns:a="http://schemas.openxmlformats.org/drawingml/2006/main">
            <a:r>
              <a:t>super_astra1: SuperNav，HM3D-OVON / 120子集，1 m；模型替换，SR=79.17%，SPL=49.74%。来源：E:\科研_机器人\HM3D-OVON\HM3D_OVON_Papers\03_大模型规划与工具调用\SuperNav.pdf，PDF第8页，Table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 xmlns:a="http://schemas.openxmlformats.org/drawingml/2006/main">
            <a:r>
              <a:t>super_hm302: SuperNav，HM3Dv2 ObjectNav / 1000 episodes，0.2 m，SR=80.3%，SPL=33.38%。来源：E:\科研_机器人\HM3D-OVON\HM3D_OVON_Papers\03_大模型规划与工具调用\SuperNav.pdf，PDF第8页，Table 2。协议：Geo执行器；到目标视点测地距离。原SPL乘100转换为百分制</a:t>
            </a:r>
          </a:p>
          <a:p xmlns:a="http://schemas.openxmlformats.org/drawingml/2006/main">
            <a:r>
              <a:t>super_hm31: SuperNav，HM3Dv2 ObjectNav / 1000 episodes，1 m，SR=86.5%，SPL=36.38%。来源：E:\科研_机器人\HM3D-OVON\HM3D_OVON_Papers\03_大模型规划与工具调用\SuperNav.pdf，PDF第8页，Table 2。协议：Geo执行器；到目标视点测地距离。原SPL乘100转换为百分制</a:t>
            </a:r>
          </a:p>
          <a:p xmlns:a="http://schemas.openxmlformats.org/drawingml/2006/main">
            <a:r>
              <a:t>super_single: SuperNav，Habitat-GS / InteriorGS / 单目标，150 tasks，SR=78%，SPL=41.27%。来源：E:\科研_机器人\HM3D-OVON\HM3D_OVON_Papers\03_大模型规划与工具调用\SuperNav.pdf，PDF第6页，Table 1。协议：Geo执行器；距合格目标视点&lt;1 m，需STOP。原SPL乘100转换为百分制</a:t>
            </a:r>
          </a:p>
          <a:p xmlns:a="http://schemas.openxmlformats.org/drawingml/2006/main">
            <a:r>
              <a:t>super_multi: SuperNav，Habitat-GS / InteriorGS / 顺序多目标，150 tasks，SR=34%，SPL=13.88%。来源：E:\科研_机器人\HM3D-OVON\HM3D_OVON_Papers\03_大模型规划与工具调用\SuperNav.pdf，PDF第6页，Table 1。协议：Geo执行器；2–5目标全部成功，需STOP。原SPL乘100转换为百分制</a:t>
            </a:r>
          </a:p>
          <a:p xmlns:a="http://schemas.openxmlformats.org/drawingml/2006/main">
            <a:r>
              <a:t>super_demand: SuperNav，Demand-Bench / AI2-THOR / 需求驱动，200 tasks，SR=59.5%，SPL=18.01%。来源：E:\科研_机器人\HM3D-OVON\HM3D_OVON_Papers\03_大模型规划与工具调用\SuperNav.pdf，PDF第6页，Table 1。协议：改编协议；进入顺序2 m包围盒区域，需STOP。原SPL乘100转换为百分制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SoftNav GOAT每划分30 episodes，MSGNav为360 episodes与2669子任务。较高SR与SPL来自不同报告，必须保留各自完整结果对。SoftNav三维特征输入与二维坐标输出属于不同处理阶段。显式对象身份和连续向量可以同时存在。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env_soft_ovon_U：SoftNav；HM3D-OVON / Val-Unseen；SR 66.7%，SPL 25.7%。E:\科研_机器人\HM3D-OVON\HM3D_OVON_Papers\04_三维空间表征与目标推理\2607.14586v1.pdf，PDF第5页，Table II。协议：每划分120 episodes；0.25 m；RGB-D+位姿。</a:t>
            </a:r>
          </a:p>
          <a:p xmlns:a="http://schemas.openxmlformats.org/drawingml/2006/main">
            <a:r>
              <a:t>env_soft_goat_U：SoftNav；GOAT-Bench / Val-Unseen；SR 64.2%，SPL 24.7%。E:\科研_机器人\HM3D-OVON\HM3D_OVON_Papers\04_三维空间表征与目标推理\2607.14586v1.pdf，PDF第5页，Table III。协议：每划分30 episodes；0.25 m；OVON策略零样本迁移。</a:t>
            </a:r>
          </a:p>
          <a:p xmlns:a="http://schemas.openxmlformats.org/drawingml/2006/main">
            <a:r>
              <a:t>env_msg_goat：MSGNav；GOAT-Bench / Val-Unseen；SR 52%，SPL 29.6%。E:\科研_机器人\HM3D-OVON\HM3D_OVON_Papers\04_三维空间表征与目标推理\2026_CVPR_MSGNav.pdf，PDF第7页，Table 1。协议：360 episodes / 2669子任务；0.25 m；与SoftNav子集不同。</a:t>
            </a:r>
          </a:p>
          <a:p xmlns:a="http://schemas.openxmlformats.org/drawingml/2006/main">
            <a:r>
              <a:t>env_msg_hm3d：MSGNav；HM3D-ObjNav / Val，6类别；SR 74.1%，SPL 33.4%。E:\科研_机器人\HM3D-OVON\HM3D_OVON_Papers\04_三维空间表征与目标推理\2026_CVPR_MSGNav.pdf，PDF第7页，Table 2。协议：1000 episodes；1 m；RGB-D+位姿。</a:t>
            </a:r>
          </a:p>
          <a:p xmlns:a="http://schemas.openxmlformats.org/drawingml/2006/main">
            <a:r>
              <a:t>env_soft_sg3d：SoftNav；SG3D / 338 episodes / 1351子任务；SR 47.2%，SPL 14.7%。E:\科研_机器人\HM3D-OVON\HM3D_OVON_Papers\04_三维空间表征与目标推理\2607.14586v1.pdf，PDF第5页，Table IV。协议：s-SR=47.2；t-SR=16.6。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按信息怎样保存和读取分类，而不是按相机输入或算力分类。显式表示给空间单元或物体建立可查询的记录：格子可以存占据状态和语义价值，物体节点可以存坐标、类别与图像证据。多帧观测需要先对齐并合并，随后根据当前目标读取有关区域。它适合跨任务复用与解释失败原因，但感知漏检、位姿偏差和错误匹配也会进入后续决策。二维和三维是这一范式的不同空间实现；RGB 图像输入并不能据此判定方法属于二维。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E:\科研_机器人\HM3D-OVON\HM3D_OVON_Papers\04_三维空间表征与目标推理\read-MSGNav.md</a:t>
            </a:r>
          </a:p>
          <a:p xmlns:a="http://schemas.openxmlformats.org/drawingml/2006/main"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MSGNav 的关键不是简单给物体画一张关系图，而是用三维物体对组织共同观测图像。建边时不需要反复调用大模型生成关系文字，关系的视觉细节仍留在图像中。查询时，先把图压成简要邻接信息，再让模型聚焦目标相关物体，最后选取少量能覆盖相关关系的图像。模型依据这些证据选择目标或下一探索位置。找到物体之后，系统还要选择看得清目标的站位，避免只走到一个距离近、却被遮挡的位置。建图质量仍然决定后续查询的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E:\科研_机器人\HM3D-OVON\HM3D_OVON_Papers\04_三维空间表征与目标推理\read-MSGNav.md</a:t>
            </a:r>
          </a:p>
          <a:p xmlns:a="http://schemas.openxmlformats.org/drawingml/2006/main">
            <a:r>
              <a:t>MSGNav §3.2–3.3，Fig.3，Algorithm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这一类改变的是空间信息进入决策模型的形式。纯文字描述往往只保留物体类别、坐标等少量属性，连续特征则能携带外观、几何及周围上下文。不同论文可以沿用这一共性，却采用不同接口：MTU3D 给对象和前沿统一评分，SoftNav 将三维向量投影成语言模型可读取的 tokens，D3D-VLP 使用多层三维 tokens 联合定位与导航。不要把它与显式地图机械对立：对象仍可以有明确坐标和身份，只是额外携带学习到的向量。代价是特征较难解释，也依赖预训练与数据覆盖。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E:\科研_机器人\HM3D-OVON\HM3D_OVON_Papers\04_三维空间表征与目标推理\read-SoftNav.md</a:t>
            </a:r>
          </a:p>
          <a:p xmlns:a="http://schemas.openxmlformats.org/drawingml/2006/main">
            <a:r>
              <a:t>E:\科研_机器人\HM3D-OVON\HM3D_OVON_Papers\04_三维空间表征与目标推理\read-MTU.md</a:t>
            </a:r>
          </a:p>
          <a:p xmlns:a="http://schemas.openxmlformats.org/drawingml/2006/main">
            <a:r>
              <a:t>E:\科研_机器人\HM3D-OVON\HM3D_OVON_Papers\04_三维空间表征与目标推理\read-D3D.md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E:\科研_机器人\HM3D-OVON\HM3D_OVON_Papers\04_三维空间表征与目标推理\read-SoftNav.md</a:t>
            </a:r>
          </a:p>
          <a:p xmlns:a="http://schemas.openxmlformats.org/drawingml/2006/main">
            <a:r>
              <a:t>SoftNav §III，Fig.2上半部分，Table 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本页延续上一页的特征编码，展示三类输入的联合注意力与最终前沿执行。模型输入包含视觉历史、三维实体soft tokens和任务文本；生成的坐标需要通过几何约束转成合法前沿。图中二维执行平面与三维感知信息处在不同处理阶段。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E:\科研_机器人\HM3D-OVON\HM3D_OVON_Papers\04_三维空间表征与目标推理\read-SoftNav.md</a:t>
            </a:r>
          </a:p>
          <a:p xmlns:a="http://schemas.openxmlformats.org/drawingml/2006/main">
            <a:r>
              <a:t>SoftNav §III，Fig.2下半部分，Algorithm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env_soft_ovon_S: SoftNav，HM3D-OVON / Val-Seen，SR=74.2%，SPL=33.9%。来源：E:\科研_机器人\HM3D-OVON\HM3D_OVON_Papers\04_三维空间表征与目标推理\2607.14586v1.pdf，PDF第5页，Table II。协议：每划分120 episodes；0.25 m；RGB-D+位姿。</a:t>
            </a:r>
          </a:p>
          <a:p xmlns:a="http://schemas.openxmlformats.org/drawingml/2006/main">
            <a:r>
              <a:t>env_soft_ovon_Y: SoftNav，HM3D-OVON / Val-Seen-Synonyms，SR=68.3%，SPL=28.6%。来源：E:\科研_机器人\HM3D-OVON\HM3D_OVON_Papers\04_三维空间表征与目标推理\2607.14586v1.pdf，PDF第5页，Table II。协议：每划分120 episodes；0.25 m；RGB-D+位姿。</a:t>
            </a:r>
          </a:p>
          <a:p xmlns:a="http://schemas.openxmlformats.org/drawingml/2006/main">
            <a:r>
              <a:t>env_soft_ovon_U: SoftNav，HM3D-OVON / Val-Unseen，SR=66.7%，SPL=25.7%。来源：E:\科研_机器人\HM3D-OVON\HM3D_OVON_Papers\04_三维空间表征与目标推理\2607.14586v1.pdf，PDF第5页，Table II。协议：每划分120 episodes；0.25 m；RGB-D+位姿。</a:t>
            </a:r>
          </a:p>
          <a:p xmlns:a="http://schemas.openxmlformats.org/drawingml/2006/main">
            <a:r>
              <a:t>env_msg_hm3d: MSGNav，HM3D-ObjNav / Val，6类别，SR=74.1%，SPL=33.4%。来源：E:\科研_机器人\HM3D-OVON\HM3D_OVON_Papers\04_三维空间表征与目标推理\2026_CVPR_MSGNav.pdf，PDF第7页，Table 2。协议：1000 episodes；1 m；RGB-D+位姿。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env_soft_goat_S: SoftNav，GOAT-Bench / Val-Seen，SR=67.2%，SPL=29%。来源：E:\科研_机器人\HM3D-OVON\HM3D_OVON_Papers\04_三维空间表征与目标推理\2607.14586v1.pdf，PDF第5页，Table III。协议：每划分30 episodes；0.25 m；OVON策略零样本迁移。</a:t>
            </a:r>
          </a:p>
          <a:p xmlns:a="http://schemas.openxmlformats.org/drawingml/2006/main">
            <a:r>
              <a:t>env_soft_goat_Y: SoftNav，GOAT-Bench / Val-Seen-Synonyms，SR=63.2%，SPL=25.8%。来源：E:\科研_机器人\HM3D-OVON\HM3D_OVON_Papers\04_三维空间表征与目标推理\2607.14586v1.pdf，PDF第5页，Table III。协议：每划分30 episodes；0.25 m；OVON策略零样本迁移。</a:t>
            </a:r>
          </a:p>
          <a:p xmlns:a="http://schemas.openxmlformats.org/drawingml/2006/main">
            <a:r>
              <a:t>env_soft_goat_U: SoftNav，GOAT-Bench / Val-Unseen，SR=64.2%，SPL=24.7%。来源：E:\科研_机器人\HM3D-OVON\HM3D_OVON_Papers\04_三维空间表征与目标推理\2607.14586v1.pdf，PDF第5页，Table III。协议：每划分30 episodes；0.25 m；OVON策略零样本迁移。</a:t>
            </a:r>
          </a:p>
          <a:p xmlns:a="http://schemas.openxmlformats.org/drawingml/2006/main">
            <a:r>
              <a:t>env_msg_goat: MSGNav，GOAT-Bench / Val-Unseen，SR=52%，SPL=29.6%。来源：E:\科研_机器人\HM3D-OVON\HM3D_OVON_Papers\04_三维空间表征与目标推理\2026_CVPR_MSGNav.pdf，PDF第7页，Table 1。协议：360 episodes / 2669子任务；0.25 m；与SoftNav子集不同。</a:t>
            </a:r>
          </a:p>
          <a:p xmlns:a="http://schemas.openxmlformats.org/drawingml/2006/main">
            <a:r>
              <a:t>env_soft_sg3d: SoftNav，SG3D / 338 episodes / 1351子任务，SR=47.2%，SPL=14.7%。来源：E:\科研_机器人\HM3D-OVON\HM3D_OVON_Papers\04_三维空间表征与目标推理\2607.14586v1.pdf，PDF第5页，Table IV。协议：s-SR=47.2；t-SR=16.6。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类方法关注历史如何进入当前决策。AstraNav图像和位姿历史不等于跨步持续语言模型KV。JanusVLN公开评测中VGGT几何缓存跨步复用，语义分支重放采样历史。Janus附录OVON结果44.9/31.7仅作补充，披露细节不足以和AstraNav严格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mem_astra_ovon_U：AstraNav-Memory；HM3D-OVON / Val-Unseen；SR 62.5%，SPL 34.9%。E:\科研_机器人\HM3D-OVON\HM3D_OVON_Papers\05_视觉语言动作决策与视频记忆\2026_CVPR_AstraNav-Memory.pdf，PDF第6页，Table 2。协议：1 m；图像与位姿历史。</a:t>
            </a:r>
          </a:p>
          <a:p xmlns:a="http://schemas.openxmlformats.org/drawingml/2006/main">
            <a:r>
              <a:t>mem_astra_goat_U：AstraNav-Memory；GOAT-Bench / Val-Unseen；SR 62.7%，SPL 56.9%。E:\科研_机器人\HM3D-OVON\HM3D_OVON_Papers\05_视觉语言动作决策与视频记忆\2026_CVPR_AstraNav-Memory.pdf，PDF第6页，Table 1。协议：论文1 m成功判据；不可与0.25 m协议直接排名。</a:t>
            </a:r>
          </a:p>
          <a:p xmlns:a="http://schemas.openxmlformats.org/drawingml/2006/main">
            <a:r>
              <a:t>mem_janus_r2r：JanusVLN；R2R-CE / Val-Unseen；SR 60.5%，SPL 56.8%。E:\科研_机器人\HM3D-OVON\HM3D_OVON_Papers\05_视觉语言动作决策与视频记忆\ICLR-2026-janusvln-decoupling-semantics-and-spatiality-with-dual-implicit-memory-for-vision-language-navigation-Paper-Conference.pdf，PDF第8页，Table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 xmlns:a="http://schemas.openxmlformats.org/drawingml/2006/main">
            <a:r>
              <a:t>mem_janus_rxr：JanusVLN；RxR-CE / Val-Unseen；SR 56.2%，SPL 47.5%。E:\科研_机器人\HM3D-OVON\HM3D_OVON_Papers\05_视觉语言动作决策与视频记忆\ICLR-2026-janusvln-decoupling-semantics-and-spatiality-with-dual-implicit-memory-for-vision-language-navigation-Paper-Conference.pdf，PDF第8页，Table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这一类把过去的观察保存为可再次读取的上下文。重放不一定重新运行视觉编码器，缓存好的视觉特征也可以直接复用；关键是决策模型在本次输入中再次看到历史表示。减少每帧 tokens、分层压缩或限制窗口，都是控制输入长度的办法。它适合连续任务，因为后续目标可能已经出现过。不过，更长历史不必然更好：无关信息会增加注意力成本，强压缩也可能删掉细节。还要区分视觉特征缓存和语言模型 KV，前者被复用，并不能证明后者也在跨导航步延续。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E:\科研_机器人\HM3D-OVON\HM3D_OVON_Papers\05_视觉语言动作决策与视频记忆\read-AstraNav.md</a:t>
            </a:r>
          </a:p>
          <a:p xmlns:a="http://schemas.openxmlformats.org/drawingml/2006/main">
            <a:r>
              <a:t>E:\科研_机器人\HM3D-OVON\HM3D_OVON_Papers\05_视觉语言动作决策与视频记忆\read-UniNavid.md</a:t>
            </a:r>
          </a:p>
          <a:p xmlns:a="http://schemas.openxmlformats.org/drawingml/2006/main">
            <a:r>
              <a:t>E:\科研_机器人\HM3D-OVON\HM3D_OVON_Papers\04_三维空间表征与目标推理\read-SoftNav.md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AstraNav 将长期记忆理解为压缩后的图像与位姿上下文，而不是维护物体关系图。压缩器与导航模型联合训练，希望留下对位置判断和目标搜索有用的信息。主配置从每帧 598 个视觉 tokens 减为 30 个，约缩减二十倍；正文中的十六倍则指压缩块的空间压缩，二者口径不同。历史信息允许后续任务复用已经看过的位置，但实验也表明，强压缩配合更长历史未必更好。因此应把该方向理解为信息保留与处理成本的折中，而不是简单扩大记忆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E:\科研_机器人\HM3D-OVON\HM3D_OVON_Papers\05_视觉语言动作决策与视频记忆\read-AstraNav.md</a:t>
            </a:r>
          </a:p>
          <a:p xmlns:a="http://schemas.openxmlformats.org/drawingml/2006/main">
            <a:r>
              <a:t>AstraNav-Memory §3，Fig.2，Tables 3–4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与把历史作为当前上下文重新提供相比，这一类强调跨步保留并增量更新内部状态。以几何注意力为例，新帧只计算自己的查询和键值，再读取历史缓存，形成融合历史的当前特征。窗口控制了可以访问的过去，也带来了遗忘：最初锚点和最近观察被保留，中间经历可能移出。它的收益主要在减少重复编码和改善时间关联，不意味着永久保存所有空间事实。递归在这里描述状态持续更新的机制，也包括 Transformer 的缓存更新，不必限定为传统循环神经网络。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E:\科研_机器人\HM3D-OVON\HM3D_OVON_Papers\05_视觉语言动作决策与视频记忆\read-JANUSVLN.md</a:t>
            </a:r>
          </a:p>
          <a:p xmlns:a="http://schemas.openxmlformats.org/drawingml/2006/main">
            <a:r>
              <a:t>JanusVLN §3.2，Fig.2，Appendix 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JanusVLN 展示了从纯 RGB 输入使用三维几何先验的路线。VGGT 原本需要跨帧联合处理，论文将其改为读取历史键值的流式几何编码器，保留起始锚点与最近窗口。几何特征经投影后与 Qwen 语义特征相加，语言模型生成离散动作。需要区分论文的双隐式记忆表述和公开评测路径：代码跨步保留的是 VGGT 缓存，语义侧每次重放采样历史图像，并未显式把上一导航步的语言模型 KV 传入下一步。消融支持几何记忆有益，但不能据此声称两路均永久保存完整历史。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E:\科研_机器人\HM3D-OVON\HM3D_OVON_Papers\05_视觉语言动作决策与视频记忆\read-JANUSVLN.md</a:t>
            </a:r>
          </a:p>
          <a:p xmlns:a="http://schemas.openxmlformats.org/drawingml/2006/main">
            <a:r>
              <a:t>JanusVLN §3.2–3.3，Fig.2；笔记核对公开评测实现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JanusVLN附录Table 6的OVON SR/SPL=44.9/31.7，仅作补充。AstraNav全部六个划分结果已列出，Janus只有OVON Val-Unseen、R2R/RxR Val-Unseen报告，不能补填未报告划分。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新增性能数据说明：JanusVLN附录Table 6的OVON SR/SPL=44.9/31.7，仅作补充。AstraNav全部六个划分结果已列出，Janus只有OVON Val-Unseen、R2R/RxR Val-Unseen报告，不能补填未报告划分。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mem_astra_ovon_S: AstraNav-Memory，HM3D-OVON / Val-Seen，SR=65.6%，SPL=35.4%。来源：E:\科研_机器人\HM3D-OVON\HM3D_OVON_Papers\05_视觉语言动作决策与视频记忆\2026_CVPR_AstraNav-Memory.pdf，PDF第6页，Table 2。协议：1 m；图像与位姿历史。</a:t>
            </a:r>
          </a:p>
          <a:p xmlns:a="http://schemas.openxmlformats.org/drawingml/2006/main">
            <a:r>
              <a:t>mem_astra_ovon_Y: AstraNav-Memory，HM3D-OVON / Val-Seen-Synonyms，SR=57.5%，SPL=33%。来源：E:\科研_机器人\HM3D-OVON\HM3D_OVON_Papers\05_视觉语言动作决策与视频记忆\2026_CVPR_AstraNav-Memory.pdf，PDF第6页，Table 2。协议：1 m；图像与位姿历史。</a:t>
            </a:r>
          </a:p>
          <a:p xmlns:a="http://schemas.openxmlformats.org/drawingml/2006/main">
            <a:r>
              <a:t>mem_astra_ovon_U: AstraNav-Memory，HM3D-OVON / Val-Unseen，SR=62.5%，SPL=34.9%。来源：E:\科研_机器人\HM3D-OVON\HM3D_OVON_Papers\05_视觉语言动作决策与视频记忆\2026_CVPR_AstraNav-Memory.pdf，PDF第6页，Table 2。协议：1 m；图像与位姿历史。</a:t>
            </a:r>
          </a:p>
          <a:p xmlns:a="http://schemas.openxmlformats.org/drawingml/2006/main">
            <a:r>
              <a:t>mem_astra_goat_S: AstraNav-Memory，GOAT-Bench / Val-Seen，SR=65.5%，SPL=49%。来源：E:\科研_机器人\HM3D-OVON\HM3D_OVON_Papers\05_视觉语言动作决策与视频记忆\2026_CVPR_AstraNav-Memory.pdf，PDF第6页，Table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 xmlns:a="http://schemas.openxmlformats.org/drawingml/2006/main">
            <a:r>
              <a:t>mem_astra_goat_Y: AstraNav-Memory，GOAT-Bench / Val-Seen-Synonyms，SR=66.8%，SPL=54.7%。来源：E:\科研_机器人\HM3D-OVON\HM3D_OVON_Papers\05_视觉语言动作决策与视频记忆\2026_CVPR_AstraNav-Memory.pdf，PDF第6页，Table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 xmlns:a="http://schemas.openxmlformats.org/drawingml/2006/main">
            <a:r>
              <a:t>mem_astra_goat_U: AstraNav-Memory，GOAT-Bench / Val-Unseen，SR=62.7%，SPL=56.9%。来源：E:\科研_机器人\HM3D-OVON\HM3D_OVON_Papers\05_视觉语言动作决策与视频记忆\2026_CVPR_AstraNav-Memory.pdf，PDF第6页，Table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 xmlns:a="http://schemas.openxmlformats.org/drawingml/2006/main">
            <a:r>
              <a:t>mem_janus_r2r: JanusVLN，R2R-CE / Val-Unseen，SR=60.5%，SPL=56.8%。来源：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 xmlns:a="http://schemas.openxmlformats.org/drawingml/2006/main">
            <a:r>
              <a:t>mem_janus_rxr: JanusVLN，RxR-CE / Val-Unseen，SR=56.2%，SPL=47.5%。来源：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mem_janus_ovon: JanusVLN，HM3D-OVON / Val-Unseen，SR=44.9%，SPL=31.7%。来源：E:\科研_机器人\HM3D-OVON\HM3D_OVON_Papers\05_视觉语言动作决策与视频记忆\ICLR-2026-janusvln-decoupling-semantics-and-spatiality-with-dual-implicit-memory-for-vision-language-navigation-Paper-Conference.pdf，PDF第19页，Table 6。协议：未完整披露该项评测细节，作附录补充报告。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VLFM与OpenFrontier是同一类语义引导前沿搜索的不同实现。OpenFrontier论文同表列出VLFM，在HM3D、MP3D与OVON Unseen的SR/SPL更高；其余划分不能外推。前沿相关性不是真实目标存在概率的保证，执行后还需要目标确认。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exp_vlfm_gibson：VLFM；Gibson / Val；SR 84%，SPL 52.2%。E:\科研_机器人\HM3D-OVON\HM3D_OVON_Papers\02_语义地图与前沿探索\VLFM_Vision-Language_Frontier_Maps_for_Zero-Shot_Semantic_Navigation.pdf，PDF第5页，Table I。协议：VLFM原论文验证设置。</a:t>
            </a:r>
          </a:p>
          <a:p xmlns:a="http://schemas.openxmlformats.org/drawingml/2006/main">
            <a:r>
              <a:t>exp_open_hm3d：OpenFrontier；HM3D ObjectNav / Val；SR 77.3%，SPL 35.6%。E:\科研_机器人\HM3D-OVON\HM3D_OVON_Papers\02_语义地图与前沿探索\2026_RSS_OpenFrontier.pdf，PDF第5页，Table I。协议：Gemini-2.5-Flash；同一套系统参数。</a:t>
            </a:r>
          </a:p>
          <a:p xmlns:a="http://schemas.openxmlformats.org/drawingml/2006/main">
            <a:r>
              <a:t>exp_open_mp3d：OpenFrontier；MP3D ObjectNav / Val；SR 40.7%，SPL 17.8%。E:\科研_机器人\HM3D-OVON\HM3D_OVON_Papers\02_语义地图与前沿探索\2026_RSS_OpenFrontier.pdf，PDF第5页，Table I。协议：Gemini-2.5-Flash；同一套系统参数。</a:t>
            </a:r>
          </a:p>
          <a:p xmlns:a="http://schemas.openxmlformats.org/drawingml/2006/main">
            <a:r>
              <a:t>exp_vlfm_ovon_S：VLFM；HM3D-OVON / Val-Seen；SR 35.2%，SPL 18.6%。E:\科研_机器人\HM3D-OVON\HM3D_OVON_Papers\00_数据集与任务基准\2024_IROS_HM3D_OVON.pdf，PDF第6页，HM3D-OVON Table III。协议：HM3D-OVON基准论文重评，来源为基准PDF。</a:t>
            </a:r>
          </a:p>
          <a:p xmlns:a="http://schemas.openxmlformats.org/drawingml/2006/main">
            <a:r>
              <a:t>exp_vlfm_ovon_Y：VLFM；HM3D-OVON / Val-Seen-Synonyms；SR 32.4%，SPL 17.3%。E:\科研_机器人\HM3D-OVON\HM3D_OVON_Papers\00_数据集与任务基准\2024_IROS_HM3D_OVON.pdf，PDF第6页，HM3D-OVON Table III。协议：HM3D-OVON基准论文重评，来源为基准PDF。</a:t>
            </a:r>
          </a:p>
          <a:p xmlns:a="http://schemas.openxmlformats.org/drawingml/2006/main">
            <a:r>
              <a:t>exp_open_ovon：OpenFrontier；HM3D-OVON / Val-Unseen；SR 39%，SPL 20.1%。E:\科研_机器人\HM3D-OVON\HM3D_OVON_Papers\02_语义地图与前沿探索\2026_RSS_OpenFrontier.pdf，PDF第5页，Table I。协议：Gemini-2.5-Flash；同一套系统参数。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语义前沿搜索把连续导航拆成候选位置选择与局部执行。寻找微波炉时，模型可以优先评价厨房相关前沿；这只是依据场景先验调整搜索顺序，并不能证明目标存在。VLFM把相关性投到二维价值地图并跨视角融合，OpenFrontier则直接评价图像标记的视觉前沿，再将其定位到三维并管理。两者都需要可达性、局部导航和最终目标确认，类内差异不必分别提升为一级方法。无需新增导航训练指复用已有组件，不代表组件没有预训练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E:\科研_机器人\HM3D-OVON\HM3D_OVON_Papers\方法分类索引.md</a:t>
            </a:r>
          </a:p>
          <a:p xmlns:a="http://schemas.openxmlformats.org/drawingml/2006/main">
            <a:r>
              <a:t>E:\科研_机器人\HM3D-OVON\HM3D_OVON_Papers\02_语义地图与前沿探索\read.md</a:t>
            </a:r>
          </a:p>
          <a:p xmlns:a="http://schemas.openxmlformats.org/drawingml/2006/main">
            <a:r>
              <a:t>VLFM §IV；OpenFrontier §III，Algorithm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Frontier在RGB图像标记视觉前沿，FrontierNet预测潜在信息增益，视觉语言模型根据目标评价每个方向。深度与相机位姿将候选投到三维，全局前沿集合负责合并重复位置、移除已清空或不可达项。效用结合相关性、信息增益和距离。发现疑似目标后，分割与几何模块提出观察位姿，到达后再用VLM核验。其共同方法仍是语义前沿搜索，新增的接口主要是图像中的前沿候选与稀疏三维候选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E:\科研_机器人\HM3D-OVON\HM3D_OVON_Papers\02_语义地图与前沿探索\read.md</a:t>
            </a:r>
          </a:p>
          <a:p xmlns:a="http://schemas.openxmlformats.org/drawingml/2006/main">
            <a:r>
              <a:t>OpenFrontier Fig.2，§III，Algorithm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篇都先提出候选，再评价语义价值，但评价发生的位置不同。VLFM对整个观测计算图文相关性，并在二维地图中累积带置信度的价值，随后读取前沿区域的分数。OpenFrontier对图像中的每个视觉前沿打分，结合信息增益和距离，维护稀疏三维候选。后者无需把稠密三维语义地图作为语义决策的必要接口，但仍使用几何信息。两者的导航性能既受语义评价影响，也受候选覆盖、局部规划与目标核验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E:\科研_机器人\HM3D-OVON\HM3D_OVON_Papers\方法分类索引.md</a:t>
            </a:r>
          </a:p>
          <a:p xmlns:a="http://schemas.openxmlformats.org/drawingml/2006/main">
            <a:r>
              <a:t>E:\科研_机器人\HM3D-OVON\HM3D_OVON_Papers\02_语义地图与前沿探索\read.md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两篇都是示范信号和奖励信号结合的训练方法。OVSegDT连续调整BC和PPO权重，CompassNav先SFT再GRPO，不能据此当成两个互不相干的方法类别。CompassNav HM3D表1与表2的版本对应不充分，按原表设置保留，不把61.6视为56.6的同条件更新。OVSegDT为三种子均值，标准差在完整结果页展示。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train_ovseg_U：OVSegDT；HM3D-OVON / Val-Unseen；SR 44.7%，SPL 20.6%。E:\科研_机器人\HM3D-OVON\HM3D_OVON_Papers\01_模仿学习与强化学习导航\2026_CVPR_OVSegDT.pdf，PDF第7页，Table 1。协议：预测YOLOE掩码；RGB策略；均值±标准差。</a:t>
            </a:r>
          </a:p>
          <a:p xmlns:a="http://schemas.openxmlformats.org/drawingml/2006/main">
            <a:r>
              <a:t>train_compass_ovon：CompassNav；HM3D-OVON / Val-Unseen；SR 43.5%，SPL 21.6%。E:\科研_机器人\HM3D-OVON\HM3D_OVON_Papers\05_视觉语言动作决策与视频记忆\2026_ICLR_CompassNav.pdf，PDF第14页，Table 6。协议：沿Nav-R1评测设置；深度与位姿用于候选生成。</a:t>
            </a:r>
          </a:p>
          <a:p xmlns:a="http://schemas.openxmlformats.org/drawingml/2006/main">
            <a:r>
              <a:t>train_compass_hm3d2：CompassNav；HM3D ObjectNav / Table 2 设置；SR 61.6%，SPL 27.8%。E:\科研_机器人\HM3D-OVON\HM3D_OVON_Papers\05_视觉语言动作决策与视频记忆\2026_ICLR_CompassNav.pdf，PDF第8页，Table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train_compass_mp3d：CompassNav；MP3D ObjectNav / Val；SR 42%，SPL 17.5%。E:\科研_机器人\HM3D-OVON\HM3D_OVON_Papers\05_视觉语言动作决策与视频记忆\2026_ICLR_CompassNav.pdf，PDF第8页，Table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train_compass_iin：CompassNav；Instance-ImageNav / Table 2 设置；SR 35.6%，SPL 14.8%。E:\科研_机器人\HM3D-OVON\HM3D_OVON_Papers\05_视觉语言动作决策与视频记忆\2026_ICLR_CompassNav.pdf，PDF第8页，Table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train_compass_procthor：CompassNav；AI2-THOR / ProcTHOR / 未见合成环境；SR 58.1%，SPL 32.8%。E:\科研_机器人\HM3D-OVON\HM3D_OVON_Papers\05_视觉语言动作决策与视频记忆\2026_ICLR_CompassNav.pdf，PDF第14页，Table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仿学习降低初始探索难度，让模型先获得基本动作或回答格式；强化学习则通过奖励比较行动的后果。两篇的区别主要是信号如何组合。OVSegDT用策略熵的平滑统计动态调整行为克隆与PPO的混合权重，辅助分割保留目标相关特征。CompassNav先用教师分析与动作做SFT，再对同一观察采样多个候选回答，用GRPO优化到目标距离构造的奖励。奖励所用真实目标坐标只存在于训练标注，不向测试策略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E:\科研_机器人\HM3D-OVON\HM3D_OVON_Papers\01_模仿学习与强化学习导航\read.md</a:t>
            </a:r>
          </a:p>
          <a:p xmlns:a="http://schemas.openxmlformats.org/drawingml/2006/main">
            <a:r>
              <a:t>E:\科研_机器人\HM3D-OVON\HM3D_OVON_Papers\05_视觉语言动作决策与视频记忆\read-CompassNav.md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SegDT将当前RGB、目标文本、上一动作和目标二值掩码编码，利用最近100步的Transformer上下文产生动作与价值，同时重建目标掩码。目标掩码提供定位线索，辅助分割损失约束状态保留目标信息。训练用策略熵的平滑统计调节BC与PPO权重：策略不确定时更多依靠示范，动作集中后提高奖励优化作用。真值掩码主训练之后，再使用YOLOE预测掩码适配，减少实际感知误差带来的分布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E:\科研_机器人\HM3D-OVON\HM3D_OVON_Papers\01_模仿学习与强化学习导航\read.md</a:t>
            </a:r>
          </a:p>
          <a:p xmlns:a="http://schemas.openxmlformats.org/drawingml/2006/main">
            <a:r>
              <a:t>OVSegDT Fig.2；§4.2–4.3，§5 Training details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ssNav先在RGB图像画出基于深度与几何后端生成的可行动作箭头。SFT学习成功教师的分析文本与动作编号，建立基本的决策与输出能力。RFT阶段对同一状态采样多个回答，以候选落点到目标的测地距离计算连续质量分数。最佳候选与次佳候选差距大时，增加最优动作奖励；差距小时保留接近的评分。奖励只验证选出的动作，不逐句验证分析文本。真实目标坐标和距离用于训练标签，推理输入只含目标与带候选箭头的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E:\科研_机器人\HM3D-OVON\HM3D_OVON_Papers\05_视觉语言动作决策与视频记忆\read-CompassNav.md</a:t>
            </a:r>
          </a:p>
          <a:p xmlns:a="http://schemas.openxmlformats.org/drawingml/2006/main">
            <a:r>
              <a:t>CompassNav §3–4，Figs.3–4，式(1)–(6)，Appendix 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train_ovseg_S: OVSegDT，HM3D-OVON / Val-Seen，SR=43.6%，SPL=20.1%。来源：E:\科研_机器人\HM3D-OVON\HM3D_OVON_Papers\01_模仿学习与强化学习导航\2026_CVPR_OVSegDT.pdf，PDF第7页，Table 1。协议：预测YOLOE掩码；RGB策略；均值±标准差。</a:t>
            </a:r>
          </a:p>
          <a:p xmlns:a="http://schemas.openxmlformats.org/drawingml/2006/main">
            <a:r>
              <a:t>train_ovseg_Y: OVSegDT，HM3D-OVON / Val-Seen-Synonyms，SR=40.1%，SPL=17.9%。来源：E:\科研_机器人\HM3D-OVON\HM3D_OVON_Papers\01_模仿学习与强化学习导航\2026_CVPR_OVSegDT.pdf，PDF第7页，Table 1。协议：预测YOLOE掩码；RGB策略；均值±标准差。</a:t>
            </a:r>
          </a:p>
          <a:p xmlns:a="http://schemas.openxmlformats.org/drawingml/2006/main">
            <a:r>
              <a:t>train_ovseg_U: OVSegDT，HM3D-OVON / Val-Unseen，SR=44.7%，SPL=20.6%。来源：E:\科研_机器人\HM3D-OVON\HM3D_OVON_Papers\01_模仿学习与强化学习导航\2026_CVPR_OVSegDT.pdf，PDF第7页，Table 1。协议：预测YOLOE掩码；RGB策略；均值±标准差。</a:t>
            </a:r>
          </a:p>
          <a:p xmlns:a="http://schemas.openxmlformats.org/drawingml/2006/main">
            <a:r>
              <a:t>train_compass_ovon: CompassNav，HM3D-OVON / Val-Unseen，SR=43.5%，SPL=21.6%。来源：E:\科研_机器人\HM3D-OVON\HM3D_OVON_Papers\05_视觉语言动作决策与视频记忆\2026_ICLR_CompassNav.pdf，PDF第14页，Table 6。协议：沿Nav-R1评测设置；深度与位姿用于候选生成。</a:t>
            </a:r>
          </a:p>
          <a:p xmlns:a="http://schemas.openxmlformats.org/drawingml/2006/main">
            <a:r>
              <a:t>train_compass_hm3d1: CompassNav，HM3D ObjectNav / Table 1 设置，SR=56.6%，SPL=27.6%。来源：E:\科研_机器人\HM3D-OVON\HM3D_OVON_Papers\05_视觉语言动作决策与视频记忆\2026_ICLR_CompassNav.pdf，PDF第8页，Table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train_compass_hm3d2: CompassNav，HM3D ObjectNav / Table 2 设置，SR=61.6%，SPL=27.8%。来源：E:\科研_机器人\HM3D-OVON\HM3D_OVON_Papers\05_视觉语言动作决策与视频记忆\2026_ICLR_CompassNav.pdf，PDF第8页，Table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train_compass_mp3d: CompassNav，MP3D ObjectNav / Val，SR=42%，SPL=17.5%。来源：E:\科研_机器人\HM3D-OVON\HM3D_OVON_Papers\05_视觉语言动作决策与视频记忆\2026_ICLR_CompassNav.pdf，PDF第8页，Table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train_compass_iin: CompassNav，Instance-ImageNav / Table 2 设置，SR=35.6%，SPL=14.8%。来源：E:\科研_机器人\HM3D-OVON\HM3D_OVON_Papers\05_视觉语言动作决策与视频记忆\2026_ICLR_CompassNav.pdf，PDF第8页，Table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train_compass_procthor: CompassNav，AI2-THOR / ProcTHOR / 未见合成环境，SR=58.1%，SPL=32.8%。来源：E:\科研_机器人\HM3D-OVON\HM3D_OVON_Papers\05_视觉语言动作决策与视频记忆\2026_ICLR_CompassNav.pdf，PDF第14页，Table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一级方向描述不同环节，因此一套系统可以同时采用多种方法。显式三维物体图可以附带连续特征，保存的图像也可以被压缩重放；分层系统可以使用统一多任务骨干。代表论文的主要归属用于组织文献，不是限制组件组合。讨论新研究时，应先指明改变的是哪一环节，再明确维度、传感器、任务与训练预算，最后在相同协议下验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  <a:p xmlns:a="http://schemas.openxmlformats.org/drawingml/2006/main"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这四项属于数据集与评测资源，独立于五个方法分支。HM3D Semantics主要提供室内三维语义标注。HM3D-OVON用已见、同义词和未见类别切分考查开放词汇目标泛化。GOAT-Bench把类别、图像及语言目标串成连续子任务，检验同一环境中历史经验的复用。SG3D侧重任务上下文中的顺序目标定位和导航，后续目标可能隐含引用前序对象；SG-LLM是其中的模型基线。不同基准的传感器、成功条件、划分和序列协议不同，结果不能直接作为统一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E:\科研_机器人\HM3D-OVON\HM3D_OVON_Papers\00_数据集与任务基准\README.md</a:t>
            </a:r>
          </a:p>
          <a:p xmlns:a="http://schemas.openxmlformats.org/drawingml/2006/main">
            <a:r>
              <a:t>E:\科研_机器人\HM3D-OVON\HM3D_OVON_Papers\00_数据集与任务基准\2024_SG3D_Sequential_Grounding_and_Navigation.pdf，第1–3节</a:t>
            </a:r>
          </a:p>
          <a:p xmlns:a="http://schemas.openxmlformats.org/drawingml/2006/main">
            <a:r>
              <a:t>E:\科研_机器人\HM3D-OVON\HM3D_OVON_Papers\00_数据集与任务基准\2024_CVPR_GOAT_Bench.pdf，第3–4节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1例子从同一环境出发，依次寻找躺椅、图中的烤箱、客厅茶几上的白色书等目标。每个episode包含5至10个子任务，目标形式可为类别名称、参考图像或自然语言描述。一个子任务结束后继续给下一个目标，环境与智能体状态不重置，因此此前探索过的物体和空间可以帮助后续搜索。原始论文第3节规定每子任务最多500步，并在目标实例1米内调用STOP作为成功条件，实际复现实验应始终核对所用版本的评测配置。评价既包括成功率，也包括SPL等路径效率。该基准为历史记忆和统一目标接口提供验证场景，不保证任何特定记忆方案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E:\科研_机器人\HM3D-OVON\HM3D_OVON_Papers\00_数据集与任务基准\2024_CVPR_GOAT_Bench.pdf，PDF第1页，图1；PDF第3页，第3节任务定义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程序与工具／技能编排、快慢系统分层协作，以及多任务或规划、定位、探索与导航能力的统一建模。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TANGO：无需新增导航专项训练</a:t>
            </a:r>
          </a:p>
          <a:p xmlns:a="http://schemas.openxmlformats.org/drawingml/2006/main">
            <a:r>
              <a:t>SuperNav：主模型与几何执行器无需；可选学习式执行器的 GPU 配置未报告</a:t>
            </a:r>
          </a:p>
          <a:p xmlns:a="http://schemas.openxmlformats.org/drawingml/2006/main">
            <a:r>
              <a:t>OmniNav：阶段1 96×H20，120小时；阶段2 64×H20，48小时</a:t>
            </a:r>
          </a:p>
          <a:p xmlns:a="http://schemas.openxmlformats.org/drawingml/2006/main">
            <a:r>
              <a:t>D3D-VLP：4×RTX 6000 Ada，约14天</a:t>
            </a:r>
          </a:p>
          <a:p xmlns:a="http://schemas.openxmlformats.org/drawingml/2006/main">
            <a:r>
              <a:t>Uni-NaVid：40×H800，约35小时</a:t>
            </a:r>
          </a:p>
          <a:p xmlns:a="http://schemas.openxmlformats.org/drawingml/2006/main">
            <a:r>
              <a:t>MTU3D：4×A100；约164 GPU·小时</a:t>
            </a:r>
          </a:p>
          <a:p xmlns:a="http://schemas.openxmlformats.org/drawingml/2006/main">
            <a:r>
              <a:t>SuperNav执行器训练：https://arxiv.org/html/2610.12126v1，附录C.2。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用三维场景图组织物体、空间信息与视觉证据；将三维物体和前沿特征转换为视觉语言模型可使用的 soft tokens。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MSGNav：无需新增导航专项训练</a:t>
            </a:r>
          </a:p>
          <a:p xmlns:a="http://schemas.openxmlformats.org/drawingml/2006/main">
            <a:r>
              <a:t>SoftNav：1×RTX 4090；时长未报告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压缩长期视觉历史，维护语义与空间双分支记忆，并通过历史缓存和滑动窗口更新跨帧信息。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AstraNav-Memory：32×H20；时长未报告</a:t>
            </a:r>
          </a:p>
          <a:p xmlns:a="http://schemas.openxmlformats.org/drawingml/2006/main">
            <a:r>
              <a:t>JanusVLN：64×H20，约31小时；阅读笔记转引作者答复</a:t>
            </a:r>
          </a:p>
          <a:p xmlns:a="http://schemas.openxmlformats.org/drawingml/2006/main">
            <a:r>
              <a:t>JanusVLN配置由源文档转引阅读笔记中的作者答复。本次未能加载评论正文，未独立复核。</a:t>
            </a:r>
          </a:p>
          <a:p xmlns:a="http://schemas.openxmlformats.org/drawingml/2006/main">
            <a:r>
              <a:t>阅读笔记：E:\科研_机器人\HM3D-OVON\HM3D_OVON_Papers\05_视觉语言动作决策与视频记忆\read-JANUSVLN.md</a:t>
            </a:r>
          </a:p>
          <a:p xmlns:a="http://schemas.openxmlformats.org/drawingml/2006/main">
            <a:r>
              <a:t>作者答复：https://github.com/MIV-XJTU/JanusVLN/issues/3#issuecomment-3375195701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构建语义价值地图或生成视觉前沿，利用目标相关性、信息增益和距离等评价探索位置，并进行目标确认。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VLFM：无需新增导航专项训练</a:t>
            </a:r>
          </a:p>
          <a:p xmlns:a="http://schemas.openxmlformats.org/drawingml/2006/main">
            <a:r>
              <a:t>OpenFrontier：无需新增导航专项训练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目标分割辅助监督、自适应 BC／PPO 联合优化，以及基于候选动作质量的 SFT／GRPO 与差距感知奖励设计。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OVSegDT：2×A100；约2.15亿环境步，时长未报告</a:t>
            </a:r>
          </a:p>
          <a:p xmlns:a="http://schemas.openxmlformats.org/drawingml/2006/main">
            <a:r>
              <a:t>CompassNav：SFT 8×A800，约12小时；RFT 8×H200，约56.7小时（估算）</a:t>
            </a:r>
          </a:p>
          <a:p xmlns:a="http://schemas.openxmlformats.org/drawingml/2006/main">
            <a:r>
              <a:t>CompassNav RFT时长为源文档估算：170步×20分钟/步≈56.7小时。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场景语义标注、开放词汇与多模态目标构建、连续或顺序任务设计，以及评测协议和基线设计。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HM3D Semantics：数据集本身不适用；导航基线另计</a:t>
            </a:r>
          </a:p>
          <a:p xmlns:a="http://schemas.openxmlformats.org/drawingml/2006/main">
            <a:r>
              <a:t>HM3D-OVON：按各基线分别统计</a:t>
            </a:r>
          </a:p>
          <a:p xmlns:a="http://schemas.openxmlformats.org/drawingml/2006/main">
            <a:r>
              <a:t>GOAT-Bench：按各基线分别统计</a:t>
            </a:r>
          </a:p>
          <a:p xmlns:a="http://schemas.openxmlformats.org/drawingml/2006/main">
            <a:r>
              <a:t>SG3D / SG-LLM：按 SG-LLM 等基线分别统计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资料口径沿用源文档。GPU·小时表示GPU数量乘以训练小时数，不能把不同GPU型号的卡时直接视为等价算力。</a:t>
            </a:r>
          </a:p>
          <a:p xmlns:a="http://schemas.openxmlformats.org/drawingml/2006/main">
            <a:r>
              <a:t>SuperNav学习式执行器训练见：https://arxiv.org/html/2610.12126v1，附录C.2。</a:t>
            </a:r>
          </a:p>
          <a:p xmlns:a="http://schemas.openxmlformats.org/drawingml/2006/main">
            <a:r>
              <a:t>JanusVLN作者答复由源文档及阅读笔记转引，本次网页未加载评论正文。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11e39193448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b9008568b4d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34d8a48cd40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c652bb66d4b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fc210ffde42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0d9abb35f40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4665CC-EC36-42DD-9D99-50A31C8E7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F81BD5-583D-4282-BE16-80C32966B2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FAF66E-5AD6-40AF-8C9C-4690CD0C8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8EB9B4-AFC5-4FD3-A679-AF4178268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7D6946-A360-4209-BFD2-7336E7D6F9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1A1CF5-086B-4846-8883-6C68B9D1F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2CC527-3EA8-4832-B043-F880DA2610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650D4A-3606-4C98-85C0-3CB2CBED87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76A663-58B6-47B5-AFC9-397FA1E0D6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031D55-CB6F-48A2-AC72-A0814F036C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5a30109fdc433c" /><Relationship Type="http://schemas.openxmlformats.org/officeDocument/2006/relationships/slideLayout" Target="/ppt/slideLayouts/slideLayout1.xml" Id="Rb25956cb88aa4607" /><Relationship Type="http://schemas.openxmlformats.org/officeDocument/2006/relationships/slideLayout" Target="/ppt/slideLayouts/slideLayout2.xml" Id="Rfa54f5dfe80e4392" /><Relationship Type="http://schemas.openxmlformats.org/officeDocument/2006/relationships/slideLayout" Target="/ppt/slideLayouts/slideLayout3.xml" Id="R828a1d269eb94626" /><Relationship Type="http://schemas.openxmlformats.org/officeDocument/2006/relationships/slideLayout" Target="/ppt/slideLayouts/slideLayout4.xml" Id="Re668e4e5d07b422a" /><Relationship Type="http://schemas.openxmlformats.org/officeDocument/2006/relationships/slideLayout" Target="/ppt/slideLayouts/slideLayout5.xml" Id="R374cd35542e048eb" /><Relationship Type="http://schemas.openxmlformats.org/officeDocument/2006/relationships/slideLayout" Target="/ppt/slideLayouts/slideLayout6.xml" Id="Ra0f838ce8a22401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5956cb88aa4607"/>
    <p:sldLayoutId xmlns:r="http://schemas.openxmlformats.org/officeDocument/2006/relationships" id="2147483650" r:id="Rfa54f5dfe80e4392"/>
    <p:sldLayoutId xmlns:r="http://schemas.openxmlformats.org/officeDocument/2006/relationships" id="2147483651" r:id="R828a1d269eb94626"/>
    <p:sldLayoutId xmlns:r="http://schemas.openxmlformats.org/officeDocument/2006/relationships" id="2147483652" r:id="Re668e4e5d07b422a"/>
    <p:sldLayoutId xmlns:r="http://schemas.openxmlformats.org/officeDocument/2006/relationships" id="2147483653" r:id="R374cd35542e048eb"/>
    <p:sldLayoutId xmlns:r="http://schemas.openxmlformats.org/officeDocument/2006/relationships" id="2147483654" r:id="Ra0f838ce8a2240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2b37ab0524e62" /><Relationship Type="http://schemas.openxmlformats.org/officeDocument/2006/relationships/notesSlide" Target="/ppt/notesSlides/notesSlide1.xml" Id="Rc4e085baf24a4b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b4b0db3afd4557" /><Relationship Type="http://schemas.openxmlformats.org/officeDocument/2006/relationships/notesSlide" Target="/ppt/notesSlides/notesSlide2.xml" Id="R3bcb86ade92e48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12ea217204275" /><Relationship Type="http://schemas.openxmlformats.org/officeDocument/2006/relationships/notesSlide" Target="/ppt/notesSlides/notesSlide3.xml" Id="R38f0b87b795c41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ebdf397dd4919" /><Relationship Type="http://schemas.openxmlformats.org/officeDocument/2006/relationships/notesSlide" Target="/ppt/notesSlides/notesSlide4.xml" Id="Rb8c88ff0e81648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7a838b3bb472c" /><Relationship Type="http://schemas.openxmlformats.org/officeDocument/2006/relationships/image" Target="/ppt/media/image.png" Id="R9ace200c0b474b96" /><Relationship Type="http://schemas.openxmlformats.org/officeDocument/2006/relationships/notesSlide" Target="/ppt/notesSlides/notesSlide5.xml" Id="R2ecbccd48a0443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73c0989434543" /><Relationship Type="http://schemas.openxmlformats.org/officeDocument/2006/relationships/notesSlide" Target="/ppt/notesSlides/notesSlide6.xml" Id="R827845892af249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9984dbbee40ac" /><Relationship Type="http://schemas.openxmlformats.org/officeDocument/2006/relationships/image" Target="/ppt/media/image2.png" Id="R510f0fc3c55c45a7" /><Relationship Type="http://schemas.openxmlformats.org/officeDocument/2006/relationships/notesSlide" Target="/ppt/notesSlides/notesSlide7.xml" Id="R0a985eba630d4d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232bb022e4d93" /><Relationship Type="http://schemas.openxmlformats.org/officeDocument/2006/relationships/notesSlide" Target="/ppt/notesSlides/notesSlide8.xml" Id="R17dd0e87502f47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f30de9a1304ab1" /><Relationship Type="http://schemas.openxmlformats.org/officeDocument/2006/relationships/notesSlide" Target="/ppt/notesSlides/notesSlide9.xml" Id="R36fa2419bcb94f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2f6dd72e64238" /><Relationship Type="http://schemas.openxmlformats.org/officeDocument/2006/relationships/notesSlide" Target="/ppt/notesSlides/notesSlide10.xml" Id="R53956fdc15f440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2efc0420fd4bff" /><Relationship Type="http://schemas.openxmlformats.org/officeDocument/2006/relationships/notesSlide" Target="/ppt/notesSlides/notesSlide11.xml" Id="Rea13b3f6b22c46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41302d6e6459b" /><Relationship Type="http://schemas.openxmlformats.org/officeDocument/2006/relationships/notesSlide" Target="/ppt/notesSlides/notesSlide12.xml" Id="R00c4dcdbc20d4c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7779476c14795" /><Relationship Type="http://schemas.openxmlformats.org/officeDocument/2006/relationships/notesSlide" Target="/ppt/notesSlides/notesSlide13.xml" Id="Rd605da4ecfa34b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12f905d1624911" /><Relationship Type="http://schemas.openxmlformats.org/officeDocument/2006/relationships/image" Target="/ppt/media/image3.png" Id="Rfb6ac3c2fd864eaa" /><Relationship Type="http://schemas.openxmlformats.org/officeDocument/2006/relationships/notesSlide" Target="/ppt/notesSlides/notesSlide14.xml" Id="R8e803787385448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f3be0f5def4587" /><Relationship Type="http://schemas.openxmlformats.org/officeDocument/2006/relationships/notesSlide" Target="/ppt/notesSlides/notesSlide15.xml" Id="Rc0faec3bb55849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de6186f91a4a11" /><Relationship Type="http://schemas.openxmlformats.org/officeDocument/2006/relationships/image" Target="/ppt/media/image4.png" Id="Rd0d75074b99d4259" /><Relationship Type="http://schemas.openxmlformats.org/officeDocument/2006/relationships/notesSlide" Target="/ppt/notesSlides/notesSlide16.xml" Id="R2589cf275b0a4f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c066a20de469a" /><Relationship Type="http://schemas.openxmlformats.org/officeDocument/2006/relationships/image" Target="/ppt/media/image5.png" Id="R7907e2c29d274441" /><Relationship Type="http://schemas.openxmlformats.org/officeDocument/2006/relationships/notesSlide" Target="/ppt/notesSlides/notesSlide17.xml" Id="R74a83d3459554d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b934444e742b0" /><Relationship Type="http://schemas.openxmlformats.org/officeDocument/2006/relationships/notesSlide" Target="/ppt/notesSlides/notesSlide18.xml" Id="Rcbdd4b653b854e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8ffda4c84e4bbf" /><Relationship Type="http://schemas.openxmlformats.org/officeDocument/2006/relationships/notesSlide" Target="/ppt/notesSlides/notesSlide19.xml" Id="Re79796ecd1f246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929ba517748ab" /><Relationship Type="http://schemas.openxmlformats.org/officeDocument/2006/relationships/notesSlide" Target="/ppt/notesSlides/notesSlide20.xml" Id="R423aa1aaeb954c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652de977864a82" /><Relationship Type="http://schemas.openxmlformats.org/officeDocument/2006/relationships/notesSlide" Target="/ppt/notesSlides/notesSlide21.xml" Id="R804179eee682490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b314a66a24edd" /><Relationship Type="http://schemas.openxmlformats.org/officeDocument/2006/relationships/image" Target="/ppt/media/image6.png" Id="Rbacdd775891d4345" /><Relationship Type="http://schemas.openxmlformats.org/officeDocument/2006/relationships/notesSlide" Target="/ppt/notesSlides/notesSlide22.xml" Id="Re5e4102c2c334ec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8043baa994127" /><Relationship Type="http://schemas.openxmlformats.org/officeDocument/2006/relationships/notesSlide" Target="/ppt/notesSlides/notesSlide23.xml" Id="Rda9eb2375a2a448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7a8b0d6e2406d" /><Relationship Type="http://schemas.openxmlformats.org/officeDocument/2006/relationships/image" Target="/ppt/media/image7.png" Id="R701fc79745c64df7" /><Relationship Type="http://schemas.openxmlformats.org/officeDocument/2006/relationships/notesSlide" Target="/ppt/notesSlides/notesSlide24.xml" Id="Rc86cf3c3422c43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4e4039a7c480d" /><Relationship Type="http://schemas.openxmlformats.org/officeDocument/2006/relationships/notesSlide" Target="/ppt/notesSlides/notesSlide25.xml" Id="R2075b5d1ecf343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e754fa9384fb8" /><Relationship Type="http://schemas.openxmlformats.org/officeDocument/2006/relationships/notesSlide" Target="/ppt/notesSlides/notesSlide26.xml" Id="Rcebeb896f8cd4a5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8f7248fd8e4cf6" /><Relationship Type="http://schemas.openxmlformats.org/officeDocument/2006/relationships/notesSlide" Target="/ppt/notesSlides/notesSlide27.xml" Id="Rcf99d0ba2f794af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6c0a84edb4ab2" /><Relationship Type="http://schemas.openxmlformats.org/officeDocument/2006/relationships/image" Target="/ppt/media/image8.png" Id="Rec836a26bd78428d" /><Relationship Type="http://schemas.openxmlformats.org/officeDocument/2006/relationships/notesSlide" Target="/ppt/notesSlides/notesSlide28.xml" Id="Rb566b58dcd8541c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b4d738acee436a" /><Relationship Type="http://schemas.openxmlformats.org/officeDocument/2006/relationships/notesSlide" Target="/ppt/notesSlides/notesSlide29.xml" Id="R2a339d0b000342b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ab0042a224257" /><Relationship Type="http://schemas.openxmlformats.org/officeDocument/2006/relationships/notesSlide" Target="/ppt/notesSlides/notesSlide30.xml" Id="R43d95f33f7d040c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f3da395df453c" /><Relationship Type="http://schemas.openxmlformats.org/officeDocument/2006/relationships/notesSlide" Target="/ppt/notesSlides/notesSlide31.xml" Id="Ra94d60954cdd485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42621bf7048cc" /><Relationship Type="http://schemas.openxmlformats.org/officeDocument/2006/relationships/image" Target="/ppt/media/image9.png" Id="R277822fd6e094bc5" /><Relationship Type="http://schemas.openxmlformats.org/officeDocument/2006/relationships/notesSlide" Target="/ppt/notesSlides/notesSlide32.xml" Id="R1b33f6c7a7804a2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26d08c221423c" /><Relationship Type="http://schemas.openxmlformats.org/officeDocument/2006/relationships/notesSlide" Target="/ppt/notesSlides/notesSlide33.xml" Id="R85c7553f2def467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78d0c703424d6b" /><Relationship Type="http://schemas.openxmlformats.org/officeDocument/2006/relationships/notesSlide" Target="/ppt/notesSlides/notesSlide34.xml" Id="R1daece08d5b74dd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21f0d930247d0" /><Relationship Type="http://schemas.openxmlformats.org/officeDocument/2006/relationships/notesSlide" Target="/ppt/notesSlides/notesSlide35.xml" Id="R21f9d98dc5604d1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54feef2c948a1" /><Relationship Type="http://schemas.openxmlformats.org/officeDocument/2006/relationships/notesSlide" Target="/ppt/notesSlides/notesSlide36.xml" Id="R8c486a0a108949b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3bbf9601b74f06" /><Relationship Type="http://schemas.openxmlformats.org/officeDocument/2006/relationships/image" Target="/ppt/media/image10.png" Id="Rb2010a8bd38c4da3" /><Relationship Type="http://schemas.openxmlformats.org/officeDocument/2006/relationships/notesSlide" Target="/ppt/notesSlides/notesSlide37.xml" Id="R84c02e1137a94d6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be37fcb0a14a1d" /><Relationship Type="http://schemas.openxmlformats.org/officeDocument/2006/relationships/notesSlide" Target="/ppt/notesSlides/notesSlide38.xml" Id="R23379af70ece445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fb4e3ad7a8481e" /><Relationship Type="http://schemas.openxmlformats.org/officeDocument/2006/relationships/notesSlide" Target="/ppt/notesSlides/notesSlide39.xml" Id="Rac18effd6a24481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19b5a5b914550" /><Relationship Type="http://schemas.openxmlformats.org/officeDocument/2006/relationships/notesSlide" Target="/ppt/notesSlides/notesSlide40.xml" Id="R0f0eed8eca994c3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1a57082a24328" /><Relationship Type="http://schemas.openxmlformats.org/officeDocument/2006/relationships/notesSlide" Target="/ppt/notesSlides/notesSlide41.xml" Id="Rcce5b056d42c4af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7baf5446b4fe3" /><Relationship Type="http://schemas.openxmlformats.org/officeDocument/2006/relationships/notesSlide" Target="/ppt/notesSlides/notesSlide42.xml" Id="Re90f866a5f9c434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a9d2fc5c664745" /><Relationship Type="http://schemas.openxmlformats.org/officeDocument/2006/relationships/notesSlide" Target="/ppt/notesSlides/notesSlide43.xml" Id="Re58d5773811e4de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6267bd345481f" /><Relationship Type="http://schemas.openxmlformats.org/officeDocument/2006/relationships/notesSlide" Target="/ppt/notesSlides/notesSlide44.xml" Id="R37ad42c3eaf447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F77A43-85AE-4EC1-92E4-5C108AD9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开放词汇导航的方法分类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72620E-6AFB-4DEE-9C62-3027BA73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HM3D-OVON-Papers">
            <a:extLst xmlns:a="http://schemas.openxmlformats.org/drawingml/2006/main">
              <a:ext uri="{FF2B5EF4-FFF2-40B4-BE49-F238E27FC236}">
                <a16:creationId xmlns:a16="http://schemas.microsoft.com/office/drawing/2014/main" id="{41A73D9D-9C65-40AE-BFC6-BC780F26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0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HM3D-OVON-Papers</a:t>
            </a:r>
          </a:p>
        </p:txBody>
      </p:sp>
      <p:sp>
        <p:nvSpPr>
          <p:cNvPr id="4" name="五个研究方向，八类方法范式">
            <a:extLst xmlns:a="http://schemas.openxmlformats.org/drawingml/2006/main">
              <a:ext uri="{FF2B5EF4-FFF2-40B4-BE49-F238E27FC236}">
                <a16:creationId xmlns:a16="http://schemas.microsoft.com/office/drawing/2014/main" id="{2248F29D-BC36-4299-BAFD-C66E257F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五个研究方向，八类方法范式</a:t>
            </a:r>
          </a:p>
        </p:txBody>
      </p:sp>
      <p:sp>
        <p:nvSpPr>
          <p:cNvPr id="5" name="方法机制、代表论文与评测结果">
            <a:extLst xmlns:a="http://schemas.openxmlformats.org/drawingml/2006/main">
              <a:ext uri="{FF2B5EF4-FFF2-40B4-BE49-F238E27FC236}">
                <a16:creationId xmlns:a16="http://schemas.microsoft.com/office/drawing/2014/main" id="{3FA308C3-947D-4D33-A3A3-B6F6FA1A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方法机制、代表论文与评测结果</a:t>
            </a:r>
          </a:p>
        </p:txBody>
      </p:sp>
      <p:sp>
        <p:nvSpPr>
          <p:cNvPr id="6" name="训练算力置于方法讲解之后">
            <a:extLst xmlns:a="http://schemas.openxmlformats.org/drawingml/2006/main">
              <a:ext uri="{FF2B5EF4-FFF2-40B4-BE49-F238E27FC236}">
                <a16:creationId xmlns:a16="http://schemas.microsoft.com/office/drawing/2014/main" id="{29CAF7DE-6999-466F-A80F-D4D640EC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训练算力置于方法讲解之后</a:t>
            </a:r>
          </a:p>
        </p:txBody>
      </p:sp>
      <p:sp>
        <p:nvSpPr>
          <p:cNvPr id="7" name="依据本地已收录文献与阅读笔记">
            <a:extLst xmlns:a="http://schemas.openxmlformats.org/drawingml/2006/main">
              <a:ext uri="{FF2B5EF4-FFF2-40B4-BE49-F238E27FC236}">
                <a16:creationId xmlns:a16="http://schemas.microsoft.com/office/drawing/2014/main" id="{D707B3C8-E073-49CD-9764-FB147389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依据本地已收录文献与阅读笔记</a:t>
            </a:r>
          </a:p>
        </p:txBody>
      </p:sp>
      <p:sp>
        <p:nvSpPr>
          <p:cNvPr id="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390D271-3470-4467-A148-939A84EB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2026年10月17日</a:t>
            </a:r>
          </a:p>
        </p:txBody>
      </p:sp>
    </p:spTree>
    <p:extLst>
      <p:ext uri="{BB962C8B-B14F-4D97-AF65-F5344CB8AC3E}">
        <p14:creationId xmlns:p14="http://schemas.microsoft.com/office/powerpoint/2010/main" val="7054626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A00B8B-EFC9-40FE-B6C4-9BEE638E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方法分类总览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60A2DA-7B1E-4575-8FF7-F2612ABF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6D541-59EB-4ABC-838F-B517D9B1C846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44005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362200"/>
                <a:gridCol w="4019550"/>
                <a:gridCol w="4438650"/>
              </a:tblGrid>
              <a:tr h="4667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一级方向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二级方法类别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主要归属文献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9239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系统组织架构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分层与模块化协作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多能力统一联合建模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TANGO、SuperNav、OmniNav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D3D-VLP、Uni-NaVid、MTU3D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环境表征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显式地图与场景结构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学习式连续空间特征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历史记忆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观察历史的压缩与重放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递归状态与缓存更新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JanusVLN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探索与目标搜索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语义引导的前沿搜索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VLFM、OpenFrontier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导航策略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训练与优化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模仿学习与强化学习结合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OVSegDT、CompassNav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主要归属用于组织汇报。显式结构、连续特征、历史重放与缓存">
            <a:extLst xmlns:a="http://schemas.openxmlformats.org/drawingml/2006/main">
              <a:ext uri="{FF2B5EF4-FFF2-40B4-BE49-F238E27FC236}">
                <a16:creationId xmlns:a16="http://schemas.microsoft.com/office/drawing/2014/main" id="{E02DD39E-D465-4FC5-841C-05C14D3A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主要归属用于组织汇报。显式结构、连续特征、历史重放与缓存可以组合。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A9D2529-32B4-441C-8472-34BCC279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分类依据：一级分支分类.md。数据集与评测基准另列</a:t>
            </a:r>
          </a:p>
        </p:txBody>
      </p:sp>
    </p:spTree>
    <p:extLst>
      <p:ext uri="{BB962C8B-B14F-4D97-AF65-F5344CB8AC3E}">
        <p14:creationId xmlns:p14="http://schemas.microsoft.com/office/powerpoint/2010/main" val="487465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F9C632-0BDF-4BA1-8D20-47334DA0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系统组织架构：方法与评测概览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7B81B2-147F-41F3-BF0A-AEA2D674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研究问题：任务决策怎样与感知、规划和执行协作">
            <a:extLst xmlns:a="http://schemas.openxmlformats.org/drawingml/2006/main">
              <a:ext uri="{FF2B5EF4-FFF2-40B4-BE49-F238E27FC236}">
                <a16:creationId xmlns:a16="http://schemas.microsoft.com/office/drawing/2014/main" id="{B453184D-600D-469E-8FEC-A2962DC8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研究问题：任务决策怎样与感知、规划和执行协作</a:t>
            </a:r>
          </a:p>
        </p:txBody>
      </p:sp>
      <p:sp>
        <p:nvSpPr>
          <p:cNvPr id="4" name="方法类别">
            <a:extLst xmlns:a="http://schemas.openxmlformats.org/drawingml/2006/main">
              <a:ext uri="{FF2B5EF4-FFF2-40B4-BE49-F238E27FC236}">
                <a16:creationId xmlns:a16="http://schemas.microsoft.com/office/drawing/2014/main" id="{C4A9C639-578D-4F17-9DAD-B3759FD5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方法类别</a:t>
            </a:r>
          </a:p>
        </p:txBody>
      </p:sp>
      <p:sp>
        <p:nvSpPr>
          <p:cNvPr id="5" name="已收录论文的较高报告值（%）">
            <a:extLst xmlns:a="http://schemas.openxmlformats.org/drawingml/2006/main">
              <a:ext uri="{FF2B5EF4-FFF2-40B4-BE49-F238E27FC236}">
                <a16:creationId xmlns:a16="http://schemas.microsoft.com/office/drawing/2014/main" id="{8590210A-C32B-4BF3-ACDA-28F53008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已收录论文的较高报告值（%）</a:t>
            </a:r>
          </a:p>
        </p:txBody>
      </p:sp>
      <p:sp>
        <p:nvSpPr>
          <p:cNvPr id="6" name="分层与模块化协作">
            <a:extLst xmlns:a="http://schemas.openxmlformats.org/drawingml/2006/main">
              <a:ext uri="{FF2B5EF4-FFF2-40B4-BE49-F238E27FC236}">
                <a16:creationId xmlns:a16="http://schemas.microsoft.com/office/drawing/2014/main" id="{1493CD31-ACDA-4462-8B33-7E9D108D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分层与模块化协作</a:t>
            </a:r>
          </a:p>
        </p:txBody>
      </p:sp>
      <p:sp>
        <p:nvSpPr>
          <p:cNvPr id="7" name="通过工具或子目标接口，&#10;衔接高层决策与局部执行">
            <a:extLst xmlns:a="http://schemas.openxmlformats.org/drawingml/2006/main">
              <a:ext uri="{FF2B5EF4-FFF2-40B4-BE49-F238E27FC236}">
                <a16:creationId xmlns:a16="http://schemas.microsoft.com/office/drawing/2014/main" id="{CDA9849A-8477-46F7-8E12-9AA55B99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通过工具或子目标接口，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衔接高层决策与局部执行</a:t>
            </a:r>
          </a:p>
        </p:txBody>
      </p:sp>
      <p:sp>
        <p:nvSpPr>
          <p:cNvPr id="8" name="多能力统一联合建模">
            <a:extLst xmlns:a="http://schemas.openxmlformats.org/drawingml/2006/main">
              <a:ext uri="{FF2B5EF4-FFF2-40B4-BE49-F238E27FC236}">
                <a16:creationId xmlns:a16="http://schemas.microsoft.com/office/drawing/2014/main" id="{CD3B5DBE-168D-46BC-A64F-A4161E95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多能力统一联合建模</a:t>
            </a:r>
          </a:p>
        </p:txBody>
      </p:sp>
      <p:sp>
        <p:nvSpPr>
          <p:cNvPr id="9" name="共享表示与决策接口，&#10;联合处理多种能力或任务">
            <a:extLst xmlns:a="http://schemas.openxmlformats.org/drawingml/2006/main">
              <a:ext uri="{FF2B5EF4-FFF2-40B4-BE49-F238E27FC236}">
                <a16:creationId xmlns:a16="http://schemas.microsoft.com/office/drawing/2014/main" id="{10711FFD-0C45-4F09-AEA6-76B82AE1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共享表示与决策接口，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联合处理多种能力或任务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0C777-3CAD-45A6-B3CE-942D9F8782ED}"/>
              </a:ext>
            </a:extLst>
          </p:cNvPr>
          <p:cNvGraphicFramePr/>
          <p:nvPr/>
        </p:nvGraphicFramePr>
        <p:xfrm>
          <a:off xmlns:a="http://schemas.openxmlformats.org/drawingml/2006/main" x="4114800" y="2057400"/>
          <a:ext xmlns:a="http://schemas.openxmlformats.org/drawingml/2006/main" cx="7391400" cy="3343275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Val-Unseen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59.2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Val-Unseen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MTU3D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27.7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R2R-CE / Val-Unseen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69.5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66.1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RxR-CE / Val-Unseen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73.6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SG3D-Nav / 子任务与整任务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D3D-VLP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33.7 s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13.8 t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21.6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mniNav OVON按1 m判据。SG3D给定真实计">
            <a:extLst xmlns:a="http://schemas.openxmlformats.org/drawingml/2006/main">
              <a:ext uri="{FF2B5EF4-FFF2-40B4-BE49-F238E27FC236}">
                <a16:creationId xmlns:a16="http://schemas.microsoft.com/office/drawing/2014/main" id="{CAF8E48B-4B0F-4FDE-8F0E-1662B7B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OmniNav OVON按1 m判据。SG3D给定真实计划，s／t为子任务／整任务SR。其他结果见后续页。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B268A30-BF8A-4BA2-8BCB-D178858B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SR：成功率。SPL：按路径长度加权的成功率。仅限已收录论文，各评测协议分别展示</a:t>
            </a:r>
          </a:p>
        </p:txBody>
      </p:sp>
    </p:spTree>
    <p:extLst>
      <p:ext uri="{BB962C8B-B14F-4D97-AF65-F5344CB8AC3E}">
        <p14:creationId xmlns:p14="http://schemas.microsoft.com/office/powerpoint/2010/main" val="1062986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D8E136-D908-455E-8CED-604D3041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分层与模块化协作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54068F-B156-44AA-9ED0-58BDF91F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高层处理任务意图，通过明确接口调用专门的执行模块">
            <a:extLst xmlns:a="http://schemas.openxmlformats.org/drawingml/2006/main">
              <a:ext uri="{FF2B5EF4-FFF2-40B4-BE49-F238E27FC236}">
                <a16:creationId xmlns:a16="http://schemas.microsoft.com/office/drawing/2014/main" id="{5D8E31AA-0A44-4E4F-B067-E769D1AA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高层处理任务意图，通过明确接口调用专门的执行模块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BA84F012-5F0A-4B79-9150-E74B751F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理解任务与当前状态">
            <a:extLst xmlns:a="http://schemas.openxmlformats.org/drawingml/2006/main">
              <a:ext uri="{FF2B5EF4-FFF2-40B4-BE49-F238E27FC236}">
                <a16:creationId xmlns:a16="http://schemas.microsoft.com/office/drawing/2014/main" id="{1A670FC6-E855-44BC-9C69-81A4CADA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理解任务与当前状态</a:t>
            </a:r>
          </a:p>
        </p:txBody>
      </p:sp>
      <p:sp>
        <p:nvSpPr>
          <p:cNvPr id="6" name="读取目标、当前观测和已完成进度">
            <a:extLst xmlns:a="http://schemas.openxmlformats.org/drawingml/2006/main">
              <a:ext uri="{FF2B5EF4-FFF2-40B4-BE49-F238E27FC236}">
                <a16:creationId xmlns:a16="http://schemas.microsoft.com/office/drawing/2014/main" id="{9E31C1F9-71D8-4EF4-8BF4-8780EC1B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读取目标、当前观测和已完成进度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FC6169D4-E105-44F2-A0DC-3B893BDD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选择接口与子目标">
            <a:extLst xmlns:a="http://schemas.openxmlformats.org/drawingml/2006/main">
              <a:ext uri="{FF2B5EF4-FFF2-40B4-BE49-F238E27FC236}">
                <a16:creationId xmlns:a16="http://schemas.microsoft.com/office/drawing/2014/main" id="{5DA665DC-63D1-432D-BB5B-A306ACA2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037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选择接口与子目标</a:t>
            </a:r>
          </a:p>
        </p:txBody>
      </p:sp>
      <p:sp>
        <p:nvSpPr>
          <p:cNvPr id="9" name="输出程序调用、工具参数或空间子目标">
            <a:extLst xmlns:a="http://schemas.openxmlformats.org/drawingml/2006/main">
              <a:ext uri="{FF2B5EF4-FFF2-40B4-BE49-F238E27FC236}">
                <a16:creationId xmlns:a16="http://schemas.microsoft.com/office/drawing/2014/main" id="{BE38C4F8-7A8F-4E53-B113-0F8076A7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输出程序调用、工具参数或空间子目标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073B3051-A2ED-4D5C-A947-34C0C73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执行专门模块">
            <a:extLst xmlns:a="http://schemas.openxmlformats.org/drawingml/2006/main">
              <a:ext uri="{FF2B5EF4-FFF2-40B4-BE49-F238E27FC236}">
                <a16:creationId xmlns:a16="http://schemas.microsoft.com/office/drawing/2014/main" id="{471AA0D4-44DC-4BE3-84A0-0907F892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执行专门模块</a:t>
            </a:r>
          </a:p>
        </p:txBody>
      </p:sp>
      <p:sp>
        <p:nvSpPr>
          <p:cNvPr id="12" name="感知、局部规划或策略完成短程移动">
            <a:extLst xmlns:a="http://schemas.openxmlformats.org/drawingml/2006/main">
              <a:ext uri="{FF2B5EF4-FFF2-40B4-BE49-F238E27FC236}">
                <a16:creationId xmlns:a16="http://schemas.microsoft.com/office/drawing/2014/main" id="{CC272DD2-DCC5-49CE-AB45-92A9419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感知、局部规划或策略完成短程移动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43C2E24F-48A2-4169-933D-2D1226AC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接收执行反馈">
            <a:extLst xmlns:a="http://schemas.openxmlformats.org/drawingml/2006/main">
              <a:ext uri="{FF2B5EF4-FFF2-40B4-BE49-F238E27FC236}">
                <a16:creationId xmlns:a16="http://schemas.microsoft.com/office/drawing/2014/main" id="{3542CD38-8266-4C1C-8571-C1441822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接收执行反馈</a:t>
            </a:r>
          </a:p>
        </p:txBody>
      </p:sp>
      <p:sp>
        <p:nvSpPr>
          <p:cNvPr id="15" name="根据新观测更新任务状态与后续选择">
            <a:extLst xmlns:a="http://schemas.openxmlformats.org/drawingml/2006/main">
              <a:ext uri="{FF2B5EF4-FFF2-40B4-BE49-F238E27FC236}">
                <a16:creationId xmlns:a16="http://schemas.microsoft.com/office/drawing/2014/main" id="{3739BCD0-7C63-418C-B288-BB1D2828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3392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根据新观测更新任务状态与后续选择</a:t>
            </a:r>
          </a:p>
        </p:txBody>
      </p:sp>
      <p:sp>
        <p:nvSpPr>
          <p:cNvPr id="16" name="类内实现：TANGO程序编排，SuperNav工具循环，">
            <a:extLst xmlns:a="http://schemas.openxmlformats.org/drawingml/2006/main">
              <a:ext uri="{FF2B5EF4-FFF2-40B4-BE49-F238E27FC236}">
                <a16:creationId xmlns:a16="http://schemas.microsoft.com/office/drawing/2014/main" id="{7159FDBC-8061-4DC3-A945-DEA33402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类内实现：TANGO程序编排，SuperNav工具循环，OmniNav快慢协作</a:t>
            </a:r>
          </a:p>
        </p:txBody>
      </p:sp>
      <p:sp>
        <p:nvSpPr>
          <p:cNvPr id="17" name="收益：模块可复用、可替换。限制：接口误差传递，高层证据可">
            <a:extLst xmlns:a="http://schemas.openxmlformats.org/drawingml/2006/main">
              <a:ext uri="{FF2B5EF4-FFF2-40B4-BE49-F238E27FC236}">
                <a16:creationId xmlns:a16="http://schemas.microsoft.com/office/drawing/2014/main" id="{51F12F63-6BB5-40E8-AB74-25F497EE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收益：模块可复用、可替换。限制：接口误差传递，高层证据可能滞后。</a:t>
            </a:r>
          </a:p>
        </p:txBody>
      </p:sp>
      <p:sp>
        <p:nvSpPr>
          <p:cNvPr id="1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568B505-A516-4643-B509-A3208231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机制依据原论文与阅读笔记归纳。代表实现和详细来源见讲稿备注</a:t>
            </a:r>
          </a:p>
        </p:txBody>
      </p:sp>
    </p:spTree>
    <p:extLst>
      <p:ext uri="{BB962C8B-B14F-4D97-AF65-F5344CB8AC3E}">
        <p14:creationId xmlns:p14="http://schemas.microsoft.com/office/powerpoint/2010/main" val="2116787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0B3E30-BD2E-438F-8AAA-8984827D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OmniNav：快慢系统的接口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D32A25-F921-4B49-8ED7-C86DD435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EFD52E6D-968C-4CD6-ABBB-FDB2619215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e200c0b474b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96478" y="1238250"/>
            <a:ext cx="9199044" cy="4819650"/>
          </a:xfrm>
          <a:prstGeom xmlns:a="http://schemas.openxmlformats.org/drawingml/2006/main" prst="rect">
            <a:avLst/>
          </a:prstGeom>
        </p:spPr>
      </p:pic>
      <p:sp>
        <p:nvSpPr>
          <p:cNvPr id="4" name="慢系统给出子目标，快系统生成连续航点，并根据新观测更新局部移">
            <a:extLst xmlns:a="http://schemas.openxmlformats.org/drawingml/2006/main">
              <a:ext uri="{FF2B5EF4-FFF2-40B4-BE49-F238E27FC236}">
                <a16:creationId xmlns:a16="http://schemas.microsoft.com/office/drawing/2014/main" id="{E9C15410-1122-4B88-893F-AAD48E38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慢系统给出子目标，快系统生成连续航点，并根据新观测更新局部移动。</a:t>
            </a:r>
            <a:endParaRPr sz="1725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F66897C-205C-46C2-A661-310BE8E0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来源：OmniNav，图1（PDF第4页）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67287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D3601F-763D-403C-A031-644C629E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多能力统一联合建模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D8B78A-EEDE-4B52-BDE7-42ED74E5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用共享表示或输出接口，让相关能力共同参与一次决策">
            <a:extLst xmlns:a="http://schemas.openxmlformats.org/drawingml/2006/main">
              <a:ext uri="{FF2B5EF4-FFF2-40B4-BE49-F238E27FC236}">
                <a16:creationId xmlns:a16="http://schemas.microsoft.com/office/drawing/2014/main" id="{747A873D-B254-4BAF-B84F-4921DE7B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用共享表示或输出接口，让相关能力共同参与一次决策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085EE5C9-6A92-4D55-A0DE-B03BA113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形成统一输入">
            <a:extLst xmlns:a="http://schemas.openxmlformats.org/drawingml/2006/main">
              <a:ext uri="{FF2B5EF4-FFF2-40B4-BE49-F238E27FC236}">
                <a16:creationId xmlns:a16="http://schemas.microsoft.com/office/drawing/2014/main" id="{2E75E549-6FEE-4888-A2E2-97E69824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形成统一输入</a:t>
            </a:r>
          </a:p>
        </p:txBody>
      </p:sp>
      <p:sp>
        <p:nvSpPr>
          <p:cNvPr id="6" name="将指令、观测、空间与历史编码为模型输入">
            <a:extLst xmlns:a="http://schemas.openxmlformats.org/drawingml/2006/main">
              <a:ext uri="{FF2B5EF4-FFF2-40B4-BE49-F238E27FC236}">
                <a16:creationId xmlns:a16="http://schemas.microsoft.com/office/drawing/2014/main" id="{254E0C65-D29F-4A9C-918C-670C2AA7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将指令、观测、空间与历史编码为模型输入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D3A5BFB2-02B1-4B62-98B5-B287EA32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共享语义与空间理解">
            <a:extLst xmlns:a="http://schemas.openxmlformats.org/drawingml/2006/main">
              <a:ext uri="{FF2B5EF4-FFF2-40B4-BE49-F238E27FC236}">
                <a16:creationId xmlns:a16="http://schemas.microsoft.com/office/drawing/2014/main" id="{54AD873F-3674-4A17-87B8-FCEDDB5B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037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共享语义与空间理解</a:t>
            </a:r>
          </a:p>
        </p:txBody>
      </p:sp>
      <p:sp>
        <p:nvSpPr>
          <p:cNvPr id="9" name="联合建模任务意图、目标实体和可行动位置">
            <a:extLst xmlns:a="http://schemas.openxmlformats.org/drawingml/2006/main">
              <a:ext uri="{FF2B5EF4-FFF2-40B4-BE49-F238E27FC236}">
                <a16:creationId xmlns:a16="http://schemas.microsoft.com/office/drawing/2014/main" id="{48E3916A-6252-4063-B9FA-CC43A5FB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联合建模任务意图、目标实体和可行动位置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81CD062B-BE28-40DB-A26F-9FF6DCF1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产生能力相关输出">
            <a:extLst xmlns:a="http://schemas.openxmlformats.org/drawingml/2006/main">
              <a:ext uri="{FF2B5EF4-FFF2-40B4-BE49-F238E27FC236}">
                <a16:creationId xmlns:a16="http://schemas.microsoft.com/office/drawing/2014/main" id="{507E721A-15FA-4846-AB76-D6B2FAFD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产生能力相关输出</a:t>
            </a:r>
          </a:p>
        </p:txBody>
      </p:sp>
      <p:sp>
        <p:nvSpPr>
          <p:cNvPr id="12" name="输出结构化决策、任务动作或候选评分">
            <a:extLst xmlns:a="http://schemas.openxmlformats.org/drawingml/2006/main">
              <a:ext uri="{FF2B5EF4-FFF2-40B4-BE49-F238E27FC236}">
                <a16:creationId xmlns:a16="http://schemas.microsoft.com/office/drawing/2014/main" id="{45667967-CF99-42B6-B790-D8F26215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输出结构化决策、任务动作或候选评分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55FC84AC-1D44-44FC-A414-ABF5EC5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联合训练并更新决策">
            <a:extLst xmlns:a="http://schemas.openxmlformats.org/drawingml/2006/main">
              <a:ext uri="{FF2B5EF4-FFF2-40B4-BE49-F238E27FC236}">
                <a16:creationId xmlns:a16="http://schemas.microsoft.com/office/drawing/2014/main" id="{03BBBFF7-7913-4CAD-94FA-DF235118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联合训练并更新决策</a:t>
            </a:r>
          </a:p>
        </p:txBody>
      </p:sp>
      <p:sp>
        <p:nvSpPr>
          <p:cNvPr id="15" name="多源监督训练共享模型，执行后更新状态">
            <a:extLst xmlns:a="http://schemas.openxmlformats.org/drawingml/2006/main">
              <a:ext uri="{FF2B5EF4-FFF2-40B4-BE49-F238E27FC236}">
                <a16:creationId xmlns:a16="http://schemas.microsoft.com/office/drawing/2014/main" id="{CFA82DB6-76B9-4E34-A5CD-9E996AA6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3392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多源监督训练共享模型，执行后更新状态</a:t>
            </a:r>
          </a:p>
        </p:txBody>
      </p:sp>
      <p:sp>
        <p:nvSpPr>
          <p:cNvPr id="16" name="类内实现：结构化决策链、多任务动作生成、物体与前沿统一评">
            <a:extLst xmlns:a="http://schemas.openxmlformats.org/drawingml/2006/main">
              <a:ext uri="{FF2B5EF4-FFF2-40B4-BE49-F238E27FC236}">
                <a16:creationId xmlns:a16="http://schemas.microsoft.com/office/drawing/2014/main" id="{0118A818-0079-4716-A3A7-E895CBC0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类内实现：结构化决策链、多任务动作生成、物体与前沿统一评分</a:t>
            </a:r>
          </a:p>
        </p:txBody>
      </p:sp>
      <p:sp>
        <p:nvSpPr>
          <p:cNvPr id="17" name="收益：减少能力间表示割裂。限制：依赖任务对齐与数据覆盖，">
            <a:extLst xmlns:a="http://schemas.openxmlformats.org/drawingml/2006/main">
              <a:ext uri="{FF2B5EF4-FFF2-40B4-BE49-F238E27FC236}">
                <a16:creationId xmlns:a16="http://schemas.microsoft.com/office/drawing/2014/main" id="{47FDF621-2A17-4DB6-A4C4-C16FCE0B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收益：减少能力间表示割裂。限制：依赖任务对齐与数据覆盖，仍可保留执行器。</a:t>
            </a:r>
          </a:p>
        </p:txBody>
      </p:sp>
      <p:sp>
        <p:nvSpPr>
          <p:cNvPr id="1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FE5E637-F359-4EB6-801C-FCC5F97D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机制依据原论文与阅读笔记归纳。代表实现和详细来源见讲稿备注</a:t>
            </a:r>
          </a:p>
        </p:txBody>
      </p:sp>
    </p:spTree>
    <p:extLst>
      <p:ext uri="{BB962C8B-B14F-4D97-AF65-F5344CB8AC3E}">
        <p14:creationId xmlns:p14="http://schemas.microsoft.com/office/powerpoint/2010/main" val="13319943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9FF90B-1AFD-4FC6-9330-9ABDC06A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D3D-VLP：计划、目标定位与航点联合决策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BD63AC-DD67-4CBD-8390-1BF7052F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5D3B6-F6F0-407F-86AB-7A2CEE4E21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f0fc3c55c45a7"/>
          <a:stretch xmlns:a="http://schemas.openxmlformats.org/drawingml/2006/main"/>
        </p:blipFill>
        <p:spPr>
          <a:xfrm xmlns:a="http://schemas.openxmlformats.org/drawingml/2006/main">
            <a:off x="685800" y="1625824"/>
            <a:ext cx="10820400" cy="3415852"/>
          </a:xfrm>
          <a:prstGeom xmlns:a="http://schemas.openxmlformats.org/drawingml/2006/main" prst="rect">
            <a:avLst/>
          </a:prstGeom>
        </p:spPr>
      </p:pic>
      <p:sp>
        <p:nvSpPr>
          <p:cNvPr id="4" name="环境记忆保存三维证据，决策记忆保存计划、目标与已执行轨迹">
            <a:extLst xmlns:a="http://schemas.openxmlformats.org/drawingml/2006/main">
              <a:ext uri="{FF2B5EF4-FFF2-40B4-BE49-F238E27FC236}">
                <a16:creationId xmlns:a16="http://schemas.microsoft.com/office/drawing/2014/main" id="{DFF0AC37-EB36-4134-9A16-A53491CE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环境记忆保存三维证据，决策记忆保存计划、目标与已执行轨迹。</a:t>
            </a:r>
          </a:p>
        </p:txBody>
      </p:sp>
      <p:sp>
        <p:nvSpPr>
          <p:cNvPr id="5" name="部分标注样本只对已有监督项计算损失。航点仍交由底层控制器">
            <a:extLst xmlns:a="http://schemas.openxmlformats.org/drawingml/2006/main">
              <a:ext uri="{FF2B5EF4-FFF2-40B4-BE49-F238E27FC236}">
                <a16:creationId xmlns:a16="http://schemas.microsoft.com/office/drawing/2014/main" id="{1C1EAC06-C7E7-4766-8403-A3FF6431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部分标注样本只对已有监督项计算损失。航点仍交由底层控制器执行。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10407C1-1939-4862-87A7-D40EA331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来源：D3D-VLP 方法章节，原论文框架图。图号与裁剪记录见素材清单</a:t>
            </a:r>
          </a:p>
        </p:txBody>
      </p:sp>
    </p:spTree>
    <p:extLst>
      <p:ext uri="{BB962C8B-B14F-4D97-AF65-F5344CB8AC3E}">
        <p14:creationId xmlns:p14="http://schemas.microsoft.com/office/powerpoint/2010/main" val="16995055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E0A97D-0897-4D38-A5D0-5EC7AE3A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同类架构的接口差异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165F2F3-1546-41AB-B138-39333E2B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3B530-EA26-4B35-8BAE-F3C00CEC91B0}"/>
              </a:ext>
            </a:extLst>
          </p:cNvPr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10820400" cy="42291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3095625"/>
                <a:gridCol w="2476500"/>
                <a:gridCol w="5248275"/>
              </a:tblGrid>
              <a:tr h="4572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方法类别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论文例子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关键接口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6286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分层与模块化协作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TANGO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程序与可调用原语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分层与模块化协作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技能指引、工具调用与图像点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分层与模块化协作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空间子目标与连续航点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多能力统一联合建模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D3D-VLP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计划、三维目标与航点决策链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多能力统一联合建模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Uni-NaVid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统一视频输入与任务标记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多能力统一联合建模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MTU3D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物体和探索前沿的统一评分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两类可以共存：OmniNav共享多任务骨干，D3D-VL">
            <a:extLst xmlns:a="http://schemas.openxmlformats.org/drawingml/2006/main">
              <a:ext uri="{FF2B5EF4-FFF2-40B4-BE49-F238E27FC236}">
                <a16:creationId xmlns:a16="http://schemas.microsoft.com/office/drawing/2014/main" id="{A61B8564-56F7-4EC3-B036-62D51873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两类可以共存：OmniNav共享多任务骨干，D3D-VLP与MTU3D仍保留执行模块。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E703EE2-1E8C-44B9-8355-94D5D152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论文作为同类方法的实现例子。主分类不替代二维／三维、任务范围或资源条件</a:t>
            </a:r>
          </a:p>
        </p:txBody>
      </p:sp>
    </p:spTree>
    <p:extLst>
      <p:ext uri="{BB962C8B-B14F-4D97-AF65-F5344CB8AC3E}">
        <p14:creationId xmlns:p14="http://schemas.microsoft.com/office/powerpoint/2010/main" val="14926860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5E82B1-F7DE-43ED-8267-48AD7742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系统组织架构：目标导航结果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D0311F-BAEE-4AD6-875C-A6D9F954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09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53351CC0-A987-4920-8BE8-6618C0C56623}"/>
              </a:ext>
            </a:extLst>
          </p:cNvPr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10820400" cy="452437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56.1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68.6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38.8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59.2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33.2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52.2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30.5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48.4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30.3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47.2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27.7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73.7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37.1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mniNav为慢系统+CoT；MTU3D使用RG">
            <a:extLst xmlns:a="http://schemas.openxmlformats.org/drawingml/2006/main">
              <a:ext uri="{FF2B5EF4-FFF2-40B4-BE49-F238E27FC236}">
                <a16:creationId xmlns:a16="http://schemas.microsoft.com/office/drawing/2014/main" id="{23F77822-9754-45A0-A13B-0185A343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OmniNav为慢系统+CoT；MTU3D使用RGB-D与位姿；Uni-NaVid为单RGB。训练与传感器条件未统一。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9F54B3C-D6B0-4753-AD01-F516B5F3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来源：OmniNav 表2；MTU3D 表5；Uni-NaVid 表IV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122987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260EE0-9EA5-4A4E-821D-83DE3936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系统组织架构：指令与顺序任务结果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13C124-A048-4C2D-9F3F-DA999D2F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88314540-2914-4CD4-8599-CB1C7F8264D7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9433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69.5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66.1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73.6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REVERIE-CE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34.7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NavRAG-CE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31.1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23.9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SG3D-Nav / 导航任务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33.7 s / 13.8 t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自建人物跟随 / 默认验证配置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61.21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其他评测采用不同指标：CityWalker使用MA">
            <a:extLst xmlns:a="http://schemas.openxmlformats.org/drawingml/2006/main">
              <a:ext uri="{FF2B5EF4-FFF2-40B4-BE49-F238E27FC236}">
                <a16:creationId xmlns:a16="http://schemas.microsoft.com/office/drawing/2014/main" id="{583F9588-62A3-4411-A35D-C50FA3DC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其他评测采用不同指标：CityWalker使用MAOE，问答任务使用ACC、Score或LLM-SR／LLM-SPL，均不充当导航SR／SPL。</a:t>
            </a:r>
            <a:endParaRPr sz="15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27540AE5-DBBD-439A-AF30-82FEEDCB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来源：OmniNav 表1；D3D-VLP 表2–3；Uni-NaVid 表VII。—表示未报告SPL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80987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EE4DCB-56BF-4BBA-8178-DFE7A6E3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SuperNav：子集、阈值与自建任务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D8DFA1-FAB2-49A6-A48A-6BBD373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F3F69FB1-A39C-43D5-BD46-790370EC37C0}"/>
              </a:ext>
            </a:extLst>
          </p:cNvPr>
          <p:cNvGraphicFramePr/>
          <p:nvPr/>
        </p:nvGraphicFramePr>
        <p:xfrm>
          <a:off xmlns:a="http://schemas.openxmlformats.org/drawingml/2006/main" x="685800" y="1409700"/>
          <a:ext xmlns:a="http://schemas.openxmlformats.org/drawingml/2006/main" cx="10820400" cy="47434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5619750"/>
                <a:gridCol w="2609850"/>
                <a:gridCol w="1295400"/>
                <a:gridCol w="12954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OVON / Val-Unseen，120子集，0.25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68.33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38.37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OVON / Val-Unseen，120子集，1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73.33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41.05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OVON / 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71.67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45.79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OVON / 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79.17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49.74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HM3Dv2 / 1000 episodes，0.2 m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80.3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33.38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HM3Dv2 / 1000 episodes，1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86.5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36.38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Habitat-GS / 单目标，150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78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41.27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Habitat-GS / 顺序多目标，150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13.88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Demand-Bench / 改编协议，200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59.5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18.01</a:t>
                      </a:r>
                      <a:endParaRPr sz="16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* 模型替换配置。主模型为GPT-5.6 Terr">
            <a:extLst xmlns:a="http://schemas.openxmlformats.org/drawingml/2006/main">
              <a:ext uri="{FF2B5EF4-FFF2-40B4-BE49-F238E27FC236}">
                <a16:creationId xmlns:a16="http://schemas.microsoft.com/office/drawing/2014/main" id="{44BAF331-5675-42A7-9C22-F57DFAEF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* 模型替换配置。主模型为GPT-5.6 Terra high。SPL已乘100；视点距离、子集与改编任务不与其他协议混排。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2216D1A-E776-42CF-9669-83443178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来源：SuperNav 表1–3。Geo表示几何执行器；严格距离定义见原论文附录B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721867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BABD0B-C684-443E-9BF2-66A28AFE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环境表征：方法与评测概览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FBA3E7-3BEC-4BD0-958A-F6EEA642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研究问题：跨视角观测怎样形成可查询、可决策的环境状态">
            <a:extLst xmlns:a="http://schemas.openxmlformats.org/drawingml/2006/main">
              <a:ext uri="{FF2B5EF4-FFF2-40B4-BE49-F238E27FC236}">
                <a16:creationId xmlns:a16="http://schemas.microsoft.com/office/drawing/2014/main" id="{8092C26B-6AB4-4BBB-BE14-148C05FC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研究问题：跨视角观测怎样形成可查询、可决策的环境状态</a:t>
            </a:r>
          </a:p>
        </p:txBody>
      </p:sp>
      <p:sp>
        <p:nvSpPr>
          <p:cNvPr id="4" name="方法类别">
            <a:extLst xmlns:a="http://schemas.openxmlformats.org/drawingml/2006/main">
              <a:ext uri="{FF2B5EF4-FFF2-40B4-BE49-F238E27FC236}">
                <a16:creationId xmlns:a16="http://schemas.microsoft.com/office/drawing/2014/main" id="{5E578A2A-7676-4CC1-8D09-F0F0D434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方法类别</a:t>
            </a:r>
          </a:p>
        </p:txBody>
      </p:sp>
      <p:sp>
        <p:nvSpPr>
          <p:cNvPr id="5" name="已收录论文的较高报告值（%）">
            <a:extLst xmlns:a="http://schemas.openxmlformats.org/drawingml/2006/main">
              <a:ext uri="{FF2B5EF4-FFF2-40B4-BE49-F238E27FC236}">
                <a16:creationId xmlns:a16="http://schemas.microsoft.com/office/drawing/2014/main" id="{3441258D-8CCD-4C85-8731-117FBF75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已收录论文的较高报告值（%）</a:t>
            </a:r>
          </a:p>
        </p:txBody>
      </p:sp>
      <p:sp>
        <p:nvSpPr>
          <p:cNvPr id="6" name="显式地图与场景结构">
            <a:extLst xmlns:a="http://schemas.openxmlformats.org/drawingml/2006/main">
              <a:ext uri="{FF2B5EF4-FFF2-40B4-BE49-F238E27FC236}">
                <a16:creationId xmlns:a16="http://schemas.microsoft.com/office/drawing/2014/main" id="{6E12BACE-FB88-4237-8DA1-657C4936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显式地图与场景结构</a:t>
            </a:r>
          </a:p>
        </p:txBody>
      </p:sp>
      <p:sp>
        <p:nvSpPr>
          <p:cNvPr id="7" name="用格子、实体与关系&#10;保存位置、语义和证据">
            <a:extLst xmlns:a="http://schemas.openxmlformats.org/drawingml/2006/main">
              <a:ext uri="{FF2B5EF4-FFF2-40B4-BE49-F238E27FC236}">
                <a16:creationId xmlns:a16="http://schemas.microsoft.com/office/drawing/2014/main" id="{ADE53B0E-E0C5-409E-8C91-1F26B448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用格子、实体与关系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保存位置、语义和证据</a:t>
            </a:r>
          </a:p>
        </p:txBody>
      </p:sp>
      <p:sp>
        <p:nvSpPr>
          <p:cNvPr id="8" name="学习式连续空间特征">
            <a:extLst xmlns:a="http://schemas.openxmlformats.org/drawingml/2006/main">
              <a:ext uri="{FF2B5EF4-FFF2-40B4-BE49-F238E27FC236}">
                <a16:creationId xmlns:a16="http://schemas.microsoft.com/office/drawing/2014/main" id="{EC16E91A-40A6-4CCA-94FD-73AD8CB0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学习式连续空间特征</a:t>
            </a:r>
          </a:p>
        </p:txBody>
      </p:sp>
      <p:sp>
        <p:nvSpPr>
          <p:cNvPr id="9" name="用空间向量表达实体，&#10;经投影或评分接入决策">
            <a:extLst xmlns:a="http://schemas.openxmlformats.org/drawingml/2006/main">
              <a:ext uri="{FF2B5EF4-FFF2-40B4-BE49-F238E27FC236}">
                <a16:creationId xmlns:a16="http://schemas.microsoft.com/office/drawing/2014/main" id="{882454A4-EDAB-4061-A767-EC14FF13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用空间向量表达实体，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经投影或评分接入决策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21A5C-0A00-4916-BDC5-B6BFDC40D1F3}"/>
              </a:ext>
            </a:extLst>
          </p:cNvPr>
          <p:cNvGraphicFramePr/>
          <p:nvPr/>
        </p:nvGraphicFramePr>
        <p:xfrm>
          <a:off xmlns:a="http://schemas.openxmlformats.org/drawingml/2006/main" x="4114800" y="2057400"/>
          <a:ext xmlns:a="http://schemas.openxmlformats.org/drawingml/2006/main" cx="7391400" cy="3343275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Unseen，0.25 m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66.7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25.7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Unseen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SoftNav（SR较高）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64.2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24.7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Unseen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MSGNav（SPL较高）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29.6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HM3D-ObjNav / Val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74.1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33.4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SG3D / 子任务与整任务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 s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16.6 t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14.7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GOAT两篇评测子集规模不同，保留各自结果，不作严格排名">
            <a:extLst xmlns:a="http://schemas.openxmlformats.org/drawingml/2006/main">
              <a:ext uri="{FF2B5EF4-FFF2-40B4-BE49-F238E27FC236}">
                <a16:creationId xmlns:a16="http://schemas.microsoft.com/office/drawing/2014/main" id="{4E7AC4E4-8405-4AEC-909B-1B3ADBEE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GOAT两篇评测子集规模不同，保留各自结果，不作严格排名。二维／三维与显式／连续属于不同属性。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10C026E-798E-400A-BECD-7F23250E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SR：成功率。SPL：按路径长度加权的成功率。仅限已收录论文，各评测协议分别展示</a:t>
            </a:r>
          </a:p>
        </p:txBody>
      </p:sp>
    </p:spTree>
    <p:extLst>
      <p:ext uri="{BB962C8B-B14F-4D97-AF65-F5344CB8AC3E}">
        <p14:creationId xmlns:p14="http://schemas.microsoft.com/office/powerpoint/2010/main" val="20962917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56DB37-987B-429A-BDE8-B18DD516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显式地图与场景结构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2BB333-2C69-4FFE-A4AA-F4973395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把空间单元、实体及关系保存成可查询的环境记录">
            <a:extLst xmlns:a="http://schemas.openxmlformats.org/drawingml/2006/main">
              <a:ext uri="{FF2B5EF4-FFF2-40B4-BE49-F238E27FC236}">
                <a16:creationId xmlns:a16="http://schemas.microsoft.com/office/drawing/2014/main" id="{E49790D9-1852-4EBE-8732-26BD7272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把空间单元、实体及关系保存成可查询的环境记录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2E5E226E-11D7-42D8-B8BB-C79CA225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建立空间记录">
            <a:extLst xmlns:a="http://schemas.openxmlformats.org/drawingml/2006/main">
              <a:ext uri="{FF2B5EF4-FFF2-40B4-BE49-F238E27FC236}">
                <a16:creationId xmlns:a16="http://schemas.microsoft.com/office/drawing/2014/main" id="{C9AB65A1-C8B4-485F-8A99-2FA1F63B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建立空间记录</a:t>
            </a:r>
          </a:p>
        </p:txBody>
      </p:sp>
      <p:sp>
        <p:nvSpPr>
          <p:cNvPr id="6" name="对齐多帧观测，生成地图格子或物体节点">
            <a:extLst xmlns:a="http://schemas.openxmlformats.org/drawingml/2006/main">
              <a:ext uri="{FF2B5EF4-FFF2-40B4-BE49-F238E27FC236}">
                <a16:creationId xmlns:a16="http://schemas.microsoft.com/office/drawing/2014/main" id="{EE55995A-AD84-4E08-BE18-F01F10C6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对齐多帧观测，生成地图格子或物体节点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08707A26-F20A-4E18-BBF1-AC07BAB4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合并重复观测">
            <a:extLst xmlns:a="http://schemas.openxmlformats.org/drawingml/2006/main">
              <a:ext uri="{FF2B5EF4-FFF2-40B4-BE49-F238E27FC236}">
                <a16:creationId xmlns:a16="http://schemas.microsoft.com/office/drawing/2014/main" id="{3E7E767B-2958-488B-9B26-60745061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037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合并重复观测</a:t>
            </a:r>
          </a:p>
        </p:txBody>
      </p:sp>
      <p:sp>
        <p:nvSpPr>
          <p:cNvPr id="9" name="维护位置、类别、对象身份与图像证据">
            <a:extLst xmlns:a="http://schemas.openxmlformats.org/drawingml/2006/main">
              <a:ext uri="{FF2B5EF4-FFF2-40B4-BE49-F238E27FC236}">
                <a16:creationId xmlns:a16="http://schemas.microsoft.com/office/drawing/2014/main" id="{73E1CEF5-0B25-468F-A4D5-DB490035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维护位置、类别、对象身份与图像证据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4F35E485-374A-40F4-A87E-0B38B2E9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按当前目标读取">
            <a:extLst xmlns:a="http://schemas.openxmlformats.org/drawingml/2006/main">
              <a:ext uri="{FF2B5EF4-FFF2-40B4-BE49-F238E27FC236}">
                <a16:creationId xmlns:a16="http://schemas.microsoft.com/office/drawing/2014/main" id="{D0B7E4B7-7059-4DBB-A5CF-971FBE12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按当前目标读取</a:t>
            </a:r>
          </a:p>
        </p:txBody>
      </p:sp>
      <p:sp>
        <p:nvSpPr>
          <p:cNvPr id="12" name="查询相关区域、物体、关系或支持图像">
            <a:extLst xmlns:a="http://schemas.openxmlformats.org/drawingml/2006/main">
              <a:ext uri="{FF2B5EF4-FFF2-40B4-BE49-F238E27FC236}">
                <a16:creationId xmlns:a16="http://schemas.microsoft.com/office/drawing/2014/main" id="{E90D3522-7B5D-42F9-A226-1E000622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查询相关区域、物体、关系或支持图像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AF9F6961-509F-42F0-B293-5EC29950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转换为导航子目标">
            <a:extLst xmlns:a="http://schemas.openxmlformats.org/drawingml/2006/main">
              <a:ext uri="{FF2B5EF4-FFF2-40B4-BE49-F238E27FC236}">
                <a16:creationId xmlns:a16="http://schemas.microsoft.com/office/drawing/2014/main" id="{55C86D93-0DA4-4D57-AC64-457A7F5C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转换为导航子目标</a:t>
            </a:r>
          </a:p>
        </p:txBody>
      </p:sp>
      <p:sp>
        <p:nvSpPr>
          <p:cNvPr id="15" name="选择探索前沿、目标位置或可见视点">
            <a:extLst xmlns:a="http://schemas.openxmlformats.org/drawingml/2006/main">
              <a:ext uri="{FF2B5EF4-FFF2-40B4-BE49-F238E27FC236}">
                <a16:creationId xmlns:a16="http://schemas.microsoft.com/office/drawing/2014/main" id="{583B0394-FF44-48D6-BA0C-DA49F614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3392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选择探索前沿、目标位置或可见视点</a:t>
            </a:r>
          </a:p>
        </p:txBody>
      </p:sp>
      <p:sp>
        <p:nvSpPr>
          <p:cNvPr id="16" name="类内实现：二维语义价值地图、三维物体图与视觉证据索引">
            <a:extLst xmlns:a="http://schemas.openxmlformats.org/drawingml/2006/main">
              <a:ext uri="{FF2B5EF4-FFF2-40B4-BE49-F238E27FC236}">
                <a16:creationId xmlns:a16="http://schemas.microsoft.com/office/drawing/2014/main" id="{608AA6E0-5EBB-48EC-88A0-738461BF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类内实现：二维语义价值地图、三维物体图与视觉证据索引</a:t>
            </a:r>
          </a:p>
        </p:txBody>
      </p:sp>
      <p:sp>
        <p:nvSpPr>
          <p:cNvPr id="17" name="收益：证据与位置易检查。限制：漏检、位姿误差与错误关联会">
            <a:extLst xmlns:a="http://schemas.openxmlformats.org/drawingml/2006/main">
              <a:ext uri="{FF2B5EF4-FFF2-40B4-BE49-F238E27FC236}">
                <a16:creationId xmlns:a16="http://schemas.microsoft.com/office/drawing/2014/main" id="{4AD642DB-F069-4066-A6B3-6A9D139B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收益：证据与位置易检查。限制：漏检、位姿误差与错误关联会随记录积累。</a:t>
            </a:r>
          </a:p>
        </p:txBody>
      </p:sp>
      <p:sp>
        <p:nvSpPr>
          <p:cNvPr id="1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66CA62A-E774-4CF7-976B-939F532D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机制依据原论文与阅读笔记归纳。代表实现和详细来源见讲稿备注</a:t>
            </a:r>
          </a:p>
        </p:txBody>
      </p:sp>
    </p:spTree>
    <p:extLst>
      <p:ext uri="{BB962C8B-B14F-4D97-AF65-F5344CB8AC3E}">
        <p14:creationId xmlns:p14="http://schemas.microsoft.com/office/powerpoint/2010/main" val="17917108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DEA66A-7F70-48E0-B52C-6894DAC1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MSGNav：三维场景图怎样用于导航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6AA809-F02D-4218-B283-E7E5940D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物体节点保留空间属性，图边保留共同观测的图像证据">
            <a:extLst xmlns:a="http://schemas.openxmlformats.org/drawingml/2006/main">
              <a:ext uri="{FF2B5EF4-FFF2-40B4-BE49-F238E27FC236}">
                <a16:creationId xmlns:a16="http://schemas.microsoft.com/office/drawing/2014/main" id="{7CD3039B-9C5A-4D5C-AB96-C15FA110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物体节点保留空间属性，图边保留共同观测的图像证据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072C0D0F-4F62-4704-80E2-8113223233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ac3c2fd864e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2798" y="1638300"/>
            <a:ext cx="10026404" cy="4362450"/>
          </a:xfrm>
          <a:prstGeom xmlns:a="http://schemas.openxmlformats.org/drawingml/2006/main" prst="rect">
            <a:avLst/>
          </a:prstGeom>
        </p:spPr>
      </p:pic>
      <p:sp>
        <p:nvSpPr>
          <p:cNvPr id="5" name="KSS筛选子图，AVU更新词汇，CLR读取决策反馈，VVD选">
            <a:extLst xmlns:a="http://schemas.openxmlformats.org/drawingml/2006/main">
              <a:ext uri="{FF2B5EF4-FFF2-40B4-BE49-F238E27FC236}">
                <a16:creationId xmlns:a16="http://schemas.microsoft.com/office/drawing/2014/main" id="{33599BD1-0657-490F-9A0E-470B4E65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KSS筛选子图，AVU更新词汇，CLR读取决策反馈，VVD选择终点观察位置。</a:t>
            </a:r>
            <a:endParaRPr sz="1725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F83EF60-5070-4845-8469-8ADB00E7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来源：MSGNav，图3（PDF第4页）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011901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A36C7C-5E31-4D74-A251-F91A01FD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学习式连续空间特征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2D51B4-4BEB-4A57-A5D4-8C38B925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用特征向量传递外观与几何信息，学习目标与实体的决策关系">
            <a:extLst xmlns:a="http://schemas.openxmlformats.org/drawingml/2006/main">
              <a:ext uri="{FF2B5EF4-FFF2-40B4-BE49-F238E27FC236}">
                <a16:creationId xmlns:a16="http://schemas.microsoft.com/office/drawing/2014/main" id="{7D415084-99EB-4541-BDA6-F770E822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用特征向量传递外观与几何信息，学习目标与实体的决策关系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514DFD96-F847-43CC-BB2E-08E47447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编码空间实体">
            <a:extLst xmlns:a="http://schemas.openxmlformats.org/drawingml/2006/main">
              <a:ext uri="{FF2B5EF4-FFF2-40B4-BE49-F238E27FC236}">
                <a16:creationId xmlns:a16="http://schemas.microsoft.com/office/drawing/2014/main" id="{933E07DB-F284-4925-9210-0750F494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编码空间实体</a:t>
            </a:r>
          </a:p>
        </p:txBody>
      </p:sp>
      <p:sp>
        <p:nvSpPr>
          <p:cNvPr id="6" name="把物体、区域与前沿表示成连续特征向量">
            <a:extLst xmlns:a="http://schemas.openxmlformats.org/drawingml/2006/main">
              <a:ext uri="{FF2B5EF4-FFF2-40B4-BE49-F238E27FC236}">
                <a16:creationId xmlns:a16="http://schemas.microsoft.com/office/drawing/2014/main" id="{DA839F1D-3E70-46C2-8167-D4D9C3DF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把物体、区域与前沿表示成连续特征向量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7A208E4-633C-4753-852F-67EDD7BE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对齐目标与特征">
            <a:extLst xmlns:a="http://schemas.openxmlformats.org/drawingml/2006/main">
              <a:ext uri="{FF2B5EF4-FFF2-40B4-BE49-F238E27FC236}">
                <a16:creationId xmlns:a16="http://schemas.microsoft.com/office/drawing/2014/main" id="{E3D6AF68-2D64-4FA9-8B7A-C2663E9E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037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对齐目标与特征</a:t>
            </a:r>
          </a:p>
        </p:txBody>
      </p:sp>
      <p:sp>
        <p:nvSpPr>
          <p:cNvPr id="9" name="通过投影、注意力或查询解码接入决策模型">
            <a:extLst xmlns:a="http://schemas.openxmlformats.org/drawingml/2006/main">
              <a:ext uri="{FF2B5EF4-FFF2-40B4-BE49-F238E27FC236}">
                <a16:creationId xmlns:a16="http://schemas.microsoft.com/office/drawing/2014/main" id="{4B0D671A-5653-49F1-88AB-98AEF383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通过投影、注意力或查询解码接入决策模型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F5A9E9E2-B74D-4E2D-9FF5-CFF4D1A8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联合评分或生成">
            <a:extLst xmlns:a="http://schemas.openxmlformats.org/drawingml/2006/main">
              <a:ext uri="{FF2B5EF4-FFF2-40B4-BE49-F238E27FC236}">
                <a16:creationId xmlns:a16="http://schemas.microsoft.com/office/drawing/2014/main" id="{BB608633-1BA5-4CB3-8D87-2930372F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联合评分或生成</a:t>
            </a:r>
          </a:p>
        </p:txBody>
      </p:sp>
      <p:sp>
        <p:nvSpPr>
          <p:cNvPr id="12" name="对候选打分，或生成下一目标与移动位置">
            <a:extLst xmlns:a="http://schemas.openxmlformats.org/drawingml/2006/main">
              <a:ext uri="{FF2B5EF4-FFF2-40B4-BE49-F238E27FC236}">
                <a16:creationId xmlns:a16="http://schemas.microsoft.com/office/drawing/2014/main" id="{2593BFD2-CAFC-4B5F-B4D7-4AB7BE77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对候选打分，或生成下一目标与移动位置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849DA756-2C9A-4CFF-9281-513B16A5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更新环境特征">
            <a:extLst xmlns:a="http://schemas.openxmlformats.org/drawingml/2006/main">
              <a:ext uri="{FF2B5EF4-FFF2-40B4-BE49-F238E27FC236}">
                <a16:creationId xmlns:a16="http://schemas.microsoft.com/office/drawing/2014/main" id="{D46AAD87-2D7E-42DD-BCF9-02F4B3DF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更新环境特征</a:t>
            </a:r>
          </a:p>
        </p:txBody>
      </p:sp>
      <p:sp>
        <p:nvSpPr>
          <p:cNvPr id="15" name="执行后合并新观测，刷新对象库与前沿">
            <a:extLst xmlns:a="http://schemas.openxmlformats.org/drawingml/2006/main">
              <a:ext uri="{FF2B5EF4-FFF2-40B4-BE49-F238E27FC236}">
                <a16:creationId xmlns:a16="http://schemas.microsoft.com/office/drawing/2014/main" id="{76EAA2B7-5DDF-4F71-9199-0454769F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3392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执行后合并新观测，刷新对象库与前沿</a:t>
            </a:r>
          </a:p>
        </p:txBody>
      </p:sp>
      <p:sp>
        <p:nvSpPr>
          <p:cNvPr id="16" name="类内实现：SoftNav空间soft tokens，MT">
            <a:extLst xmlns:a="http://schemas.openxmlformats.org/drawingml/2006/main">
              <a:ext uri="{FF2B5EF4-FFF2-40B4-BE49-F238E27FC236}">
                <a16:creationId xmlns:a16="http://schemas.microsoft.com/office/drawing/2014/main" id="{603BF5FC-3794-414E-AA9F-2D985379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类内实现：SoftNav空间soft tokens，MTU3D查询评分，D3D-VLP三维tokens</a:t>
            </a:r>
          </a:p>
        </p:txBody>
      </p:sp>
      <p:sp>
        <p:nvSpPr>
          <p:cNvPr id="17" name="收益：保留丰富连续信息。限制：含义较难直接解释，依赖编码">
            <a:extLst xmlns:a="http://schemas.openxmlformats.org/drawingml/2006/main">
              <a:ext uri="{FF2B5EF4-FFF2-40B4-BE49-F238E27FC236}">
                <a16:creationId xmlns:a16="http://schemas.microsoft.com/office/drawing/2014/main" id="{572DFD05-BB9D-4E70-B72C-69CFA50A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收益：保留丰富连续信息。限制：含义较难直接解释，依赖编码器和训练分布。</a:t>
            </a:r>
          </a:p>
        </p:txBody>
      </p:sp>
      <p:sp>
        <p:nvSpPr>
          <p:cNvPr id="1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C42C8F2-A4E4-491A-9ADF-48D41BB5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机制依据原论文与阅读笔记归纳。代表实现和详细来源见讲稿备注</a:t>
            </a:r>
          </a:p>
        </p:txBody>
      </p:sp>
    </p:spTree>
    <p:extLst>
      <p:ext uri="{BB962C8B-B14F-4D97-AF65-F5344CB8AC3E}">
        <p14:creationId xmlns:p14="http://schemas.microsoft.com/office/powerpoint/2010/main" val="7553150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2A1FA5-9769-409E-A28F-C67E00F8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SoftNav：三维特征的soft-token接口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FCAABF-D641-4F56-A4A5-64A8C0C0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47504-0D19-4298-B2B4-1C5EB0837C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75074b99d4259"/>
          <a:stretch xmlns:a="http://schemas.openxmlformats.org/drawingml/2006/main"/>
        </p:blipFill>
        <p:spPr>
          <a:xfrm xmlns:a="http://schemas.openxmlformats.org/drawingml/2006/main">
            <a:off x="685800" y="1595179"/>
            <a:ext cx="10820400" cy="3229493"/>
          </a:xfrm>
          <a:prstGeom xmlns:a="http://schemas.openxmlformats.org/drawingml/2006/main" prst="rect">
            <a:avLst/>
          </a:prstGeom>
        </p:spPr>
      </p:pic>
      <p:sp>
        <p:nvSpPr>
          <p:cNvPr id="4" name="PQ3D提供物体与前沿向量，MLP将768维特征投影到2">
            <a:extLst xmlns:a="http://schemas.openxmlformats.org/drawingml/2006/main">
              <a:ext uri="{FF2B5EF4-FFF2-40B4-BE49-F238E27FC236}">
                <a16:creationId xmlns:a16="http://schemas.microsoft.com/office/drawing/2014/main" id="{8947CFEF-C386-4314-9770-36C5D668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PQ3D提供物体与前沿向量，MLP将768维特征投影到2048维。</a:t>
            </a:r>
          </a:p>
        </p:txBody>
      </p:sp>
      <p:sp>
        <p:nvSpPr>
          <p:cNvPr id="5" name="空间向量直接进入VLM。视觉分支另保留最近16帧的压缩历">
            <a:extLst xmlns:a="http://schemas.openxmlformats.org/drawingml/2006/main">
              <a:ext uri="{FF2B5EF4-FFF2-40B4-BE49-F238E27FC236}">
                <a16:creationId xmlns:a16="http://schemas.microsoft.com/office/drawing/2014/main" id="{440FD7CF-1A76-4CC3-AC4C-8E3897C7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空间向量直接进入VLM。视觉分支另保留最近16帧的压缩历史。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6D33A336-5B62-446C-89B8-605007A7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来源：SoftNav Fig.2上半部分。下页继续展示融合决策与执行，原图两部分均保留</a:t>
            </a:r>
          </a:p>
        </p:txBody>
      </p:sp>
    </p:spTree>
    <p:extLst>
      <p:ext uri="{BB962C8B-B14F-4D97-AF65-F5344CB8AC3E}">
        <p14:creationId xmlns:p14="http://schemas.microsoft.com/office/powerpoint/2010/main" val="17405212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ED32D1-3DA5-4F0C-991F-920054AB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SoftNav：空间、视觉历史与语言联合决策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04DFF6-2432-40AA-AB96-890869A8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A8696-A1BE-4F92-A986-B80EF82CE1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7e2c29d274441"/>
          <a:stretch xmlns:a="http://schemas.openxmlformats.org/drawingml/2006/main"/>
        </p:blipFill>
        <p:spPr>
          <a:xfrm xmlns:a="http://schemas.openxmlformats.org/drawingml/2006/main">
            <a:off x="685800" y="1500548"/>
            <a:ext cx="10820400" cy="3504479"/>
          </a:xfrm>
          <a:prstGeom xmlns:a="http://schemas.openxmlformats.org/drawingml/2006/main" prst="rect">
            <a:avLst/>
          </a:prstGeom>
        </p:spPr>
      </p:pic>
      <p:sp>
        <p:nvSpPr>
          <p:cNvPr id="4" name="视觉历史、三维实体tokens与指令共同参与注意力计算。">
            <a:extLst xmlns:a="http://schemas.openxmlformats.org/drawingml/2006/main">
              <a:ext uri="{FF2B5EF4-FFF2-40B4-BE49-F238E27FC236}">
                <a16:creationId xmlns:a16="http://schemas.microsoft.com/office/drawing/2014/main" id="{0C5350A7-EDC0-423F-B51E-F5685277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视觉历史、三维实体tokens与指令共同参与注意力计算。</a:t>
            </a:r>
          </a:p>
        </p:txBody>
      </p:sp>
      <p:sp>
        <p:nvSpPr>
          <p:cNvPr id="5" name="输出二维探索坐标，再吸附到合法前沿并交由导航器执行。">
            <a:extLst xmlns:a="http://schemas.openxmlformats.org/drawingml/2006/main">
              <a:ext uri="{FF2B5EF4-FFF2-40B4-BE49-F238E27FC236}">
                <a16:creationId xmlns:a16="http://schemas.microsoft.com/office/drawing/2014/main" id="{1AF207DF-50AE-4381-A40C-07D82E9F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输出二维探索坐标，再吸附到合法前沿并交由导航器执行。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6B48D2F6-81D8-4899-8F04-1855FAA8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来源：SoftNav Fig.2下半部分。二维坐标输出不改变三维环境表征的归属</a:t>
            </a:r>
          </a:p>
        </p:txBody>
      </p:sp>
    </p:spTree>
    <p:extLst>
      <p:ext uri="{BB962C8B-B14F-4D97-AF65-F5344CB8AC3E}">
        <p14:creationId xmlns:p14="http://schemas.microsoft.com/office/powerpoint/2010/main" val="13347205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368A4C-E5AB-49A0-96C2-BFA6C525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环境表征：OVON与ObjectNav结果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020D54-9F70-4565-A614-86D8C205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1CDF962B-04F7-431E-AF11-40741D434E87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74.2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33.9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68.3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28.6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66.7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25.7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HM3D-ObjNav / Val，6类别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74.1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33.4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：每划分120 episodes、0">
            <a:extLst xmlns:a="http://schemas.openxmlformats.org/drawingml/2006/main">
              <a:ext uri="{FF2B5EF4-FFF2-40B4-BE49-F238E27FC236}">
                <a16:creationId xmlns:a16="http://schemas.microsoft.com/office/drawing/2014/main" id="{C85EC1EC-E2CF-4341-8AB6-25DD6D2B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SoftNav：每划分120 episodes、0.25 m。MSGNav：HM3D-ObjNav为1000 episodes、1 m。两者属于不同任务设置。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868B0BB-F500-42A0-AEE3-8A1F4D11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来源：SoftNav 表II；MSGNav 表2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226086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B0B03E-DE72-456B-9B36-093F573A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环境表征：GOAT与SG3D结果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4656D1-F14A-412E-8546-91A68119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D891E01A-75AC-453B-B104-F2F677F3BD9B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402907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67.2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63.2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25.8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64.2</a:t>
                      </a:r>
                      <a:endParaRPr sz="1725" b="1">
                        <a:solidFill>
                          <a:srgbClr val="12776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24.7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29.6</a:t>
                      </a:r>
                      <a:endParaRPr sz="1725" b="1">
                        <a:solidFill>
                          <a:srgbClr val="12776C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SG3D / 338 episodes / 1351子任务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47.2 s / 16.6 t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的GOAT每划分30 episode">
            <a:extLst xmlns:a="http://schemas.openxmlformats.org/drawingml/2006/main">
              <a:ext uri="{FF2B5EF4-FFF2-40B4-BE49-F238E27FC236}">
                <a16:creationId xmlns:a16="http://schemas.microsoft.com/office/drawing/2014/main" id="{792A6F15-5FB1-45AD-A4C9-C0143AAA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SoftNav的GOAT每划分30 episodes，MSGNav为360 episodes。SG3D的s/t分别表示子任务／整任务SR。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9C1AEF9-0798-427D-8036-B9FD1050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来源：SoftNav 表III–IV；MSGNav 表1。SPL最高报告值与SR最高报告值分别保留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462386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B56F3A-C711-48B1-9C2E-98DF9427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历史记忆：方法与评测概览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0A75AF-E78A-4ECE-9109-7C859E98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研究问题：有限上下文中怎样利用过去见过的环境">
            <a:extLst xmlns:a="http://schemas.openxmlformats.org/drawingml/2006/main">
              <a:ext uri="{FF2B5EF4-FFF2-40B4-BE49-F238E27FC236}">
                <a16:creationId xmlns:a16="http://schemas.microsoft.com/office/drawing/2014/main" id="{CB9268C8-FC22-4720-98FD-773EF6AB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研究问题：有限上下文中怎样利用过去见过的环境</a:t>
            </a:r>
          </a:p>
        </p:txBody>
      </p:sp>
      <p:sp>
        <p:nvSpPr>
          <p:cNvPr id="4" name="方法类别">
            <a:extLst xmlns:a="http://schemas.openxmlformats.org/drawingml/2006/main">
              <a:ext uri="{FF2B5EF4-FFF2-40B4-BE49-F238E27FC236}">
                <a16:creationId xmlns:a16="http://schemas.microsoft.com/office/drawing/2014/main" id="{B38C1EFB-AD50-416B-9E64-AAB84AAB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方法类别</a:t>
            </a:r>
          </a:p>
        </p:txBody>
      </p:sp>
      <p:sp>
        <p:nvSpPr>
          <p:cNvPr id="5" name="已收录论文的较高报告值（%）">
            <a:extLst xmlns:a="http://schemas.openxmlformats.org/drawingml/2006/main">
              <a:ext uri="{FF2B5EF4-FFF2-40B4-BE49-F238E27FC236}">
                <a16:creationId xmlns:a16="http://schemas.microsoft.com/office/drawing/2014/main" id="{FE7E875D-2414-4F58-91EF-23288A57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已收录论文的较高报告值（%）</a:t>
            </a:r>
          </a:p>
        </p:txBody>
      </p:sp>
      <p:sp>
        <p:nvSpPr>
          <p:cNvPr id="6" name="观察历史的压缩与重放">
            <a:extLst xmlns:a="http://schemas.openxmlformats.org/drawingml/2006/main">
              <a:ext uri="{FF2B5EF4-FFF2-40B4-BE49-F238E27FC236}">
                <a16:creationId xmlns:a16="http://schemas.microsoft.com/office/drawing/2014/main" id="{F6B5DD54-BCB9-42D0-A1E1-08D08254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观察历史的压缩与重放</a:t>
            </a:r>
          </a:p>
        </p:txBody>
      </p:sp>
      <p:sp>
        <p:nvSpPr>
          <p:cNvPr id="7" name="保留图像或视觉tokens，&#10;本次决策重新读取历史">
            <a:extLst xmlns:a="http://schemas.openxmlformats.org/drawingml/2006/main">
              <a:ext uri="{FF2B5EF4-FFF2-40B4-BE49-F238E27FC236}">
                <a16:creationId xmlns:a16="http://schemas.microsoft.com/office/drawing/2014/main" id="{6A802E63-5935-4CDE-AC2A-7DFDBE02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保留图像或视觉tokens，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本次决策重新读取历史</a:t>
            </a:r>
          </a:p>
        </p:txBody>
      </p:sp>
      <p:sp>
        <p:nvSpPr>
          <p:cNvPr id="8" name="递归状态与缓存更新">
            <a:extLst xmlns:a="http://schemas.openxmlformats.org/drawingml/2006/main">
              <a:ext uri="{FF2B5EF4-FFF2-40B4-BE49-F238E27FC236}">
                <a16:creationId xmlns:a16="http://schemas.microsoft.com/office/drawing/2014/main" id="{88EE2566-88D7-42DA-977B-006E3E9C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递归状态与缓存更新</a:t>
            </a:r>
          </a:p>
        </p:txBody>
      </p:sp>
      <p:sp>
        <p:nvSpPr>
          <p:cNvPr id="9" name="保留可更新的内部状态，&#10;新观测增量读写历史缓存">
            <a:extLst xmlns:a="http://schemas.openxmlformats.org/drawingml/2006/main">
              <a:ext uri="{FF2B5EF4-FFF2-40B4-BE49-F238E27FC236}">
                <a16:creationId xmlns:a16="http://schemas.microsoft.com/office/drawing/2014/main" id="{66E8E673-9A91-4163-B288-72BEEBE9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保留可更新的内部状态，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新观测增量读写历史缓存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32C86-8F14-4A9A-8E26-E92B0B19DB15}"/>
              </a:ext>
            </a:extLst>
          </p:cNvPr>
          <p:cNvGraphicFramePr/>
          <p:nvPr/>
        </p:nvGraphicFramePr>
        <p:xfrm>
          <a:off xmlns:a="http://schemas.openxmlformats.org/drawingml/2006/main" x="4114800" y="2057400"/>
          <a:ext xmlns:a="http://schemas.openxmlformats.org/drawingml/2006/main" cx="7391400" cy="27622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Val-Unseen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62.5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34.9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Val-Unseen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62.7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56.9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R2R-CE / Val-Unseen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JanusVLN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60.5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56.8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RxR-CE / Val-Unseen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JanusVLN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56.2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47.5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straNav按论文1 m判据；JanusVLN为额外">
            <a:extLst xmlns:a="http://schemas.openxmlformats.org/drawingml/2006/main">
              <a:ext uri="{FF2B5EF4-FFF2-40B4-BE49-F238E27FC236}">
                <a16:creationId xmlns:a16="http://schemas.microsoft.com/office/drawing/2014/main" id="{8631B53C-8671-4E13-8982-CAE486D5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AstraNav按论文1 m判据；JanusVLN为额外数据版、单RGB。目标搜索与路线指令任务分别展示。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36469C0-C24B-410B-9A1E-A0DEB705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SR：成功率。SPL：按路径长度加权的成功率。仅限已收录论文，各评测协议分别展示</a:t>
            </a:r>
          </a:p>
        </p:txBody>
      </p:sp>
    </p:spTree>
    <p:extLst>
      <p:ext uri="{BB962C8B-B14F-4D97-AF65-F5344CB8AC3E}">
        <p14:creationId xmlns:p14="http://schemas.microsoft.com/office/powerpoint/2010/main" val="10025482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DEB7A1-D0AD-41A5-8A03-E7D6708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观察历史的压缩与重放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9DF4FB-03D6-4A35-8F59-446E280B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保存可再次读取的视觉经历，在当前决策中提供历史上下文">
            <a:extLst xmlns:a="http://schemas.openxmlformats.org/drawingml/2006/main">
              <a:ext uri="{FF2B5EF4-FFF2-40B4-BE49-F238E27FC236}">
                <a16:creationId xmlns:a16="http://schemas.microsoft.com/office/drawing/2014/main" id="{2D779EDF-B72D-49E4-AE1F-B672F0DC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保存可再次读取的视觉经历，在当前决策中提供历史上下文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764D45B8-25B0-468E-A6C3-3AD64782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保存观察与位置">
            <a:extLst xmlns:a="http://schemas.openxmlformats.org/drawingml/2006/main">
              <a:ext uri="{FF2B5EF4-FFF2-40B4-BE49-F238E27FC236}">
                <a16:creationId xmlns:a16="http://schemas.microsoft.com/office/drawing/2014/main" id="{D62F3BB3-40ED-4E56-9AB1-970C93AC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保存观察与位置</a:t>
            </a:r>
          </a:p>
        </p:txBody>
      </p:sp>
      <p:sp>
        <p:nvSpPr>
          <p:cNvPr id="6" name="存储图像或已编码视觉tokens，必要时关联位姿">
            <a:extLst xmlns:a="http://schemas.openxmlformats.org/drawingml/2006/main">
              <a:ext uri="{FF2B5EF4-FFF2-40B4-BE49-F238E27FC236}">
                <a16:creationId xmlns:a16="http://schemas.microsoft.com/office/drawing/2014/main" id="{507F96B8-460E-42C2-8498-4D87B2B0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存储图像或已编码视觉tokens，必要时关联位姿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37A8E342-FCD2-4E9D-8DF1-2EF26D70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控制历史信息量">
            <a:extLst xmlns:a="http://schemas.openxmlformats.org/drawingml/2006/main">
              <a:ext uri="{FF2B5EF4-FFF2-40B4-BE49-F238E27FC236}">
                <a16:creationId xmlns:a16="http://schemas.microsoft.com/office/drawing/2014/main" id="{80B2A1C0-43D8-4742-81A3-0629CE7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037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控制历史信息量</a:t>
            </a:r>
          </a:p>
        </p:txBody>
      </p:sp>
      <p:sp>
        <p:nvSpPr>
          <p:cNvPr id="9" name="减少每帧tokens、分级压缩或合并相似观察">
            <a:extLst xmlns:a="http://schemas.openxmlformats.org/drawingml/2006/main">
              <a:ext uri="{FF2B5EF4-FFF2-40B4-BE49-F238E27FC236}">
                <a16:creationId xmlns:a16="http://schemas.microsoft.com/office/drawing/2014/main" id="{F8A8C81B-0D81-440C-92E4-6EE2B5D6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减少每帧tokens、分级压缩或合并相似观察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06DF3C2E-AC69-4385-BCE3-CB202052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重放选取的历史">
            <a:extLst xmlns:a="http://schemas.openxmlformats.org/drawingml/2006/main">
              <a:ext uri="{FF2B5EF4-FFF2-40B4-BE49-F238E27FC236}">
                <a16:creationId xmlns:a16="http://schemas.microsoft.com/office/drawing/2014/main" id="{7C0548C3-C961-4F32-876E-0FBE9606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重放选取的历史</a:t>
            </a:r>
          </a:p>
        </p:txBody>
      </p:sp>
      <p:sp>
        <p:nvSpPr>
          <p:cNvPr id="12" name="与当前观测及目标共同输入本次决策模型">
            <a:extLst xmlns:a="http://schemas.openxmlformats.org/drawingml/2006/main">
              <a:ext uri="{FF2B5EF4-FFF2-40B4-BE49-F238E27FC236}">
                <a16:creationId xmlns:a16="http://schemas.microsoft.com/office/drawing/2014/main" id="{BD5F21BF-4195-42F0-BD47-647D11F4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与当前观测及目标共同输入本次决策模型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42483D75-85C4-4E2F-9DD9-C9533086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利用过去出现的目标">
            <a:extLst xmlns:a="http://schemas.openxmlformats.org/drawingml/2006/main">
              <a:ext uri="{FF2B5EF4-FFF2-40B4-BE49-F238E27FC236}">
                <a16:creationId xmlns:a16="http://schemas.microsoft.com/office/drawing/2014/main" id="{4B6D94F3-309A-4DAB-97DE-085DB2B7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利用过去出现的目标</a:t>
            </a:r>
          </a:p>
        </p:txBody>
      </p:sp>
      <p:sp>
        <p:nvSpPr>
          <p:cNvPr id="15" name="后续任务重读经历，减少重复探索">
            <a:extLst xmlns:a="http://schemas.openxmlformats.org/drawingml/2006/main">
              <a:ext uri="{FF2B5EF4-FFF2-40B4-BE49-F238E27FC236}">
                <a16:creationId xmlns:a16="http://schemas.microsoft.com/office/drawing/2014/main" id="{3883B4DB-ACED-48E0-A10C-61E436FF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3392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后续任务重读经历，减少重复探索</a:t>
            </a:r>
          </a:p>
        </p:txBody>
      </p:sp>
      <p:sp>
        <p:nvSpPr>
          <p:cNvPr id="16" name="类内实现：AstraNav每帧压缩，Uni-NaVid分">
            <a:extLst xmlns:a="http://schemas.openxmlformats.org/drawingml/2006/main">
              <a:ext uri="{FF2B5EF4-FFF2-40B4-BE49-F238E27FC236}">
                <a16:creationId xmlns:a16="http://schemas.microsoft.com/office/drawing/2014/main" id="{F9968164-C0AB-4FF8-A9B4-2D3CCF57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类内实现：AstraNav每帧压缩，Uni-NaVid分级历史，SoftNav近期窗口</a:t>
            </a:r>
          </a:p>
        </p:txBody>
      </p:sp>
      <p:sp>
        <p:nvSpPr>
          <p:cNvPr id="17" name="收益：可复用视觉经历。限制：历史越长成本越高，强压缩会损">
            <a:extLst xmlns:a="http://schemas.openxmlformats.org/drawingml/2006/main">
              <a:ext uri="{FF2B5EF4-FFF2-40B4-BE49-F238E27FC236}">
                <a16:creationId xmlns:a16="http://schemas.microsoft.com/office/drawing/2014/main" id="{ED3F7CA7-FBD0-4600-BF90-E71F368D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收益：可复用视觉经历。限制：历史越长成本越高，强压缩会损失细节。</a:t>
            </a:r>
          </a:p>
        </p:txBody>
      </p:sp>
      <p:sp>
        <p:nvSpPr>
          <p:cNvPr id="1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C4D3AED-D7CD-4E67-9E8F-D660B452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机制依据原论文与阅读笔记归纳。代表实现和详细来源见讲稿备注</a:t>
            </a:r>
          </a:p>
        </p:txBody>
      </p:sp>
    </p:spTree>
    <p:extLst>
      <p:ext uri="{BB962C8B-B14F-4D97-AF65-F5344CB8AC3E}">
        <p14:creationId xmlns:p14="http://schemas.microsoft.com/office/powerpoint/2010/main" val="7826121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594D9B-5213-467C-B400-6FD67CA1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AstraNav：压缩后读取长期历史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793219-4C67-4336-B363-CCA8EE1E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主配置每帧视觉token：原始598个，压缩后30个">
            <a:extLst xmlns:a="http://schemas.openxmlformats.org/drawingml/2006/main">
              <a:ext uri="{FF2B5EF4-FFF2-40B4-BE49-F238E27FC236}">
                <a16:creationId xmlns:a16="http://schemas.microsoft.com/office/drawing/2014/main" id="{9698D53F-26EF-439C-A8F7-30F1C7E5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主配置每帧视觉token：原始598个，压缩后30个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CB2A8AE7-388B-4704-883A-E08A115C6F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dd775891d4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1100" y="1790700"/>
            <a:ext cx="982980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图像与位姿成对输入模型，用于预测目标位置或下一探索前沿坐标。">
            <a:extLst xmlns:a="http://schemas.openxmlformats.org/drawingml/2006/main">
              <a:ext uri="{FF2B5EF4-FFF2-40B4-BE49-F238E27FC236}">
                <a16:creationId xmlns:a16="http://schemas.microsoft.com/office/drawing/2014/main" id="{AF05DF6E-5C70-44AA-9F72-2A986B2A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图像与位姿成对输入模型，用于预测目标位置或下一探索前沿坐标。</a:t>
            </a:r>
            <a:endParaRPr sz="1800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27BC03F8-60D0-4A14-8768-F4FA6BD7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来源：AstraNav-Memory，图2（PDF第4页）；压缩算子按正文第3.2节解释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929438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06DE0F-3D2B-4D37-8DDC-0B42979F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递归状态与缓存更新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B344E0-DA07-4161-AA43-75B74C9B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3" name="把历史保留在跨步更新的状态中，每次只增量处理新观察">
            <a:extLst xmlns:a="http://schemas.openxmlformats.org/drawingml/2006/main">
              <a:ext uri="{FF2B5EF4-FFF2-40B4-BE49-F238E27FC236}">
                <a16:creationId xmlns:a16="http://schemas.microsoft.com/office/drawing/2014/main" id="{E3E3C061-2198-437C-BCC3-6722EE1D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把历史保留在跨步更新的状态中，每次只增量处理新观察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9B85F704-1484-4CB3-98FA-4DB5379C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读取历史状态">
            <a:extLst xmlns:a="http://schemas.openxmlformats.org/drawingml/2006/main">
              <a:ext uri="{FF2B5EF4-FFF2-40B4-BE49-F238E27FC236}">
                <a16:creationId xmlns:a16="http://schemas.microsoft.com/office/drawing/2014/main" id="{754DA7A4-2B83-42D8-AE36-AF766A1E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读取历史状态</a:t>
            </a:r>
          </a:p>
        </p:txBody>
      </p:sp>
      <p:sp>
        <p:nvSpPr>
          <p:cNvPr id="6" name="当前帧查询已保存的几何特征或Key／Value">
            <a:extLst xmlns:a="http://schemas.openxmlformats.org/drawingml/2006/main">
              <a:ext uri="{FF2B5EF4-FFF2-40B4-BE49-F238E27FC236}">
                <a16:creationId xmlns:a16="http://schemas.microsoft.com/office/drawing/2014/main" id="{F1070F87-6075-4B46-B834-F96D607C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当前帧查询已保存的几何特征或Key／Value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7111F392-210B-486A-A625-A414C125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写入当前观察">
            <a:extLst xmlns:a="http://schemas.openxmlformats.org/drawingml/2006/main">
              <a:ext uri="{FF2B5EF4-FFF2-40B4-BE49-F238E27FC236}">
                <a16:creationId xmlns:a16="http://schemas.microsoft.com/office/drawing/2014/main" id="{3F75236F-FDD8-4466-8110-013938A0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037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写入当前观察</a:t>
            </a:r>
          </a:p>
        </p:txBody>
      </p:sp>
      <p:sp>
        <p:nvSpPr>
          <p:cNvPr id="9" name="新特征进入状态，供后续导航步使用">
            <a:extLst xmlns:a="http://schemas.openxmlformats.org/drawingml/2006/main">
              <a:ext uri="{FF2B5EF4-FFF2-40B4-BE49-F238E27FC236}">
                <a16:creationId xmlns:a16="http://schemas.microsoft.com/office/drawing/2014/main" id="{08882B42-06B6-415E-88AD-8586D277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新特征进入状态，供后续导航步使用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A6FE298F-B098-4B21-98C5-233E4D26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维护有限容量">
            <a:extLst xmlns:a="http://schemas.openxmlformats.org/drawingml/2006/main">
              <a:ext uri="{FF2B5EF4-FFF2-40B4-BE49-F238E27FC236}">
                <a16:creationId xmlns:a16="http://schemas.microsoft.com/office/drawing/2014/main" id="{D100B36C-C803-447D-A5C4-82F1676E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维护有限容量</a:t>
            </a:r>
          </a:p>
        </p:txBody>
      </p:sp>
      <p:sp>
        <p:nvSpPr>
          <p:cNvPr id="12" name="保留初始锚点与近期窗口，移除中间历史">
            <a:extLst xmlns:a="http://schemas.openxmlformats.org/drawingml/2006/main">
              <a:ext uri="{FF2B5EF4-FFF2-40B4-BE49-F238E27FC236}">
                <a16:creationId xmlns:a16="http://schemas.microsoft.com/office/drawing/2014/main" id="{CEC0E466-2E5B-4743-B0AF-6C3D5B56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保留初始锚点与近期窗口，移除中间历史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92874989-1B79-4F35-8C57-08504CA1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融合当前决策">
            <a:extLst xmlns:a="http://schemas.openxmlformats.org/drawingml/2006/main">
              <a:ext uri="{FF2B5EF4-FFF2-40B4-BE49-F238E27FC236}">
                <a16:creationId xmlns:a16="http://schemas.microsoft.com/office/drawing/2014/main" id="{152BCBBB-87FE-4C07-9D1E-6B42BA37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融合当前决策</a:t>
            </a:r>
          </a:p>
        </p:txBody>
      </p:sp>
      <p:sp>
        <p:nvSpPr>
          <p:cNvPr id="15" name="将历史增强的空间特征与语义、指令结合">
            <a:extLst xmlns:a="http://schemas.openxmlformats.org/drawingml/2006/main">
              <a:ext uri="{FF2B5EF4-FFF2-40B4-BE49-F238E27FC236}">
                <a16:creationId xmlns:a16="http://schemas.microsoft.com/office/drawing/2014/main" id="{46A55653-258E-4F09-9803-4C90D812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3392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将历史增强的空间特征与语义、指令结合</a:t>
            </a:r>
          </a:p>
        </p:txBody>
      </p:sp>
      <p:sp>
        <p:nvSpPr>
          <p:cNvPr id="16" name="KV缓存是跨步状态的一种实现，视觉特征缓存与语言模型KV">
            <a:extLst xmlns:a="http://schemas.openxmlformats.org/drawingml/2006/main">
              <a:ext uri="{FF2B5EF4-FFF2-40B4-BE49-F238E27FC236}">
                <a16:creationId xmlns:a16="http://schemas.microsoft.com/office/drawing/2014/main" id="{0FACC07A-268F-4357-B343-37C3D3F5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KV缓存是跨步状态的一种实现，视觉特征缓存与语言模型KV需分别说明</a:t>
            </a:r>
          </a:p>
        </p:txBody>
      </p:sp>
      <p:sp>
        <p:nvSpPr>
          <p:cNvPr id="17" name="收益：减少旧观察的重复编码。限制：窗口会遗忘，旧状态误差">
            <a:extLst xmlns:a="http://schemas.openxmlformats.org/drawingml/2006/main">
              <a:ext uri="{FF2B5EF4-FFF2-40B4-BE49-F238E27FC236}">
                <a16:creationId xmlns:a16="http://schemas.microsoft.com/office/drawing/2014/main" id="{2C96E4BD-7939-4977-91B2-E229EC58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收益：减少旧观察的重复编码。限制：窗口会遗忘，旧状态误差可能继续传播。</a:t>
            </a:r>
          </a:p>
        </p:txBody>
      </p:sp>
      <p:sp>
        <p:nvSpPr>
          <p:cNvPr id="1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6BB746D-5684-42BB-9DF2-E78A6C05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机制依据原论文与阅读笔记归纳。代表实现和详细来源见讲稿备注</a:t>
            </a:r>
          </a:p>
        </p:txBody>
      </p:sp>
    </p:spTree>
    <p:extLst>
      <p:ext uri="{BB962C8B-B14F-4D97-AF65-F5344CB8AC3E}">
        <p14:creationId xmlns:p14="http://schemas.microsoft.com/office/powerpoint/2010/main" val="19257374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B907EA-A190-4993-AE57-BF3288D4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JanusVLN：语义历史与流式几何缓存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F0BD88-BF34-4E9A-9D7B-863B191B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E6A54-06C2-46AA-B8D2-31830B57DA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fc79745c64df7"/>
          <a:stretch xmlns:a="http://schemas.openxmlformats.org/drawingml/2006/main"/>
        </p:blipFill>
        <p:spPr>
          <a:xfrm xmlns:a="http://schemas.openxmlformats.org/drawingml/2006/main">
            <a:off x="2803356" y="1257300"/>
            <a:ext cx="6585289" cy="36766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48A50-D8F2-4DB9-A50C-B3247C6BC7AE}"/>
              </a:ext>
            </a:extLst>
          </p:cNvPr>
          <p:cNvGraphicFramePr/>
          <p:nvPr/>
        </p:nvGraphicFramePr>
        <p:xfrm>
          <a:off xmlns:a="http://schemas.openxmlformats.org/drawingml/2006/main" x="685800" y="5095875"/>
          <a:ext xmlns:a="http://schemas.openxmlformats.org/drawingml/2006/main" cx="10820400" cy="12573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238375"/>
                <a:gridCol w="8582025"/>
              </a:tblGrid>
              <a:tr h="3810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分支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公开评测路径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4381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语义分支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重放采样历史图像，最多9张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几何分支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VGGT跨步KV，保留初始8帧与近期48帧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D635544-1F02-4AFE-8D99-A6BAA110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来源：JanusVLN Fig.2及官方实现核对。纯RGB输入仍可使用学习到的三维先验</a:t>
            </a:r>
          </a:p>
        </p:txBody>
      </p:sp>
    </p:spTree>
    <p:extLst>
      <p:ext uri="{BB962C8B-B14F-4D97-AF65-F5344CB8AC3E}">
        <p14:creationId xmlns:p14="http://schemas.microsoft.com/office/powerpoint/2010/main" val="20603968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1AE609-944B-4265-B4A7-B1BE2820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历史记忆：各benchmark与划分结果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C991BE-035F-43C3-AF93-D4C73256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25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4EA9B770-F8A4-4534-9B44-4782A6C7E6A3}"/>
              </a:ext>
            </a:extLst>
          </p:cNvPr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46482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65.6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35.4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57.5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62.5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34.9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65.5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66.8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54.7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62.7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56.9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60.5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56.8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56.2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补充：JanusVLN另报OVON Val-Uns">
            <a:extLst xmlns:a="http://schemas.openxmlformats.org/drawingml/2006/main">
              <a:ext uri="{FF2B5EF4-FFF2-40B4-BE49-F238E27FC236}">
                <a16:creationId xmlns:a16="http://schemas.microsoft.com/office/drawing/2014/main" id="{CFCC55F1-E6E4-4AFE-8040-22FC7BAD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补充：JanusVLN另报OVON Val-Unseen为44.9／31.7，评测细节披露有限，不与AstraNav作严格排名。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243E885-C16C-48F9-A86E-E59B6A3B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来源：AstraNav-Memory 表1–2；JanusVLN 表1–2及附录表6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333068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C10259-F0DF-4FD4-985C-04200D57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探索与目标搜索：方法与评测概览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6EF7C58-EFA4-430D-8585-651F9B96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3" name="研究问题：目标尚未出现时，下一探索位置怎样选择">
            <a:extLst xmlns:a="http://schemas.openxmlformats.org/drawingml/2006/main">
              <a:ext uri="{FF2B5EF4-FFF2-40B4-BE49-F238E27FC236}">
                <a16:creationId xmlns:a16="http://schemas.microsoft.com/office/drawing/2014/main" id="{BF093577-B4E4-495C-8E63-6D57FDBD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研究问题：目标尚未出现时，下一探索位置怎样选择</a:t>
            </a:r>
          </a:p>
        </p:txBody>
      </p:sp>
      <p:sp>
        <p:nvSpPr>
          <p:cNvPr id="4" name="方法类别">
            <a:extLst xmlns:a="http://schemas.openxmlformats.org/drawingml/2006/main">
              <a:ext uri="{FF2B5EF4-FFF2-40B4-BE49-F238E27FC236}">
                <a16:creationId xmlns:a16="http://schemas.microsoft.com/office/drawing/2014/main" id="{1C707B0B-1517-479F-8E6A-491168DC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方法类别</a:t>
            </a:r>
          </a:p>
        </p:txBody>
      </p:sp>
      <p:sp>
        <p:nvSpPr>
          <p:cNvPr id="5" name="已收录论文的较高报告值（%）">
            <a:extLst xmlns:a="http://schemas.openxmlformats.org/drawingml/2006/main">
              <a:ext uri="{FF2B5EF4-FFF2-40B4-BE49-F238E27FC236}">
                <a16:creationId xmlns:a16="http://schemas.microsoft.com/office/drawing/2014/main" id="{74E3C072-27FD-42E2-B0B8-A10E176E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已收录论文的较高报告值（%）</a:t>
            </a:r>
          </a:p>
        </p:txBody>
      </p:sp>
      <p:sp>
        <p:nvSpPr>
          <p:cNvPr id="6" name="语义引导的前沿搜索">
            <a:extLst xmlns:a="http://schemas.openxmlformats.org/drawingml/2006/main">
              <a:ext uri="{FF2B5EF4-FFF2-40B4-BE49-F238E27FC236}">
                <a16:creationId xmlns:a16="http://schemas.microsoft.com/office/drawing/2014/main" id="{A7BB76E3-5107-4B7C-AB10-06A58954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语义引导的前沿搜索</a:t>
            </a:r>
          </a:p>
        </p:txBody>
      </p:sp>
      <p:sp>
        <p:nvSpPr>
          <p:cNvPr id="7" name="以未知区域边界为候选，&#10;按目标相关性选择下一位置">
            <a:extLst xmlns:a="http://schemas.openxmlformats.org/drawingml/2006/main">
              <a:ext uri="{FF2B5EF4-FFF2-40B4-BE49-F238E27FC236}">
                <a16:creationId xmlns:a16="http://schemas.microsoft.com/office/drawing/2014/main" id="{52FF8FC1-F3B1-46DA-81E9-D6048C91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以未知区域边界为候选，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按目标相关性选择下一位置</a:t>
            </a:r>
          </a:p>
        </p:txBody>
      </p:sp>
      <p:sp>
        <p:nvSpPr>
          <p:cNvPr id="8" name="同类方法的实现差异">
            <a:extLst xmlns:a="http://schemas.openxmlformats.org/drawingml/2006/main">
              <a:ext uri="{FF2B5EF4-FFF2-40B4-BE49-F238E27FC236}">
                <a16:creationId xmlns:a16="http://schemas.microsoft.com/office/drawing/2014/main" id="{7B505A76-F80E-482F-B614-F99BD2AC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同类方法的实现差异</a:t>
            </a:r>
          </a:p>
        </p:txBody>
      </p:sp>
      <p:sp>
        <p:nvSpPr>
          <p:cNvPr id="9" name="地图赋值或图像前沿评分，&#10;可再结合信息增益与距离">
            <a:extLst xmlns:a="http://schemas.openxmlformats.org/drawingml/2006/main">
              <a:ext uri="{FF2B5EF4-FFF2-40B4-BE49-F238E27FC236}">
                <a16:creationId xmlns:a16="http://schemas.microsoft.com/office/drawing/2014/main" id="{9356ECC7-CA51-4917-8274-DF937545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地图赋值或图像前沿评分，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可再结合信息增益与距离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A5882-15DE-4936-B203-F121024FF251}"/>
              </a:ext>
            </a:extLst>
          </p:cNvPr>
          <p:cNvGraphicFramePr/>
          <p:nvPr/>
        </p:nvGraphicFramePr>
        <p:xfrm>
          <a:off xmlns:a="http://schemas.openxmlformats.org/drawingml/2006/main" x="4114800" y="2057400"/>
          <a:ext xmlns:a="http://schemas.openxmlformats.org/drawingml/2006/main" cx="7391400" cy="39243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Gibson / Val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VLFM†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52.2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ObjectNav / Val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77.3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35.6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MP3D ObjectNav / Val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40.7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17.8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VLFM†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35.2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18.6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Synonyms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VLFM†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32.4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17.3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Unseen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20.1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† 本方向仅一篇报告该benchmark或划分。VLFM">
            <a:extLst xmlns:a="http://schemas.openxmlformats.org/drawingml/2006/main">
              <a:ext uri="{FF2B5EF4-FFF2-40B4-BE49-F238E27FC236}">
                <a16:creationId xmlns:a16="http://schemas.microsoft.com/office/drawing/2014/main" id="{A176EF26-CDC2-47D3-82F4-CA29D675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† 本方向仅一篇报告该benchmark或划分。VLFM的OVON结果来自基准论文重评，未报告项不补零。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6A038200-1F10-45ED-B47A-DBF0096B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SR：成功率。SPL：按路径长度加权的成功率。仅限已收录论文，各评测协议分别展示</a:t>
            </a:r>
          </a:p>
        </p:txBody>
      </p:sp>
    </p:spTree>
    <p:extLst>
      <p:ext uri="{BB962C8B-B14F-4D97-AF65-F5344CB8AC3E}">
        <p14:creationId xmlns:p14="http://schemas.microsoft.com/office/powerpoint/2010/main" val="13135476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50C5D4-CD89-4024-B864-C437BCDF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语义引导的前沿搜索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345D1D-5551-48A9-806B-779EF1E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3" name="先评价哪些未知区域值得探索，再将候选位置交给导航执行器">
            <a:extLst xmlns:a="http://schemas.openxmlformats.org/drawingml/2006/main">
              <a:ext uri="{FF2B5EF4-FFF2-40B4-BE49-F238E27FC236}">
                <a16:creationId xmlns:a16="http://schemas.microsoft.com/office/drawing/2014/main" id="{84464E70-4B9E-4A62-8CCE-A17A5BFA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先评价哪些未知区域值得探索，再将候选位置交给导航执行器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570EFED5-85E8-4639-87D9-D85CE29A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产生探索候选">
            <a:extLst xmlns:a="http://schemas.openxmlformats.org/drawingml/2006/main">
              <a:ext uri="{FF2B5EF4-FFF2-40B4-BE49-F238E27FC236}">
                <a16:creationId xmlns:a16="http://schemas.microsoft.com/office/drawing/2014/main" id="{7B24CFD6-1698-47C4-943F-93BCA5D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产生探索候选</a:t>
            </a:r>
          </a:p>
        </p:txBody>
      </p:sp>
      <p:sp>
        <p:nvSpPr>
          <p:cNvPr id="6" name="从占据地图或当前图像中识别探索前沿">
            <a:extLst xmlns:a="http://schemas.openxmlformats.org/drawingml/2006/main">
              <a:ext uri="{FF2B5EF4-FFF2-40B4-BE49-F238E27FC236}">
                <a16:creationId xmlns:a16="http://schemas.microsoft.com/office/drawing/2014/main" id="{00C19A19-4DF2-4D6D-8B24-81ED0928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从占据地图或当前图像中识别探索前沿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425DB638-8B08-4938-BD1D-CB679AC9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评价目标相关性">
            <a:extLst xmlns:a="http://schemas.openxmlformats.org/drawingml/2006/main">
              <a:ext uri="{FF2B5EF4-FFF2-40B4-BE49-F238E27FC236}">
                <a16:creationId xmlns:a16="http://schemas.microsoft.com/office/drawing/2014/main" id="{90F55FD2-845A-444C-BD4D-ED50994C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037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评价目标相关性</a:t>
            </a:r>
          </a:p>
        </p:txBody>
      </p:sp>
      <p:sp>
        <p:nvSpPr>
          <p:cNvPr id="9" name="用图文相似度或视觉语言模型评价搜索方向">
            <a:extLst xmlns:a="http://schemas.openxmlformats.org/drawingml/2006/main">
              <a:ext uri="{FF2B5EF4-FFF2-40B4-BE49-F238E27FC236}">
                <a16:creationId xmlns:a16="http://schemas.microsoft.com/office/drawing/2014/main" id="{CC5B1994-B862-49B0-ABB2-F169F363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用图文相似度或视觉语言模型评价搜索方向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3CFB9F0E-1F5C-4277-8993-8C3344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权衡收益与代价">
            <a:extLst xmlns:a="http://schemas.openxmlformats.org/drawingml/2006/main">
              <a:ext uri="{FF2B5EF4-FFF2-40B4-BE49-F238E27FC236}">
                <a16:creationId xmlns:a16="http://schemas.microsoft.com/office/drawing/2014/main" id="{7FAE3C78-8786-4093-9293-5E234D1E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权衡收益与代价</a:t>
            </a:r>
          </a:p>
        </p:txBody>
      </p:sp>
      <p:sp>
        <p:nvSpPr>
          <p:cNvPr id="12" name="结合信息增益、置信度或到达距离选子目标">
            <a:extLst xmlns:a="http://schemas.openxmlformats.org/drawingml/2006/main">
              <a:ext uri="{FF2B5EF4-FFF2-40B4-BE49-F238E27FC236}">
                <a16:creationId xmlns:a16="http://schemas.microsoft.com/office/drawing/2014/main" id="{0FE629FE-36E9-4418-A5FD-5BD0FE62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结合信息增益、置信度或到达距离选子目标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721D729F-68D8-409C-B8D8-82F1848E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移动后更新与核验">
            <a:extLst xmlns:a="http://schemas.openxmlformats.org/drawingml/2006/main">
              <a:ext uri="{FF2B5EF4-FFF2-40B4-BE49-F238E27FC236}">
                <a16:creationId xmlns:a16="http://schemas.microsoft.com/office/drawing/2014/main" id="{F699C696-FABF-4B25-BFDB-20FCE0ED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移动后更新与核验</a:t>
            </a:r>
          </a:p>
        </p:txBody>
      </p:sp>
      <p:sp>
        <p:nvSpPr>
          <p:cNvPr id="15" name="更新观察和候选，发现疑似目标后再次确认">
            <a:extLst xmlns:a="http://schemas.openxmlformats.org/drawingml/2006/main">
              <a:ext uri="{FF2B5EF4-FFF2-40B4-BE49-F238E27FC236}">
                <a16:creationId xmlns:a16="http://schemas.microsoft.com/office/drawing/2014/main" id="{E7351E46-1936-4679-B166-D7124CB6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3392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更新观察和候选，发现疑似目标后再次确认</a:t>
            </a:r>
          </a:p>
        </p:txBody>
      </p:sp>
      <p:sp>
        <p:nvSpPr>
          <p:cNvPr id="16" name="VLFM与OpenFrontier共享“候选产生、语义评">
            <a:extLst xmlns:a="http://schemas.openxmlformats.org/drawingml/2006/main">
              <a:ext uri="{FF2B5EF4-FFF2-40B4-BE49-F238E27FC236}">
                <a16:creationId xmlns:a16="http://schemas.microsoft.com/office/drawing/2014/main" id="{387C5684-E3B2-424B-BAE3-63F7E6CE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VLFM与OpenFrontier共享“候选产生、语义评价、执行反馈”的方法链</a:t>
            </a:r>
          </a:p>
        </p:txBody>
      </p:sp>
      <p:sp>
        <p:nvSpPr>
          <p:cNvPr id="17" name="收益：复用预训练语义能力。限制：语义先验会误导，目标误检">
            <a:extLst xmlns:a="http://schemas.openxmlformats.org/drawingml/2006/main">
              <a:ext uri="{FF2B5EF4-FFF2-40B4-BE49-F238E27FC236}">
                <a16:creationId xmlns:a16="http://schemas.microsoft.com/office/drawing/2014/main" id="{29467D72-19DB-4C7C-8F2A-89512C33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收益：复用预训练语义能力。限制：语义先验会误导，目标误检与局部卡住仍会发生。</a:t>
            </a:r>
          </a:p>
        </p:txBody>
      </p:sp>
      <p:sp>
        <p:nvSpPr>
          <p:cNvPr id="1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12ACF9C-E5CC-4D56-9919-18C3B6D8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机制依据原论文与阅读笔记归纳。代表实现和详细来源见讲稿备注</a:t>
            </a:r>
          </a:p>
        </p:txBody>
      </p:sp>
    </p:spTree>
    <p:extLst>
      <p:ext uri="{BB962C8B-B14F-4D97-AF65-F5344CB8AC3E}">
        <p14:creationId xmlns:p14="http://schemas.microsoft.com/office/powerpoint/2010/main" val="73783276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0C2E72-7DE0-485C-B5DE-8A26BD7E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OpenFrontier：在图像中评价探索方向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EC5361-AB05-413A-8D23-E279E46C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28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标记候选前沿后，VLM根据周围场景判断哪个方向更可能通向目标">
            <a:extLst xmlns:a="http://schemas.openxmlformats.org/drawingml/2006/main">
              <a:ext uri="{FF2B5EF4-FFF2-40B4-BE49-F238E27FC236}">
                <a16:creationId xmlns:a16="http://schemas.microsoft.com/office/drawing/2014/main" id="{F292B32C-CFF9-4A6B-BA75-2E4FE432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标记候选前沿后，VLM根据周围场景判断哪个方向更可能通向目标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A094371C-78A7-448F-8EF2-D3D81D19D7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36a26bd7842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78578"/>
            <a:ext cx="10820400" cy="3453319"/>
          </a:xfrm>
          <a:prstGeom xmlns:a="http://schemas.openxmlformats.org/drawingml/2006/main" prst="rect">
            <a:avLst/>
          </a:prstGeom>
        </p:spPr>
      </p:pic>
      <p:sp>
        <p:nvSpPr>
          <p:cNvPr id="5" name="FrontierNet提供探索先验，VLM提供目标相关概率，">
            <a:extLst xmlns:a="http://schemas.openxmlformats.org/drawingml/2006/main">
              <a:ext uri="{FF2B5EF4-FFF2-40B4-BE49-F238E27FC236}">
                <a16:creationId xmlns:a16="http://schemas.microsoft.com/office/drawing/2014/main" id="{96F461E9-E447-47A8-BD1B-7B6D01A0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FrontierNet提供探索先验，VLM提供目标相关概率，三维后端维护全局候选位置。</a:t>
            </a:r>
            <a:endParaRPr sz="1950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2F6B82C-AD3F-4672-8543-D5F364F7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来源：OpenFrontier，图2（PDF第2页）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21129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85BF30-AAAD-4F00-B260-7BC8D6FD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前沿搜索的两种实现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D9FECD-0BE6-4599-83AF-8155C0AF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963EF-F755-4323-902A-00775CCCB6FB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40767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190750"/>
                <a:gridCol w="4314825"/>
                <a:gridCol w="4314825"/>
              </a:tblGrid>
              <a:tr h="4572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比较环节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7239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候选来源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二维占据地图的前沿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RGB图像中的视觉前沿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语义评价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图文相似度投影到价值地图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VLM直接评价标记的前沿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跨视角组织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地图价值与置信度融合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三维前沿集合合并与清理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子目标选择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读取高价值前沿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相关性、信息增益与距离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发现疑似目标后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检测、分割与深度定位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前往观察位姿后VLM核验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空间属性：VLFM为二维地图；OpenFrontier结">
            <a:extLst xmlns:a="http://schemas.openxmlformats.org/drawingml/2006/main">
              <a:ext uri="{FF2B5EF4-FFF2-40B4-BE49-F238E27FC236}">
                <a16:creationId xmlns:a16="http://schemas.microsoft.com/office/drawing/2014/main" id="{229B6EC8-9525-429F-93F1-07325CEC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空间属性：VLFM为二维地图；OpenFrontier结合二维图像候选与三维位置管理。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E0F4D79-33EC-40DF-BA47-46DB2E59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整理自VLFM §IV和OpenFrontier §III。二者属于同一方法范式</a:t>
            </a:r>
          </a:p>
        </p:txBody>
      </p:sp>
    </p:spTree>
    <p:extLst>
      <p:ext uri="{BB962C8B-B14F-4D97-AF65-F5344CB8AC3E}">
        <p14:creationId xmlns:p14="http://schemas.microsoft.com/office/powerpoint/2010/main" val="20809459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B1B148-3191-4105-9F7C-48A0F2D6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导航策略训练与优化：方法与评测概览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855C18-821E-4685-BC0A-BE8FC13D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3" name="研究问题：示范监督与环境奖励怎样共同改进导航策略">
            <a:extLst xmlns:a="http://schemas.openxmlformats.org/drawingml/2006/main">
              <a:ext uri="{FF2B5EF4-FFF2-40B4-BE49-F238E27FC236}">
                <a16:creationId xmlns:a16="http://schemas.microsoft.com/office/drawing/2014/main" id="{858CC2B8-3E2A-46D7-8193-111ADE7E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研究问题：示范监督与环境奖励怎样共同改进导航策略</a:t>
            </a:r>
          </a:p>
        </p:txBody>
      </p:sp>
      <p:sp>
        <p:nvSpPr>
          <p:cNvPr id="4" name="方法类别">
            <a:extLst xmlns:a="http://schemas.openxmlformats.org/drawingml/2006/main">
              <a:ext uri="{FF2B5EF4-FFF2-40B4-BE49-F238E27FC236}">
                <a16:creationId xmlns:a16="http://schemas.microsoft.com/office/drawing/2014/main" id="{325D8CDA-A4DB-4EC5-93F8-D6996AAA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方法类别</a:t>
            </a:r>
          </a:p>
        </p:txBody>
      </p:sp>
      <p:sp>
        <p:nvSpPr>
          <p:cNvPr id="5" name="已收录论文的较高报告值（%）">
            <a:extLst xmlns:a="http://schemas.openxmlformats.org/drawingml/2006/main">
              <a:ext uri="{FF2B5EF4-FFF2-40B4-BE49-F238E27FC236}">
                <a16:creationId xmlns:a16="http://schemas.microsoft.com/office/drawing/2014/main" id="{52B8B8D7-52F9-41B9-9F00-1054BAC7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已收录论文的较高报告值（%）</a:t>
            </a:r>
          </a:p>
        </p:txBody>
      </p:sp>
      <p:sp>
        <p:nvSpPr>
          <p:cNvPr id="6" name="模仿学习与强化学习结合">
            <a:extLst xmlns:a="http://schemas.openxmlformats.org/drawingml/2006/main">
              <a:ext uri="{FF2B5EF4-FFF2-40B4-BE49-F238E27FC236}">
                <a16:creationId xmlns:a16="http://schemas.microsoft.com/office/drawing/2014/main" id="{79A9CE81-0BBE-4D28-A5DF-08000311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模仿学习与强化学习结合</a:t>
            </a:r>
          </a:p>
        </p:txBody>
      </p:sp>
      <p:sp>
        <p:nvSpPr>
          <p:cNvPr id="7" name="先从示范建立决策能力，&#10;再或同时用奖励改进策略">
            <a:extLst xmlns:a="http://schemas.openxmlformats.org/drawingml/2006/main">
              <a:ext uri="{FF2B5EF4-FFF2-40B4-BE49-F238E27FC236}">
                <a16:creationId xmlns:a16="http://schemas.microsoft.com/office/drawing/2014/main" id="{30C0B002-61F3-4487-91D5-26BA4261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先从示范建立决策能力，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再或同时用奖励改进策略</a:t>
            </a:r>
          </a:p>
        </p:txBody>
      </p:sp>
      <p:sp>
        <p:nvSpPr>
          <p:cNvPr id="8" name="类内训练设计">
            <a:extLst xmlns:a="http://schemas.openxmlformats.org/drawingml/2006/main">
              <a:ext uri="{FF2B5EF4-FFF2-40B4-BE49-F238E27FC236}">
                <a16:creationId xmlns:a16="http://schemas.microsoft.com/office/drawing/2014/main" id="{E4CB676E-CE7F-40CA-8746-FD184054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类内训练设计</a:t>
            </a:r>
          </a:p>
        </p:txBody>
      </p:sp>
      <p:sp>
        <p:nvSpPr>
          <p:cNvPr id="9" name="BC／SFT与PPO／GRPO，&#10;辅助监督、权重与奖励设">
            <a:extLst xmlns:a="http://schemas.openxmlformats.org/drawingml/2006/main">
              <a:ext uri="{FF2B5EF4-FFF2-40B4-BE49-F238E27FC236}">
                <a16:creationId xmlns:a16="http://schemas.microsoft.com/office/drawing/2014/main" id="{B6DAAF73-C40D-40CF-9297-ED632D05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BC／SFT与PPO／GRPO，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辅助监督、权重与奖励设计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C6B19-A18F-4297-9E45-C80DD4D9E4C2}"/>
              </a:ext>
            </a:extLst>
          </p:cNvPr>
          <p:cNvGraphicFramePr/>
          <p:nvPr/>
        </p:nvGraphicFramePr>
        <p:xfrm>
          <a:off xmlns:a="http://schemas.openxmlformats.org/drawingml/2006/main" x="4114800" y="2057400"/>
          <a:ext xmlns:a="http://schemas.openxmlformats.org/drawingml/2006/main" cx="7391400" cy="39243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Unseen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OVSegDT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44.7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20.6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Unseen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43.5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21.6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ObjectNav / 表2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61.6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27.8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MP3D ObjectNav / Val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17.5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Instance-ImageNav / 表2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35.6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14.8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ProcTHOR / 未见环境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58.1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32.8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VON较高SR为OVSegDT，较高SPL为Compa">
            <a:extLst xmlns:a="http://schemas.openxmlformats.org/drawingml/2006/main">
              <a:ext uri="{FF2B5EF4-FFF2-40B4-BE49-F238E27FC236}">
                <a16:creationId xmlns:a16="http://schemas.microsoft.com/office/drawing/2014/main" id="{74DCF763-745D-4149-958D-BDBAE7B2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OVON较高SR为OVSegDT，较高SPL为CompassNav，分别保留整对数值。不同传感器与协议不作统一排名。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E721CE5-7C35-4E51-A26F-A9CED81C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SR：成功率。SPL：按路径长度加权的成功率。仅限已收录论文，各评测协议分别展示</a:t>
            </a:r>
          </a:p>
        </p:txBody>
      </p:sp>
    </p:spTree>
    <p:extLst>
      <p:ext uri="{BB962C8B-B14F-4D97-AF65-F5344CB8AC3E}">
        <p14:creationId xmlns:p14="http://schemas.microsoft.com/office/powerpoint/2010/main" val="13652236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CD90B5-0595-4DF6-901E-58A3FC05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模仿学习与强化学习结合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C1A359-DDD1-4896-92FA-3EA91C95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3" name="示范告诉策略怎样行动，奖励让策略比较行动带来的后果">
            <a:extLst xmlns:a="http://schemas.openxmlformats.org/drawingml/2006/main">
              <a:ext uri="{FF2B5EF4-FFF2-40B4-BE49-F238E27FC236}">
                <a16:creationId xmlns:a16="http://schemas.microsoft.com/office/drawing/2014/main" id="{92A73410-055D-4749-99DD-446A9273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示范告诉策略怎样行动，奖励让策略比较行动带来的后果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B86E89F5-A630-4399-A08B-BB264901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从示范学习决策">
            <a:extLst xmlns:a="http://schemas.openxmlformats.org/drawingml/2006/main">
              <a:ext uri="{FF2B5EF4-FFF2-40B4-BE49-F238E27FC236}">
                <a16:creationId xmlns:a16="http://schemas.microsoft.com/office/drawing/2014/main" id="{1DB0F105-D10F-4363-9F53-3AE9A814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从示范学习决策</a:t>
            </a:r>
          </a:p>
        </p:txBody>
      </p:sp>
      <p:sp>
        <p:nvSpPr>
          <p:cNvPr id="6" name="用专家动作或教师回答训练BC／SFT初始能力">
            <a:extLst xmlns:a="http://schemas.openxmlformats.org/drawingml/2006/main">
              <a:ext uri="{FF2B5EF4-FFF2-40B4-BE49-F238E27FC236}">
                <a16:creationId xmlns:a16="http://schemas.microsoft.com/office/drawing/2014/main" id="{6AAA00DD-7856-4822-A0D3-99D6BC1C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用专家动作或教师回答训练BC／SFT初始能力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2F4AE911-80AB-43CB-A6C4-88CABBDE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构建策略优化信号">
            <a:extLst xmlns:a="http://schemas.openxmlformats.org/drawingml/2006/main">
              <a:ext uri="{FF2B5EF4-FFF2-40B4-BE49-F238E27FC236}">
                <a16:creationId xmlns:a16="http://schemas.microsoft.com/office/drawing/2014/main" id="{065EF7EE-7ABF-4894-AD12-CBF717ED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037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构建策略优化信号</a:t>
            </a:r>
          </a:p>
        </p:txBody>
      </p:sp>
      <p:sp>
        <p:nvSpPr>
          <p:cNvPr id="9" name="按导航进展、成功或候选动作质量给奖励">
            <a:extLst xmlns:a="http://schemas.openxmlformats.org/drawingml/2006/main">
              <a:ext uri="{FF2B5EF4-FFF2-40B4-BE49-F238E27FC236}">
                <a16:creationId xmlns:a16="http://schemas.microsoft.com/office/drawing/2014/main" id="{9BD6DF52-6BF8-4A7D-923B-C0937A4A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按导航进展、成功或候选动作质量给奖励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32CA014F-0BEB-4497-A9AE-34D7AA4D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联合或分阶段优化">
            <a:extLst xmlns:a="http://schemas.openxmlformats.org/drawingml/2006/main">
              <a:ext uri="{FF2B5EF4-FFF2-40B4-BE49-F238E27FC236}">
                <a16:creationId xmlns:a16="http://schemas.microsoft.com/office/drawing/2014/main" id="{84A74C7D-2D8D-4122-867F-C89F1CE9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联合或分阶段优化</a:t>
            </a:r>
          </a:p>
        </p:txBody>
      </p:sp>
      <p:sp>
        <p:nvSpPr>
          <p:cNvPr id="12" name="同时加权BC与PPO，或先SFT再GRPO">
            <a:extLst xmlns:a="http://schemas.openxmlformats.org/drawingml/2006/main">
              <a:ext uri="{FF2B5EF4-FFF2-40B4-BE49-F238E27FC236}">
                <a16:creationId xmlns:a16="http://schemas.microsoft.com/office/drawing/2014/main" id="{0B374040-E656-4C92-AAA7-26F1A91F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同时加权BC与PPO，或先SFT再GRPO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6D422673-65E5-4F9B-84FB-FB6622B0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适应部署时的输入">
            <a:extLst xmlns:a="http://schemas.openxmlformats.org/drawingml/2006/main">
              <a:ext uri="{FF2B5EF4-FFF2-40B4-BE49-F238E27FC236}">
                <a16:creationId xmlns:a16="http://schemas.microsoft.com/office/drawing/2014/main" id="{9E8AE06C-905D-4678-8394-FE8C356B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325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适应部署时的输入</a:t>
            </a:r>
          </a:p>
        </p:txBody>
      </p:sp>
      <p:sp>
        <p:nvSpPr>
          <p:cNvPr id="15" name="用预测掩码或可行动作候选缩小训练执行差异">
            <a:extLst xmlns:a="http://schemas.openxmlformats.org/drawingml/2006/main">
              <a:ext uri="{FF2B5EF4-FFF2-40B4-BE49-F238E27FC236}">
                <a16:creationId xmlns:a16="http://schemas.microsoft.com/office/drawing/2014/main" id="{446F7C8D-DC0F-49DF-9656-58439BBD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33925"/>
            <a:ext cx="6553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用预测掩码或可行动作候选缩小训练执行差异</a:t>
            </a:r>
          </a:p>
        </p:txBody>
      </p:sp>
      <p:sp>
        <p:nvSpPr>
          <p:cNvPr id="16" name="共同范式：示范监督与奖励优化结合。配比策略和奖励形状属于">
            <a:extLst xmlns:a="http://schemas.openxmlformats.org/drawingml/2006/main">
              <a:ext uri="{FF2B5EF4-FFF2-40B4-BE49-F238E27FC236}">
                <a16:creationId xmlns:a16="http://schemas.microsoft.com/office/drawing/2014/main" id="{F84485DB-8239-4FC2-854F-D0D21CF4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共同范式：示范监督与奖励优化结合。配比策略和奖励形状属于类内设计。</a:t>
            </a:r>
          </a:p>
        </p:txBody>
      </p:sp>
      <p:sp>
        <p:nvSpPr>
          <p:cNvPr id="17" name="收益：利用示范并改进决策质量。限制：依赖示范覆盖、奖励质">
            <a:extLst xmlns:a="http://schemas.openxmlformats.org/drawingml/2006/main">
              <a:ext uri="{FF2B5EF4-FFF2-40B4-BE49-F238E27FC236}">
                <a16:creationId xmlns:a16="http://schemas.microsoft.com/office/drawing/2014/main" id="{A4B380D0-1CFE-4D52-B62D-3ED03518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收益：利用示范并改进决策质量。限制：依赖示范覆盖、奖励质量与训练预算。</a:t>
            </a:r>
          </a:p>
        </p:txBody>
      </p:sp>
      <p:sp>
        <p:nvSpPr>
          <p:cNvPr id="1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B2301BB-17C8-4DDC-BE5C-3E54DB06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机制依据原论文与阅读笔记归纳。代表实现和详细来源见讲稿备注</a:t>
            </a:r>
          </a:p>
        </p:txBody>
      </p:sp>
    </p:spTree>
    <p:extLst>
      <p:ext uri="{BB962C8B-B14F-4D97-AF65-F5344CB8AC3E}">
        <p14:creationId xmlns:p14="http://schemas.microsoft.com/office/powerpoint/2010/main" val="4164342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309C8-394F-4C59-9751-F5E0430C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OVSegDT：目标掩码怎样进入策略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FBE6D9-F6DB-40F3-B230-0B664850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32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BBFF8DC3-64A5-4AB3-84A7-6D34F28620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822fd6e094b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725" y="1457325"/>
            <a:ext cx="5998900" cy="4752975"/>
          </a:xfrm>
          <a:prstGeom xmlns:a="http://schemas.openxmlformats.org/drawingml/2006/main" prst="rect">
            <a:avLst/>
          </a:prstGeom>
        </p:spPr>
      </p:pic>
      <p:sp>
        <p:nvSpPr>
          <p:cNvPr id="4" name="输入">
            <a:extLst xmlns:a="http://schemas.openxmlformats.org/drawingml/2006/main">
              <a:ext uri="{FF2B5EF4-FFF2-40B4-BE49-F238E27FC236}">
                <a16:creationId xmlns:a16="http://schemas.microsoft.com/office/drawing/2014/main" id="{3C22B96C-1717-49C2-A790-982067B9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66850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输入</a:t>
            </a:r>
            <a:endParaRPr sz="2100" b="1">
              <a:solidFill>
                <a:srgbClr val="1277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当前RGB、目标文字、&#10;上一步动作、目标二值掩码。">
            <a:extLst xmlns:a="http://schemas.openxmlformats.org/drawingml/2006/main">
              <a:ext uri="{FF2B5EF4-FFF2-40B4-BE49-F238E27FC236}">
                <a16:creationId xmlns:a16="http://schemas.microsoft.com/office/drawing/2014/main" id="{34566CD8-6E3C-41E2-A6F5-27D11F31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124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当前RGB、目标文字、</a:t>
            </a:r>
            <a:endParaRPr sz="1950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上一步动作、目标二值掩码。</a:t>
            </a:r>
            <a:endParaRPr sz="1950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时间建模">
            <a:extLst xmlns:a="http://schemas.openxmlformats.org/drawingml/2006/main">
              <a:ext uri="{FF2B5EF4-FFF2-40B4-BE49-F238E27FC236}">
                <a16:creationId xmlns:a16="http://schemas.microsoft.com/office/drawing/2014/main" id="{E8E547FA-E4F0-4A43-BC41-DF304FBC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57525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时间建模</a:t>
            </a:r>
            <a:endParaRPr sz="2100" b="1">
              <a:solidFill>
                <a:srgbClr val="1277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ransformer读取最近100步，&#10;预测动作分布与状态">
            <a:extLst xmlns:a="http://schemas.openxmlformats.org/drawingml/2006/main">
              <a:ext uri="{FF2B5EF4-FFF2-40B4-BE49-F238E27FC236}">
                <a16:creationId xmlns:a16="http://schemas.microsoft.com/office/drawing/2014/main" id="{10F5E82D-1A6F-45FF-8E83-FF0AD6D4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14725"/>
            <a:ext cx="4124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Transformer读取最近100步，</a:t>
            </a:r>
            <a:endParaRPr sz="1950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预测动作分布与状态价值。</a:t>
            </a:r>
            <a:endParaRPr sz="1950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辅助监督">
            <a:extLst xmlns:a="http://schemas.openxmlformats.org/drawingml/2006/main">
              <a:ext uri="{FF2B5EF4-FFF2-40B4-BE49-F238E27FC236}">
                <a16:creationId xmlns:a16="http://schemas.microsoft.com/office/drawing/2014/main" id="{E386D862-D8CD-4AAD-8940-ADC8BBFA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辅助监督</a:t>
            </a:r>
            <a:endParaRPr sz="2100" b="1">
              <a:solidFill>
                <a:srgbClr val="1277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重建目标掩码，促使序列特征&#10;保留目标位置线索。">
            <a:extLst xmlns:a="http://schemas.openxmlformats.org/drawingml/2006/main">
              <a:ext uri="{FF2B5EF4-FFF2-40B4-BE49-F238E27FC236}">
                <a16:creationId xmlns:a16="http://schemas.microsoft.com/office/drawing/2014/main" id="{3F714920-0FB3-40D3-A570-65E445E4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05400"/>
            <a:ext cx="4124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重建目标掩码，促使序列特征</a:t>
            </a:r>
            <a:endParaRPr sz="1950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保留目标位置线索。</a:t>
            </a:r>
            <a:endParaRPr sz="1950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4D866DF-A5C9-475B-8685-F8343AC0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来源：OVSegDT，图2（PDF第4页）。图中分割头为训练辅助头，输入掩码由外部感知提供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428027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13BC24-134F-4F33-833F-478BD80D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CompassNav：SFT之后用GRPO比较动作质量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0E7A5B-12AD-4961-9101-5ED0CEE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9C276-3A06-4296-835B-F834E62FD347}"/>
              </a:ext>
            </a:extLst>
          </p:cNvPr>
          <p:cNvGraphicFramePr/>
          <p:nvPr/>
        </p:nvGraphicFramePr>
        <p:xfrm>
          <a:off xmlns:a="http://schemas.openxmlformats.org/drawingml/2006/main" x="685800" y="1514475"/>
          <a:ext xmlns:a="http://schemas.openxmlformats.org/drawingml/2006/main" cx="10820400" cy="21717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1905000"/>
                <a:gridCol w="4667250"/>
                <a:gridCol w="4248150"/>
              </a:tblGrid>
              <a:tr h="4572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训练阶段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学习信号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8572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SFT初始化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教师分析与动作编号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建立基本决策能力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GRPO优化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候选动作的连续质量奖励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改进动作间的比较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差距感知奖励的作用">
            <a:extLst xmlns:a="http://schemas.openxmlformats.org/drawingml/2006/main">
              <a:ext uri="{FF2B5EF4-FFF2-40B4-BE49-F238E27FC236}">
                <a16:creationId xmlns:a16="http://schemas.microsoft.com/office/drawing/2014/main" id="{CD1C5715-BC0E-4395-93F7-0B9DDBB5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差距感知奖励的作用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D706A-096C-4D5F-8600-0066AF51FF33}"/>
              </a:ext>
            </a:extLst>
          </p:cNvPr>
          <p:cNvGraphicFramePr/>
          <p:nvPr/>
        </p:nvGraphicFramePr>
        <p:xfrm>
          <a:off xmlns:a="http://schemas.openxmlformats.org/drawingml/2006/main" x="685800" y="4591050"/>
          <a:ext xmlns:a="http://schemas.openxmlformats.org/drawingml/2006/main" cx="10820400" cy="14859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3476625"/>
                <a:gridCol w="7343775"/>
              </a:tblGrid>
              <a:tr h="4191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候选动作关系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奖励倾向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334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最佳与次佳距离接近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给接近的连续评分，最优额外奖励较弱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最佳候选明显更好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加大最优候选的额外奖励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真实目标坐标仅用于训练标签；分析文字的正确性未被逐句监督">
            <a:extLst xmlns:a="http://schemas.openxmlformats.org/drawingml/2006/main">
              <a:ext uri="{FF2B5EF4-FFF2-40B4-BE49-F238E27FC236}">
                <a16:creationId xmlns:a16="http://schemas.microsoft.com/office/drawing/2014/main" id="{EBE11102-A660-47F8-AF77-25B4AA79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真实目标坐标仅用于训练标签；分析文字的正确性未被逐句监督验证。</a:t>
            </a:r>
          </a:p>
        </p:txBody>
      </p:sp>
      <p:sp>
        <p:nvSpPr>
          <p:cNvPr id="7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60BCBE9-B3B5-4397-AAA9-FEF64F2A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来源：CompassNav §3–4、Fig.4及奖励公式。训练与推理可见信息分别说明</a:t>
            </a:r>
          </a:p>
        </p:txBody>
      </p:sp>
    </p:spTree>
    <p:extLst>
      <p:ext uri="{BB962C8B-B14F-4D97-AF65-F5344CB8AC3E}">
        <p14:creationId xmlns:p14="http://schemas.microsoft.com/office/powerpoint/2010/main" val="125199949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6BFA3B-395F-45DD-B145-B067FBF7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策略训练与优化：完整结果与统计口径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CB7633-753A-4DE1-81E9-A668B047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34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FA8E27EC-6894-4620-86FF-09C29F4C362E}"/>
              </a:ext>
            </a:extLst>
          </p:cNvPr>
          <p:cNvGraphicFramePr/>
          <p:nvPr/>
        </p:nvGraphicFramePr>
        <p:xfrm>
          <a:off xmlns:a="http://schemas.openxmlformats.org/drawingml/2006/main" x="685800" y="1409700"/>
          <a:ext xmlns:a="http://schemas.openxmlformats.org/drawingml/2006/main" cx="10820400" cy="47434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4171950"/>
                <a:gridCol w="2857500"/>
                <a:gridCol w="1895475"/>
                <a:gridCol w="189547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43.6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20.1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40.1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17.9 ± 0.1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44.7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20.6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43.5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 ObjectNav / 表1设置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56.6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27.6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 ObjectNav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61.6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27.8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MP3D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17.5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Instance-ImageNav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35.6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14.8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ProcTHOR / 未见环境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58.1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32.8</a:t>
                      </a:r>
                      <a:endParaRPr sz="17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HM3D保留原表1／表2设置，不自行对应v1／v2">
            <a:extLst xmlns:a="http://schemas.openxmlformats.org/drawingml/2006/main">
              <a:ext uri="{FF2B5EF4-FFF2-40B4-BE49-F238E27FC236}">
                <a16:creationId xmlns:a16="http://schemas.microsoft.com/office/drawing/2014/main" id="{BDD99877-6021-4C5C-8F5B-ADD44055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HM3D保留原表1／表2设置，不自行对应v1／v2；±为三随机种子的标准差。仅比较主配置，不混入真值掩码消融。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5D42E5C4-9367-4CA4-810D-15296F6A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来源：OVSegDT 表1；CompassNav 表1–2、附录表6–7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0236751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ABA2EB-2B9C-46F9-BDE3-BD781FAA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方法类别怎样组合成一个导航系统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16C6A8-5955-4602-8D7A-CCDFFD57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EB893-AA20-41A9-AA5C-17E5AC42E794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41719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238375"/>
                <a:gridCol w="4724400"/>
                <a:gridCol w="3857625"/>
              </a:tblGrid>
              <a:tr h="45720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设计环节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方法选择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需要单独报告的条件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7429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职责与接口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分层模块协作／统一联合建模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模块依赖与执行器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环境状态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显式地图结构／连续空间特征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二维或三维、深度与位姿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历史利用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压缩重放／递归缓存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历史长度、信息损失与更新方式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探索决策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语义引导的前沿搜索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候选覆盖、可达性与目标核验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策略学习</a:t>
                      </a: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示范监督与奖励优化结合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66675" rIns="114300" bIns="66675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数据规模、训练配置与奖励定义</a:t>
                      </a: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比较新方法时，先对齐任务、传感器与评测协议，再讨论具体机">
            <a:extLst xmlns:a="http://schemas.openxmlformats.org/drawingml/2006/main">
              <a:ext uri="{FF2B5EF4-FFF2-40B4-BE49-F238E27FC236}">
                <a16:creationId xmlns:a16="http://schemas.microsoft.com/office/drawing/2014/main" id="{BC40409F-FE48-414C-951D-5828E852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比较新方法时，先对齐任务、传感器与评测协议，再讨论具体机制的贡献。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AC76824-7985-4AC9-9351-F882D4F4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方法可组合。文献主归属、表征维度和训练算力分别记录</a:t>
            </a:r>
          </a:p>
        </p:txBody>
      </p:sp>
    </p:spTree>
    <p:extLst>
      <p:ext uri="{BB962C8B-B14F-4D97-AF65-F5344CB8AC3E}">
        <p14:creationId xmlns:p14="http://schemas.microsoft.com/office/powerpoint/2010/main" val="5670032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61F2F6-AEB3-4A54-9F09-1BEF2A38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评测基准：各自检验什么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154EF6-A8D8-44DA-80F5-92475F24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36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任务定义决定应验证哪一种能力">
            <a:extLst xmlns:a="http://schemas.openxmlformats.org/drawingml/2006/main">
              <a:ext uri="{FF2B5EF4-FFF2-40B4-BE49-F238E27FC236}">
                <a16:creationId xmlns:a16="http://schemas.microsoft.com/office/drawing/2014/main" id="{ADEC0E10-AE98-4E92-8E48-5DBBDC1D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任务定义决定应验证哪一种能力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" name="表格 3">
            <a:extLst xmlns:a="http://schemas.openxmlformats.org/drawingml/2006/main">
              <a:ext uri="{FF2B5EF4-FFF2-40B4-BE49-F238E27FC236}">
                <a16:creationId xmlns:a16="http://schemas.microsoft.com/office/drawing/2014/main" id="{86D2730F-2B93-4A6A-BA3E-A6E86DE33A08}"/>
              </a:ext>
            </a:extLst>
          </p:cNvPr>
          <p:cNvGraphicFramePr/>
          <p:nvPr/>
        </p:nvGraphicFramePr>
        <p:xfrm>
          <a:off xmlns:a="http://schemas.openxmlformats.org/drawingml/2006/main" x="685800" y="1971675"/>
          <a:ext xmlns:a="http://schemas.openxmlformats.org/drawingml/2006/main" cx="10820400" cy="38481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62250"/>
                <a:gridCol w="4095750"/>
                <a:gridCol w="39624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基准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任务或资源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主要检验内容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 Semantics</a:t>
                      </a:r>
                      <a:endParaRPr sz="187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室内三维场景语义标注</a:t>
                      </a:r>
                      <a:endParaRPr sz="18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提供物体与空间语义基础</a:t>
                      </a:r>
                      <a:endParaRPr sz="18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HM3D-OVON</a:t>
                      </a:r>
                      <a:endParaRPr sz="187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开放词汇类别目标导航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已见、同义词及未见类别泛化</a:t>
                      </a:r>
                      <a:endParaRPr sz="18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GOAT-Bench</a:t>
                      </a:r>
                      <a:endParaRPr sz="187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多模态目标连续导航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历史积累与跨目标复用</a:t>
                      </a:r>
                      <a:endParaRPr sz="18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SG3D / SG-LLM</a:t>
                      </a:r>
                      <a:endParaRPr sz="187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顺序目标定位与导航，</a:t>
                      </a:r>
                      <a:endParaRPr sz="18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以及相应模型基线</a:t>
                      </a:r>
                      <a:endParaRPr sz="18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任务上下文与跨步骤对象引用</a:t>
                      </a:r>
                      <a:endParaRPr sz="18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4487FB0-5A38-4EBB-9BA9-B06E53E8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整理自四篇基准论文。跨论文比较需对齐目标类型、传感器、划分及成功条件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6705802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872A87-4CDF-4F97-8610-723EA036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GOAT-Bench：连续多模态目标任务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CFF178-4AA4-41E9-9A54-F99655D8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37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同一环境内依次完成5至10个子任务，环境与智能体状态持续保留">
            <a:extLst xmlns:a="http://schemas.openxmlformats.org/drawingml/2006/main">
              <a:ext uri="{FF2B5EF4-FFF2-40B4-BE49-F238E27FC236}">
                <a16:creationId xmlns:a16="http://schemas.microsoft.com/office/drawing/2014/main" id="{906A857C-FF94-4B44-A10A-B08D8862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同一环境内依次完成5至10个子任务，环境与智能体状态持续保留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9A766B5A-AD0D-4C03-9710-44F51A43A1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10a8bd38c4d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28919"/>
            <a:ext cx="7905750" cy="4447936"/>
          </a:xfrm>
          <a:prstGeom xmlns:a="http://schemas.openxmlformats.org/drawingml/2006/main" prst="rect">
            <a:avLst/>
          </a:prstGeom>
        </p:spPr>
      </p:pic>
      <p:sp>
        <p:nvSpPr>
          <p:cNvPr id="5" name="目标形式">
            <a:extLst xmlns:a="http://schemas.openxmlformats.org/drawingml/2006/main">
              <a:ext uri="{FF2B5EF4-FFF2-40B4-BE49-F238E27FC236}">
                <a16:creationId xmlns:a16="http://schemas.microsoft.com/office/drawing/2014/main" id="{C020E8FC-50CA-4C03-A485-0DBEC3C1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907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目标形式</a:t>
            </a:r>
            <a:endParaRPr sz="2100" b="1">
              <a:solidFill>
                <a:srgbClr val="1277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类别名称&#10;参考图像&#10;语言描述">
            <a:extLst xmlns:a="http://schemas.openxmlformats.org/drawingml/2006/main">
              <a:ext uri="{FF2B5EF4-FFF2-40B4-BE49-F238E27FC236}">
                <a16:creationId xmlns:a16="http://schemas.microsoft.com/office/drawing/2014/main" id="{4482126C-DCA3-48BB-BCDA-0C5F5D0F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47925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类别名称</a:t>
            </a:r>
            <a:endParaRPr sz="1950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参考图像</a:t>
            </a:r>
            <a:endParaRPr sz="1950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语言描述</a:t>
            </a:r>
            <a:endParaRPr sz="1950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历史价值">
            <a:extLst xmlns:a="http://schemas.openxmlformats.org/drawingml/2006/main">
              <a:ext uri="{FF2B5EF4-FFF2-40B4-BE49-F238E27FC236}">
                <a16:creationId xmlns:a16="http://schemas.microsoft.com/office/drawing/2014/main" id="{E019D183-81AE-4C88-A6DD-4B9E8F8D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385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历史价值</a:t>
            </a:r>
            <a:endParaRPr sz="2100" b="1">
              <a:solidFill>
                <a:srgbClr val="1277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复用已见物体及位置，&#10;减少后续重复探索。">
            <a:extLst xmlns:a="http://schemas.openxmlformats.org/drawingml/2006/main">
              <a:ext uri="{FF2B5EF4-FFF2-40B4-BE49-F238E27FC236}">
                <a16:creationId xmlns:a16="http://schemas.microsoft.com/office/drawing/2014/main" id="{8BF054A8-3BBE-48A3-B557-1AE89583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95775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复用已见物体及位置，</a:t>
            </a:r>
            <a:endParaRPr sz="1950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减少后续重复探索。</a:t>
            </a:r>
            <a:endParaRPr sz="1950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评测成功率与路径效率，检验跨目标经验复用。">
            <a:extLst xmlns:a="http://schemas.openxmlformats.org/drawingml/2006/main">
              <a:ext uri="{FF2B5EF4-FFF2-40B4-BE49-F238E27FC236}">
                <a16:creationId xmlns:a16="http://schemas.microsoft.com/office/drawing/2014/main" id="{5229812E-029E-4651-897B-DDAD1AB8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673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评测成功率与路径效率，检验跨目标经验复用。</a:t>
            </a:r>
            <a:endParaRPr sz="1725" b="0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28478162-FC5F-4B63-8232-0631BD72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来源：GOAT-Bench，图1与第3节</a:t>
            </a:r>
            <a:endParaRPr sz="1275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442581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94EAEC-237B-4D3B-A94F-8436913B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系统组织架构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882E0E-2922-461F-8DB5-8585A676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38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BB13BAF8-FABC-4CA7-A317-7CA26907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分层与模块化协作：TANGO、SuperNav、OmniNav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多能力统一联合建模：D3D-VLP、Uni-NaVid、MTU3D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" name="表格 3">
            <a:extLst xmlns:a="http://schemas.openxmlformats.org/drawingml/2006/main">
              <a:ext uri="{FF2B5EF4-FFF2-40B4-BE49-F238E27FC236}">
                <a16:creationId xmlns:a16="http://schemas.microsoft.com/office/drawing/2014/main" id="{EEED89C6-C41B-4E23-A8A8-494782F1A1DE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9814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57400"/>
                <a:gridCol w="4857750"/>
                <a:gridCol w="390525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TANGO</a:t>
                      </a:r>
                      <a:endParaRPr sz="180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无需新增导航专项训练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复用预训练模型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SuperNav</a:t>
                      </a:r>
                      <a:endParaRPr sz="180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主模型与几何执行器无需专项训练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学习式执行器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配置未报告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OmniNav</a:t>
                      </a:r>
                      <a:endParaRPr sz="180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阶段1：96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阶段2：64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120小时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D3D-VLP</a:t>
                      </a:r>
                      <a:endParaRPr sz="180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× RTX 6000 Ada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约14天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Uni-NaVid</a:t>
                      </a:r>
                      <a:endParaRPr sz="180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 × H800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约35小时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MTU3D</a:t>
                      </a:r>
                      <a:endParaRPr sz="180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× A100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约164 GPU·小时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579D9461-71D4-4710-BB86-DD2D5727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训练配置沿用源文档口径，基础模型与复用组件的预训练开销另计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6192720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2EF4A5-B71A-4F7F-869F-936DF001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环境表征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8AA852-5B37-494B-BF0A-C3964090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39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00F84B0F-69D6-4C3D-A023-7DEBBB6F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显式地图与场景结构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学习式连续空间特征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" name="表格 3">
            <a:extLst xmlns:a="http://schemas.openxmlformats.org/drawingml/2006/main">
              <a:ext uri="{FF2B5EF4-FFF2-40B4-BE49-F238E27FC236}">
                <a16:creationId xmlns:a16="http://schemas.microsoft.com/office/drawing/2014/main" id="{DB859F60-002A-4486-866A-72E16958D141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952750"/>
                <a:gridCol w="4667250"/>
                <a:gridCol w="3200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MSGNav</a:t>
                      </a:r>
                      <a:endParaRPr sz="225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无需新增导航专项训练</a:t>
                      </a:r>
                      <a:endParaRPr sz="22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推理资源另计</a:t>
                      </a:r>
                      <a:endParaRPr sz="22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SoftNav</a:t>
                      </a:r>
                      <a:endParaRPr sz="225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× RTX 4090</a:t>
                      </a:r>
                      <a:endParaRPr sz="22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时长未报告</a:t>
                      </a:r>
                      <a:endParaRPr sz="225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288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5C2FE8-7E13-4EF0-85FD-87F02E0F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历史记忆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6509BF-6BC8-4A20-A5B9-D4766839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40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77352BCC-E4D8-4834-A224-F124B91D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观察历史的压缩与重放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递归状态与缓存更新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" name="表格 3">
            <a:extLst xmlns:a="http://schemas.openxmlformats.org/drawingml/2006/main">
              <a:ext uri="{FF2B5EF4-FFF2-40B4-BE49-F238E27FC236}">
                <a16:creationId xmlns:a16="http://schemas.microsoft.com/office/drawing/2014/main" id="{C5460A0A-2B1B-483D-B170-1C6D047F52B1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429000"/>
                <a:gridCol w="3333750"/>
                <a:gridCol w="4057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AstraNav-Memory</a:t>
                      </a:r>
                      <a:endParaRPr sz="217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时长未报告</a:t>
                      </a:r>
                      <a:endParaRPr sz="21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JanusVLN</a:t>
                      </a:r>
                      <a:endParaRPr sz="217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约31小时</a:t>
                      </a:r>
                      <a:endParaRPr sz="21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笔记转引作者答复</a:t>
                      </a:r>
                      <a:endParaRPr sz="217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EDF7B2C-F210-4757-833E-296485DF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JanusVLN 配置据阅读笔记转引作者答复，本次未能加载评论正文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7656473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13E395-1D18-4F0C-904A-3DC08BC7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探索与目标搜索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925573-FA0A-43FA-AB26-BBF6E888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41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1F1B5C8D-DDEA-4704-8701-E35C2752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语义引导的前沿搜索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VLFM与OpenFrontier采用不同的语义评价接口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" name="表格 3">
            <a:extLst xmlns:a="http://schemas.openxmlformats.org/drawingml/2006/main">
              <a:ext uri="{FF2B5EF4-FFF2-40B4-BE49-F238E27FC236}">
                <a16:creationId xmlns:a16="http://schemas.microsoft.com/office/drawing/2014/main" id="{73391C32-5444-4BBF-B05E-8370489C98B9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667000"/>
                <a:gridCol w="4191000"/>
                <a:gridCol w="3962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VLFM</a:t>
                      </a:r>
                      <a:endParaRPr sz="20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OpenFrontier</a:t>
                      </a:r>
                      <a:endParaRPr sz="20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运行与推理仍需计算资源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AD1FD17-F544-4ED4-832C-EE95D3EA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源文档未将运行显卡配置计作训练算力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358250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ADF3A0-19CC-4936-A6A7-190BE7C5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导航策略训练与优化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5D26C4-1968-4D45-AC47-CE35E737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42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7802D815-67A4-4A2D-A813-0ABAD1F3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模仿学习与强化学习结合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联合加权BC／PPO，或先SFT再GRPO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" name="表格 3">
            <a:extLst xmlns:a="http://schemas.openxmlformats.org/drawingml/2006/main">
              <a:ext uri="{FF2B5EF4-FFF2-40B4-BE49-F238E27FC236}">
                <a16:creationId xmlns:a16="http://schemas.microsoft.com/office/drawing/2014/main" id="{B41C9F28-5399-44DD-9FCB-9520C1A66E10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81250"/>
                <a:gridCol w="4000500"/>
                <a:gridCol w="4438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训练规模与时长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OVSegDT</a:t>
                      </a:r>
                      <a:endParaRPr sz="20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× A100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约2.15亿环境步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时长未报告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CompassNav</a:t>
                      </a:r>
                      <a:endParaRPr sz="20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SFT：8 × A800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RFT：8 × H200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SFT：约12小时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RFT：约56.7小时（估算）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386B5F9-068D-4222-92B2-6C9A4AD8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CompassNav 的 RFT 时长按约170步、每步约20分钟换算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6229450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71EBB8-15A8-40CF-B1A0-25DF3274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数据集与评测基准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BA71C2-C134-417A-946E-EFD4793B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43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E5339C14-CDA5-4A86-9C92-03EA96EF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场景语义标注、开放词汇与多模态目标构建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连续或顺序任务设计，以及评测协议和基线设计</a:t>
            </a:r>
            <a:endParaRPr sz="210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" name="表格 3">
            <a:extLst xmlns:a="http://schemas.openxmlformats.org/drawingml/2006/main">
              <a:ext uri="{FF2B5EF4-FFF2-40B4-BE49-F238E27FC236}">
                <a16:creationId xmlns:a16="http://schemas.microsoft.com/office/drawing/2014/main" id="{BDDD6A33-45C0-44CF-8AEE-5A0C7B378558}"/>
              </a:ext>
            </a:extLst>
          </p:cNvPr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0820400" cy="36957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4095750"/>
                <a:gridCol w="672465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训练算力统计口径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 Semantics</a:t>
                      </a:r>
                      <a:endParaRPr sz="210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数据集本身不适用，导航基线另计</a:t>
                      </a:r>
                      <a:endParaRPr sz="21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HM3D-OVON</a:t>
                      </a:r>
                      <a:endParaRPr sz="210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GOAT-Bench</a:t>
                      </a:r>
                      <a:endParaRPr sz="210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SG3D / SG-LLM</a:t>
                      </a:r>
                      <a:endParaRPr sz="2100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SG-LLM 等基线分别统计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92097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6691F4-85D8-46C0-9E90-49A85360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训练算力统计口径</a:t>
            </a:r>
            <a:endParaRPr sz="3450" b="1">
              <a:solidFill>
                <a:srgbClr val="182D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3FF39E-CA64-47D0-9A40-A0D7A169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44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BA0D5C16-07E3-497B-B553-C7A7842E4B5C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43243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476500"/>
                <a:gridCol w="83439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统计项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配置来源</a:t>
                      </a:r>
                      <a:endParaRPr sz="20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各篇阅读笔记记录的论文或作者报告配置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成本范围</a:t>
                      </a:r>
                      <a:endParaRPr sz="20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基础模型与复用组件的预训练开销另计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免训练方法仍需推理资源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时间与卡时</a:t>
                      </a:r>
                      <a:endParaRPr sz="20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GPU·小时 = GPU 数量 × 训练小时数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不同型号 GPU 的卡时分别保留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缺失与估算</a:t>
                      </a:r>
                      <a:endParaRPr sz="2025" b="1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未报告的数据保留“未报告”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CompassNav RFT 的约56.7小时属于换算估计</a:t>
                      </a:r>
                      <a:endParaRPr sz="2025" b="0">
                        <a:solidFill>
                          <a:srgbClr val="182D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1BAC536-2431-4A2F-8FC5-5F0BC3C8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JanusVLN 的训练配置保留“阅读笔记转引作者答复”来源说明</a:t>
            </a:r>
            <a:endParaRPr sz="1350" b="0">
              <a:solidFill>
                <a:srgbClr val="586D7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67879826"/>
      </p:ext>
    </p:extLst>
  </p:cSld>
</p:sld>
</file>

<file path=ppt/theme/theme1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2026-10-17T05:36:00.8240000Z</dcterms:created>
  <dcterms:modified xsi:type="dcterms:W3CDTF">2026-10-17T05:36:00.8240000Z</dcterms:modified>
</coreProperties>
</file>